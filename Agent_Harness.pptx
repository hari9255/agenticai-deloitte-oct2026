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e2dc0031-feba-053e-67b8-ed89eb9b5d3a}">
          <p14:sldIdLst>
            <p14:sldId id="256"/>
            <p14:sldId id="257"/>
            <p14:sldId id="258"/>
          </p14:sldIdLst>
        </p14:section>
        <p14:section name="Anatomy" id="{5a4f81e1-9a07-0128-07cd-bbca06b752e4}">
          <p14:sldIdLst>
            <p14:sldId id="259"/>
            <p14:sldId id="260"/>
            <p14:sldId id="261"/>
            <p14:sldId id="262"/>
          </p14:sldIdLst>
        </p14:section>
        <p14:section name="Impact" id="{c8cbac54-ef6e-4bca-8bf3-9240f93fba82}">
          <p14:sldIdLst>
            <p14:sldId id="263"/>
            <p14:sldId id="264"/>
            <p14:sldId id="265"/>
          </p14:sldIdLst>
        </p14:section>
        <p14:section name="In Practice" id="{e4254381-635b-f7af-e105-f99a77e31ec4}">
          <p14:sldIdLst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B3A4A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2B3A4A"/>
                </a:solidFill>
                <a:latin typeface="+mn-lt"/>
              </a:rPr>
              <a:t>Databricks OfficeQA Pro (accuracy, 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5B7C99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620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7C9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GPT-5.5 baseline</c:v>
                  </c:pt>
                  <c:pt idx="1">
                    <c:v>GPT-5.5 + OfficeQA Pro harness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36.1</c:v>
                </c:pt>
                <c:pt idx="1">
                  <c:v>52.63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1" i="0" strike="noStrike" sz="1400" u="none">
                  <a:solidFill>
                    <a:srgbClr val="1620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3A4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summarizes two 2026 articles on agent harnesses, from DataCamp and Databricks.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LangChain framing. Term gained traction in Feb 2026 when Mitchell Hashimoto said: when an agent makes a mistake, change the environment so the mistake cannot happen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Orchestration and planning (breaking goals into subtasks, spawning subagents) is also called out by DataCamp as a core harness responsibility.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7180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datacamp.com/blog/agent-harness" TargetMode="External"/><Relationship Id="rId2" Type="http://schemas.openxmlformats.org/officeDocument/2006/relationships/hyperlink" Target="https://www.databricks.com/blog/ai-harness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Agent Harness: Turning Models into Reliable Agents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71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Agent = Model + Harness</a:t>
            </a:r>
            <a:endParaRPr lang="en-US" sz="1800" dirty="0"/>
          </a:p>
        </p:txBody>
      </p:sp>
      <p:sp>
        <p:nvSpPr>
          <p:cNvPr id="4" name="Source line"/>
          <p:cNvSpPr txBox="1"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bg2"/>
                </a:solidFill>
              </a:rPr>
              <a:t>Based on DataCamp, “What Is an Agent Harness?” and Databricks, “What is an AI Agent Harness?”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harness is what lets a model act</a:t>
            </a:r>
            <a:endParaRPr lang="en-US" sz="3000" dirty="0"/>
          </a:p>
        </p:txBody>
      </p:sp>
      <p:sp>
        <p:nvSpPr>
          <p:cNvPr id="3" name="Equation card Model"/>
          <p:cNvSpPr/>
          <p:nvPr/>
        </p:nvSpPr>
        <p:spPr>
          <a:xfrm>
            <a:off x="457200" y="1234440"/>
            <a:ext cx="23774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Model circle"/>
          <p:cNvSpPr/>
          <p:nvPr/>
        </p:nvSpPr>
        <p:spPr>
          <a:xfrm>
            <a:off x="1325880" y="141732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Model icon" descr="Mod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5900" y="1577340"/>
            <a:ext cx="320040" cy="320040"/>
          </a:xfrm>
          <a:prstGeom prst="rect">
            <a:avLst/>
          </a:prstGeom>
        </p:spPr>
      </p:pic>
      <p:sp>
        <p:nvSpPr>
          <p:cNvPr id="6" name="Model label"/>
          <p:cNvSpPr txBox="1"/>
          <p:nvPr/>
        </p:nvSpPr>
        <p:spPr>
          <a:xfrm>
            <a:off x="594360" y="2194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2000" dirty="0"/>
          </a:p>
        </p:txBody>
      </p:sp>
      <p:sp>
        <p:nvSpPr>
          <p:cNvPr id="7" name="Model desc"/>
          <p:cNvSpPr txBox="1"/>
          <p:nvPr/>
        </p:nvSpPr>
        <p:spPr>
          <a:xfrm>
            <a:off x="594360" y="26060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Reasons, predicts, decides</a:t>
            </a:r>
            <a:endParaRPr lang="en-US" sz="1300" dirty="0"/>
          </a:p>
        </p:txBody>
      </p:sp>
      <p:sp>
        <p:nvSpPr>
          <p:cNvPr id="8" name="Operator 0"/>
          <p:cNvSpPr txBox="1"/>
          <p:nvPr/>
        </p:nvSpPr>
        <p:spPr>
          <a:xfrm>
            <a:off x="2834640" y="18745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+</a:t>
            </a:r>
            <a:endParaRPr lang="en-US" sz="3200" dirty="0"/>
          </a:p>
        </p:txBody>
      </p:sp>
      <p:sp>
        <p:nvSpPr>
          <p:cNvPr id="9" name="Equation card Harness"/>
          <p:cNvSpPr/>
          <p:nvPr/>
        </p:nvSpPr>
        <p:spPr>
          <a:xfrm>
            <a:off x="3337560" y="1234440"/>
            <a:ext cx="23774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Harness circle"/>
          <p:cNvSpPr/>
          <p:nvPr/>
        </p:nvSpPr>
        <p:spPr>
          <a:xfrm>
            <a:off x="4206240" y="141732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Harness icon" descr="Harnes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6260" y="1577340"/>
            <a:ext cx="320040" cy="320040"/>
          </a:xfrm>
          <a:prstGeom prst="rect">
            <a:avLst/>
          </a:prstGeom>
        </p:spPr>
      </p:pic>
      <p:sp>
        <p:nvSpPr>
          <p:cNvPr id="12" name="Harness label"/>
          <p:cNvSpPr txBox="1"/>
          <p:nvPr/>
        </p:nvSpPr>
        <p:spPr>
          <a:xfrm>
            <a:off x="3474720" y="2194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Harness</a:t>
            </a:r>
            <a:endParaRPr lang="en-US" sz="2000" dirty="0"/>
          </a:p>
        </p:txBody>
      </p:sp>
      <p:sp>
        <p:nvSpPr>
          <p:cNvPr id="13" name="Harness desc"/>
          <p:cNvSpPr txBox="1"/>
          <p:nvPr/>
        </p:nvSpPr>
        <p:spPr>
          <a:xfrm>
            <a:off x="3474720" y="26060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Tools, memory, sandbox, guardrails</a:t>
            </a:r>
            <a:endParaRPr lang="en-US" sz="1300" dirty="0"/>
          </a:p>
        </p:txBody>
      </p:sp>
      <p:sp>
        <p:nvSpPr>
          <p:cNvPr id="14" name="Operator 1"/>
          <p:cNvSpPr txBox="1"/>
          <p:nvPr/>
        </p:nvSpPr>
        <p:spPr>
          <a:xfrm>
            <a:off x="5715000" y="18745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=</a:t>
            </a:r>
            <a:endParaRPr lang="en-US" sz="3200" dirty="0"/>
          </a:p>
        </p:txBody>
      </p:sp>
      <p:sp>
        <p:nvSpPr>
          <p:cNvPr id="15" name="Equation card Agent"/>
          <p:cNvSpPr/>
          <p:nvPr/>
        </p:nvSpPr>
        <p:spPr>
          <a:xfrm>
            <a:off x="6217920" y="1234440"/>
            <a:ext cx="23774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Agent circle"/>
          <p:cNvSpPr/>
          <p:nvPr/>
        </p:nvSpPr>
        <p:spPr>
          <a:xfrm>
            <a:off x="7086600" y="14173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Agent icon" descr="Agen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6620" y="1577340"/>
            <a:ext cx="320040" cy="320040"/>
          </a:xfrm>
          <a:prstGeom prst="rect">
            <a:avLst/>
          </a:prstGeom>
        </p:spPr>
      </p:pic>
      <p:sp>
        <p:nvSpPr>
          <p:cNvPr id="18" name="Agent label"/>
          <p:cNvSpPr txBox="1"/>
          <p:nvPr/>
        </p:nvSpPr>
        <p:spPr>
          <a:xfrm>
            <a:off x="6355080" y="2194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</a:t>
            </a:r>
            <a:endParaRPr lang="en-US" sz="2000" dirty="0"/>
          </a:p>
        </p:txBody>
      </p:sp>
      <p:sp>
        <p:nvSpPr>
          <p:cNvPr id="19" name="Agent desc"/>
          <p:cNvSpPr txBox="1"/>
          <p:nvPr/>
        </p:nvSpPr>
        <p:spPr>
          <a:xfrm>
            <a:off x="6355080" y="26060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 worker that thinks and acts</a:t>
            </a:r>
            <a:endParaRPr lang="en-US" sz="1300" dirty="0"/>
          </a:p>
        </p:txBody>
      </p:sp>
      <p:sp>
        <p:nvSpPr>
          <p:cNvPr id="20" name="Definition text"/>
          <p:cNvSpPr txBox="1"/>
          <p:nvPr/>
        </p:nvSpPr>
        <p:spPr>
          <a:xfrm>
            <a:off x="457200" y="35204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“If you’re not the model, you’re the harness.”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The harness provides the environment, tools, memory, state, guardrails and observability that turn a stateless model call into an operational system.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Raw models can’t finish multi-step work</a:t>
            </a:r>
            <a:endParaRPr lang="en-US" sz="3000" dirty="0"/>
          </a:p>
        </p:txBody>
      </p:sp>
      <p:sp>
        <p:nvSpPr>
          <p:cNvPr id="3" name="Limitation card 1"/>
          <p:cNvSpPr/>
          <p:nvPr/>
        </p:nvSpPr>
        <p:spPr>
          <a:xfrm>
            <a:off x="457200" y="1188720"/>
            <a:ext cx="40233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No durable state circle"/>
          <p:cNvSpPr/>
          <p:nvPr/>
        </p:nvSpPr>
        <p:spPr>
          <a:xfrm>
            <a:off x="640080" y="141732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No durable state icon" descr="No durable sta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670" y="1565910"/>
            <a:ext cx="297180" cy="297180"/>
          </a:xfrm>
          <a:prstGeom prst="rect">
            <a:avLst/>
          </a:prstGeom>
        </p:spPr>
      </p:pic>
      <p:sp>
        <p:nvSpPr>
          <p:cNvPr id="6" name="Limitation title 1"/>
          <p:cNvSpPr txBox="1"/>
          <p:nvPr/>
        </p:nvSpPr>
        <p:spPr>
          <a:xfrm>
            <a:off x="1417320" y="13533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 durable state</a:t>
            </a:r>
            <a:endParaRPr lang="en-US" sz="1600" dirty="0"/>
          </a:p>
        </p:txBody>
      </p:sp>
      <p:sp>
        <p:nvSpPr>
          <p:cNvPr id="7" name="Limitation desc 1"/>
          <p:cNvSpPr txBox="1"/>
          <p:nvPr/>
        </p:nvSpPr>
        <p:spPr>
          <a:xfrm>
            <a:off x="1417320" y="1691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Progress is lost between calls and sessions</a:t>
            </a:r>
            <a:endParaRPr lang="en-US" sz="1300" dirty="0"/>
          </a:p>
        </p:txBody>
      </p:sp>
      <p:sp>
        <p:nvSpPr>
          <p:cNvPr id="8" name="Limitation card 2"/>
          <p:cNvSpPr/>
          <p:nvPr/>
        </p:nvSpPr>
        <p:spPr>
          <a:xfrm>
            <a:off x="4663440" y="1188720"/>
            <a:ext cx="40233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o tool execution circle"/>
          <p:cNvSpPr/>
          <p:nvPr/>
        </p:nvSpPr>
        <p:spPr>
          <a:xfrm>
            <a:off x="4846320" y="141732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No tool execution icon" descr="No tool execu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4910" y="1565910"/>
            <a:ext cx="297180" cy="297180"/>
          </a:xfrm>
          <a:prstGeom prst="rect">
            <a:avLst/>
          </a:prstGeom>
        </p:spPr>
      </p:pic>
      <p:sp>
        <p:nvSpPr>
          <p:cNvPr id="11" name="Limitation title 2"/>
          <p:cNvSpPr txBox="1"/>
          <p:nvPr/>
        </p:nvSpPr>
        <p:spPr>
          <a:xfrm>
            <a:off x="5623560" y="13533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 tool execution</a:t>
            </a:r>
            <a:endParaRPr lang="en-US" sz="1600" dirty="0"/>
          </a:p>
        </p:txBody>
      </p:sp>
      <p:sp>
        <p:nvSpPr>
          <p:cNvPr id="12" name="Limitation desc 2"/>
          <p:cNvSpPr txBox="1"/>
          <p:nvPr/>
        </p:nvSpPr>
        <p:spPr>
          <a:xfrm>
            <a:off x="5623560" y="1691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Can propose an action but can’t run it</a:t>
            </a:r>
            <a:endParaRPr lang="en-US" sz="1300" dirty="0"/>
          </a:p>
        </p:txBody>
      </p:sp>
      <p:sp>
        <p:nvSpPr>
          <p:cNvPr id="13" name="Limitation card 3"/>
          <p:cNvSpPr/>
          <p:nvPr/>
        </p:nvSpPr>
        <p:spPr>
          <a:xfrm>
            <a:off x="457200" y="2423160"/>
            <a:ext cx="40233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Context overload circle"/>
          <p:cNvSpPr/>
          <p:nvPr/>
        </p:nvSpPr>
        <p:spPr>
          <a:xfrm>
            <a:off x="640080" y="265176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Context overload icon" descr="Context overloa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670" y="2800350"/>
            <a:ext cx="297180" cy="297180"/>
          </a:xfrm>
          <a:prstGeom prst="rect">
            <a:avLst/>
          </a:prstGeom>
        </p:spPr>
      </p:pic>
      <p:sp>
        <p:nvSpPr>
          <p:cNvPr id="16" name="Limitation title 3"/>
          <p:cNvSpPr txBox="1"/>
          <p:nvPr/>
        </p:nvSpPr>
        <p:spPr>
          <a:xfrm>
            <a:off x="1417320" y="25877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Context overload</a:t>
            </a:r>
            <a:endParaRPr lang="en-US" sz="1600" dirty="0"/>
          </a:p>
        </p:txBody>
      </p:sp>
      <p:sp>
        <p:nvSpPr>
          <p:cNvPr id="17" name="Limitation desc 3"/>
          <p:cNvSpPr txBox="1"/>
          <p:nvPr/>
        </p:nvSpPr>
        <p:spPr>
          <a:xfrm>
            <a:off x="1417320" y="2926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Growing histories overwhelm the context window</a:t>
            </a:r>
            <a:endParaRPr lang="en-US" sz="1300" dirty="0"/>
          </a:p>
        </p:txBody>
      </p:sp>
      <p:sp>
        <p:nvSpPr>
          <p:cNvPr id="18" name="Limitation card 4"/>
          <p:cNvSpPr/>
          <p:nvPr/>
        </p:nvSpPr>
        <p:spPr>
          <a:xfrm>
            <a:off x="4663440" y="2423160"/>
            <a:ext cx="40233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No recovery circle"/>
          <p:cNvSpPr/>
          <p:nvPr/>
        </p:nvSpPr>
        <p:spPr>
          <a:xfrm>
            <a:off x="4846320" y="265176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No recovery icon" descr="No recover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4910" y="2800350"/>
            <a:ext cx="297180" cy="297180"/>
          </a:xfrm>
          <a:prstGeom prst="rect">
            <a:avLst/>
          </a:prstGeom>
        </p:spPr>
      </p:pic>
      <p:sp>
        <p:nvSpPr>
          <p:cNvPr id="21" name="Limitation title 4"/>
          <p:cNvSpPr txBox="1"/>
          <p:nvPr/>
        </p:nvSpPr>
        <p:spPr>
          <a:xfrm>
            <a:off x="5623560" y="25877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 recovery</a:t>
            </a:r>
            <a:endParaRPr lang="en-US" sz="1600" dirty="0"/>
          </a:p>
        </p:txBody>
      </p:sp>
      <p:sp>
        <p:nvSpPr>
          <p:cNvPr id="22" name="Limitation desc 4"/>
          <p:cNvSpPr txBox="1"/>
          <p:nvPr/>
        </p:nvSpPr>
        <p:spPr>
          <a:xfrm>
            <a:off x="5623560" y="2926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Can’t retry or recover from a failed tool call</a:t>
            </a:r>
            <a:endParaRPr lang="en-US" sz="1300" dirty="0"/>
          </a:p>
        </p:txBody>
      </p:sp>
      <p:sp>
        <p:nvSpPr>
          <p:cNvPr id="23" name="Example text"/>
          <p:cNvSpPr txBox="1"/>
          <p:nvPr/>
        </p:nvSpPr>
        <p:spPr>
          <a:xfrm>
            <a:off x="457200" y="3794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Example: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with a harness, a coding agent can read tests, run code, see real errors, edit files and confirm the fix — autonomously and traceably.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Eight building blocks of a harness</a:t>
            </a:r>
            <a:endParaRPr lang="en-US" sz="3000" dirty="0"/>
          </a:p>
        </p:txBody>
      </p:sp>
      <p:sp>
        <p:nvSpPr>
          <p:cNvPr id="3" name="Component card 1"/>
          <p:cNvSpPr/>
          <p:nvPr/>
        </p:nvSpPr>
        <p:spPr>
          <a:xfrm>
            <a:off x="457200" y="1188720"/>
            <a:ext cx="19202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ystem prompt circle"/>
          <p:cNvSpPr/>
          <p:nvPr/>
        </p:nvSpPr>
        <p:spPr>
          <a:xfrm>
            <a:off x="594360" y="13258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System prompt icon" descr="System promp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90" y="1451610"/>
            <a:ext cx="251460" cy="251460"/>
          </a:xfrm>
          <a:prstGeom prst="rect">
            <a:avLst/>
          </a:prstGeom>
        </p:spPr>
      </p:pic>
      <p:sp>
        <p:nvSpPr>
          <p:cNvPr id="6" name="Component title 1"/>
          <p:cNvSpPr txBox="1"/>
          <p:nvPr/>
        </p:nvSpPr>
        <p:spPr>
          <a:xfrm>
            <a:off x="594360" y="19202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System prompt</a:t>
            </a:r>
            <a:endParaRPr lang="en-US" sz="1400" dirty="0"/>
          </a:p>
        </p:txBody>
      </p:sp>
      <p:sp>
        <p:nvSpPr>
          <p:cNvPr id="7" name="Component desc 1"/>
          <p:cNvSpPr txBox="1"/>
          <p:nvPr/>
        </p:nvSpPr>
        <p:spPr>
          <a:xfrm>
            <a:off x="594360" y="21945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Identity, goals, rules, safety policy</a:t>
            </a:r>
            <a:endParaRPr lang="en-US" sz="1100" dirty="0"/>
          </a:p>
        </p:txBody>
      </p:sp>
      <p:sp>
        <p:nvSpPr>
          <p:cNvPr id="8" name="Component card 2"/>
          <p:cNvSpPr/>
          <p:nvPr/>
        </p:nvSpPr>
        <p:spPr>
          <a:xfrm>
            <a:off x="2560320" y="1188720"/>
            <a:ext cx="19202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ools circle"/>
          <p:cNvSpPr/>
          <p:nvPr/>
        </p:nvSpPr>
        <p:spPr>
          <a:xfrm>
            <a:off x="2697480" y="13258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Tools icon" descr="Tool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3210" y="1451610"/>
            <a:ext cx="251460" cy="251460"/>
          </a:xfrm>
          <a:prstGeom prst="rect">
            <a:avLst/>
          </a:prstGeom>
        </p:spPr>
      </p:pic>
      <p:sp>
        <p:nvSpPr>
          <p:cNvPr id="11" name="Component title 2"/>
          <p:cNvSpPr txBox="1"/>
          <p:nvPr/>
        </p:nvSpPr>
        <p:spPr>
          <a:xfrm>
            <a:off x="2697480" y="19202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Tools</a:t>
            </a:r>
            <a:endParaRPr lang="en-US" sz="1400" dirty="0"/>
          </a:p>
        </p:txBody>
      </p:sp>
      <p:sp>
        <p:nvSpPr>
          <p:cNvPr id="12" name="Component desc 2"/>
          <p:cNvSpPr txBox="1"/>
          <p:nvPr/>
        </p:nvSpPr>
        <p:spPr>
          <a:xfrm>
            <a:off x="2697480" y="21945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APIs, search, code, files; MCP as standard</a:t>
            </a:r>
            <a:endParaRPr lang="en-US" sz="1100" dirty="0"/>
          </a:p>
        </p:txBody>
      </p:sp>
      <p:sp>
        <p:nvSpPr>
          <p:cNvPr id="13" name="Component card 3"/>
          <p:cNvSpPr/>
          <p:nvPr/>
        </p:nvSpPr>
        <p:spPr>
          <a:xfrm>
            <a:off x="4663440" y="1188720"/>
            <a:ext cx="19202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andbox circle"/>
          <p:cNvSpPr/>
          <p:nvPr/>
        </p:nvSpPr>
        <p:spPr>
          <a:xfrm>
            <a:off x="4800600" y="13258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Sandbox icon" descr="Sandbox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6330" y="1451610"/>
            <a:ext cx="251460" cy="251460"/>
          </a:xfrm>
          <a:prstGeom prst="rect">
            <a:avLst/>
          </a:prstGeom>
        </p:spPr>
      </p:pic>
      <p:sp>
        <p:nvSpPr>
          <p:cNvPr id="16" name="Component title 3"/>
          <p:cNvSpPr txBox="1"/>
          <p:nvPr/>
        </p:nvSpPr>
        <p:spPr>
          <a:xfrm>
            <a:off x="4800600" y="19202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Sandbox</a:t>
            </a:r>
            <a:endParaRPr lang="en-US" sz="1400" dirty="0"/>
          </a:p>
        </p:txBody>
      </p:sp>
      <p:sp>
        <p:nvSpPr>
          <p:cNvPr id="17" name="Component desc 3"/>
          <p:cNvSpPr txBox="1"/>
          <p:nvPr/>
        </p:nvSpPr>
        <p:spPr>
          <a:xfrm>
            <a:off x="4800600" y="21945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Isolated, session-scoped execution</a:t>
            </a:r>
            <a:endParaRPr lang="en-US" sz="1100" dirty="0"/>
          </a:p>
        </p:txBody>
      </p:sp>
      <p:sp>
        <p:nvSpPr>
          <p:cNvPr id="18" name="Component card 4"/>
          <p:cNvSpPr/>
          <p:nvPr/>
        </p:nvSpPr>
        <p:spPr>
          <a:xfrm>
            <a:off x="6766560" y="1188720"/>
            <a:ext cx="19202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Filesystem circle"/>
          <p:cNvSpPr/>
          <p:nvPr/>
        </p:nvSpPr>
        <p:spPr>
          <a:xfrm>
            <a:off x="6903720" y="13258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0" name="Filesystem icon" descr="Filesystem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9450" y="1451610"/>
            <a:ext cx="251460" cy="251460"/>
          </a:xfrm>
          <a:prstGeom prst="rect">
            <a:avLst/>
          </a:prstGeom>
        </p:spPr>
      </p:pic>
      <p:sp>
        <p:nvSpPr>
          <p:cNvPr id="21" name="Component title 4"/>
          <p:cNvSpPr txBox="1"/>
          <p:nvPr/>
        </p:nvSpPr>
        <p:spPr>
          <a:xfrm>
            <a:off x="6903720" y="19202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Filesystem</a:t>
            </a:r>
            <a:endParaRPr lang="en-US" sz="1400" dirty="0"/>
          </a:p>
        </p:txBody>
      </p:sp>
      <p:sp>
        <p:nvSpPr>
          <p:cNvPr id="22" name="Component desc 4"/>
          <p:cNvSpPr txBox="1"/>
          <p:nvPr/>
        </p:nvSpPr>
        <p:spPr>
          <a:xfrm>
            <a:off x="6903720" y="21945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Persistent progress and shared workspace</a:t>
            </a:r>
            <a:endParaRPr lang="en-US" sz="1100" dirty="0"/>
          </a:p>
        </p:txBody>
      </p:sp>
      <p:sp>
        <p:nvSpPr>
          <p:cNvPr id="23" name="Component card 5"/>
          <p:cNvSpPr/>
          <p:nvPr/>
        </p:nvSpPr>
        <p:spPr>
          <a:xfrm>
            <a:off x="457200" y="2926080"/>
            <a:ext cx="19202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Memory &amp; context circle"/>
          <p:cNvSpPr/>
          <p:nvPr/>
        </p:nvSpPr>
        <p:spPr>
          <a:xfrm>
            <a:off x="594360" y="306324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5" name="Memory &amp; context icon" descr="Memory &amp; contex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90" y="3188970"/>
            <a:ext cx="251460" cy="251460"/>
          </a:xfrm>
          <a:prstGeom prst="rect">
            <a:avLst/>
          </a:prstGeom>
        </p:spPr>
      </p:pic>
      <p:sp>
        <p:nvSpPr>
          <p:cNvPr id="26" name="Component title 5"/>
          <p:cNvSpPr txBox="1"/>
          <p:nvPr/>
        </p:nvSpPr>
        <p:spPr>
          <a:xfrm>
            <a:off x="594360" y="36576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Memory &amp; context</a:t>
            </a:r>
            <a:endParaRPr lang="en-US" sz="1400" dirty="0"/>
          </a:p>
        </p:txBody>
      </p:sp>
      <p:sp>
        <p:nvSpPr>
          <p:cNvPr id="27" name="Component desc 5"/>
          <p:cNvSpPr txBox="1"/>
          <p:nvPr/>
        </p:nvSpPr>
        <p:spPr>
          <a:xfrm>
            <a:off x="594360" y="39319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Short/long-term memory, compaction</a:t>
            </a:r>
            <a:endParaRPr lang="en-US" sz="1100" dirty="0"/>
          </a:p>
        </p:txBody>
      </p:sp>
      <p:sp>
        <p:nvSpPr>
          <p:cNvPr id="28" name="Component card 6"/>
          <p:cNvSpPr/>
          <p:nvPr/>
        </p:nvSpPr>
        <p:spPr>
          <a:xfrm>
            <a:off x="2560320" y="2926080"/>
            <a:ext cx="19202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Verification circle"/>
          <p:cNvSpPr/>
          <p:nvPr/>
        </p:nvSpPr>
        <p:spPr>
          <a:xfrm>
            <a:off x="2697480" y="306324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0" name="Verification icon" descr="Verificati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3210" y="3188970"/>
            <a:ext cx="251460" cy="251460"/>
          </a:xfrm>
          <a:prstGeom prst="rect">
            <a:avLst/>
          </a:prstGeom>
        </p:spPr>
      </p:pic>
      <p:sp>
        <p:nvSpPr>
          <p:cNvPr id="31" name="Component title 6"/>
          <p:cNvSpPr txBox="1"/>
          <p:nvPr/>
        </p:nvSpPr>
        <p:spPr>
          <a:xfrm>
            <a:off x="2697480" y="36576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Verification</a:t>
            </a:r>
            <a:endParaRPr lang="en-US" sz="1400" dirty="0"/>
          </a:p>
        </p:txBody>
      </p:sp>
      <p:sp>
        <p:nvSpPr>
          <p:cNvPr id="32" name="Component desc 6"/>
          <p:cNvSpPr txBox="1"/>
          <p:nvPr/>
        </p:nvSpPr>
        <p:spPr>
          <a:xfrm>
            <a:off x="2697480" y="39319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Tests and feedback loops to self-correct</a:t>
            </a:r>
            <a:endParaRPr lang="en-US" sz="1100" dirty="0"/>
          </a:p>
        </p:txBody>
      </p:sp>
      <p:sp>
        <p:nvSpPr>
          <p:cNvPr id="33" name="Component card 7"/>
          <p:cNvSpPr/>
          <p:nvPr/>
        </p:nvSpPr>
        <p:spPr>
          <a:xfrm>
            <a:off x="4663440" y="2926080"/>
            <a:ext cx="19202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Guardrails circle"/>
          <p:cNvSpPr/>
          <p:nvPr/>
        </p:nvSpPr>
        <p:spPr>
          <a:xfrm>
            <a:off x="4800600" y="306324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5" name="Guardrails icon" descr="Guardrail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6330" y="3188970"/>
            <a:ext cx="251460" cy="251460"/>
          </a:xfrm>
          <a:prstGeom prst="rect">
            <a:avLst/>
          </a:prstGeom>
        </p:spPr>
      </p:pic>
      <p:sp>
        <p:nvSpPr>
          <p:cNvPr id="36" name="Component title 7"/>
          <p:cNvSpPr txBox="1"/>
          <p:nvPr/>
        </p:nvSpPr>
        <p:spPr>
          <a:xfrm>
            <a:off x="4800600" y="36576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Guardrails</a:t>
            </a:r>
            <a:endParaRPr lang="en-US" sz="1400" dirty="0"/>
          </a:p>
        </p:txBody>
      </p:sp>
      <p:sp>
        <p:nvSpPr>
          <p:cNvPr id="37" name="Component desc 7"/>
          <p:cNvSpPr txBox="1"/>
          <p:nvPr/>
        </p:nvSpPr>
        <p:spPr>
          <a:xfrm>
            <a:off x="4800600" y="39319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Permissions and human approval</a:t>
            </a:r>
            <a:endParaRPr lang="en-US" sz="1100" dirty="0"/>
          </a:p>
        </p:txBody>
      </p:sp>
      <p:sp>
        <p:nvSpPr>
          <p:cNvPr id="38" name="Component card 8"/>
          <p:cNvSpPr/>
          <p:nvPr/>
        </p:nvSpPr>
        <p:spPr>
          <a:xfrm>
            <a:off x="6766560" y="2926080"/>
            <a:ext cx="19202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Observability circle"/>
          <p:cNvSpPr/>
          <p:nvPr/>
        </p:nvSpPr>
        <p:spPr>
          <a:xfrm>
            <a:off x="6903720" y="306324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0" name="Observability icon" descr="Observability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29450" y="3188970"/>
            <a:ext cx="251460" cy="251460"/>
          </a:xfrm>
          <a:prstGeom prst="rect">
            <a:avLst/>
          </a:prstGeom>
        </p:spPr>
      </p:pic>
      <p:sp>
        <p:nvSpPr>
          <p:cNvPr id="41" name="Component title 8"/>
          <p:cNvSpPr txBox="1"/>
          <p:nvPr/>
        </p:nvSpPr>
        <p:spPr>
          <a:xfrm>
            <a:off x="6903720" y="36576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Observability</a:t>
            </a:r>
            <a:endParaRPr lang="en-US" sz="1400" dirty="0"/>
          </a:p>
        </p:txBody>
      </p:sp>
      <p:sp>
        <p:nvSpPr>
          <p:cNvPr id="42" name="Component desc 8"/>
          <p:cNvSpPr txBox="1"/>
          <p:nvPr/>
        </p:nvSpPr>
        <p:spPr>
          <a:xfrm>
            <a:off x="6903720" y="39319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Traces of calls, errors, latency, cost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ReAct loop runs inside every harness</a:t>
            </a:r>
            <a:endParaRPr lang="en-US" sz="3000" dirty="0"/>
          </a:p>
        </p:txBody>
      </p:sp>
      <p:sp>
        <p:nvSpPr>
          <p:cNvPr id="3" name="Step circle 1"/>
          <p:cNvSpPr/>
          <p:nvPr/>
        </p:nvSpPr>
        <p:spPr>
          <a:xfrm>
            <a:off x="868680" y="1234440"/>
            <a:ext cx="1005840" cy="10058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Step number 1"/>
          <p:cNvSpPr txBox="1"/>
          <p:nvPr/>
        </p:nvSpPr>
        <p:spPr>
          <a:xfrm>
            <a:off x="868680" y="12344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5" name="Arrow 1"/>
          <p:cNvSpPr/>
          <p:nvPr/>
        </p:nvSpPr>
        <p:spPr>
          <a:xfrm>
            <a:off x="2057400" y="1600200"/>
            <a:ext cx="457200" cy="27432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Step title 1"/>
          <p:cNvSpPr txBox="1"/>
          <p:nvPr/>
        </p:nvSpPr>
        <p:spPr>
          <a:xfrm>
            <a:off x="45720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Reason</a:t>
            </a:r>
            <a:endParaRPr lang="en-US" sz="1800" dirty="0"/>
          </a:p>
        </p:txBody>
      </p:sp>
      <p:sp>
        <p:nvSpPr>
          <p:cNvPr id="7" name="Step desc 1"/>
          <p:cNvSpPr txBox="1"/>
          <p:nvPr/>
        </p:nvSpPr>
        <p:spPr>
          <a:xfrm>
            <a:off x="502920" y="27432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Model reads context and decides the next action</a:t>
            </a:r>
            <a:endParaRPr lang="en-US" sz="1300" dirty="0"/>
          </a:p>
        </p:txBody>
      </p:sp>
      <p:sp>
        <p:nvSpPr>
          <p:cNvPr id="8" name="Step circle 2"/>
          <p:cNvSpPr/>
          <p:nvPr/>
        </p:nvSpPr>
        <p:spPr>
          <a:xfrm>
            <a:off x="3017520" y="1234440"/>
            <a:ext cx="1005840" cy="10058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Step number 2"/>
          <p:cNvSpPr txBox="1"/>
          <p:nvPr/>
        </p:nvSpPr>
        <p:spPr>
          <a:xfrm>
            <a:off x="3017520" y="12344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10" name="Arrow 2"/>
          <p:cNvSpPr/>
          <p:nvPr/>
        </p:nvSpPr>
        <p:spPr>
          <a:xfrm>
            <a:off x="4206240" y="1600200"/>
            <a:ext cx="457200" cy="27432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Step title 2"/>
          <p:cNvSpPr txBox="1"/>
          <p:nvPr/>
        </p:nvSpPr>
        <p:spPr>
          <a:xfrm>
            <a:off x="260604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Act</a:t>
            </a:r>
            <a:endParaRPr lang="en-US" sz="1800" dirty="0"/>
          </a:p>
        </p:txBody>
      </p:sp>
      <p:sp>
        <p:nvSpPr>
          <p:cNvPr id="12" name="Step desc 2"/>
          <p:cNvSpPr txBox="1"/>
          <p:nvPr/>
        </p:nvSpPr>
        <p:spPr>
          <a:xfrm>
            <a:off x="2651760" y="27432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Harness executes it via tools, code or APIs</a:t>
            </a:r>
            <a:endParaRPr lang="en-US" sz="1300" dirty="0"/>
          </a:p>
        </p:txBody>
      </p:sp>
      <p:sp>
        <p:nvSpPr>
          <p:cNvPr id="13" name="Step circle 3"/>
          <p:cNvSpPr/>
          <p:nvPr/>
        </p:nvSpPr>
        <p:spPr>
          <a:xfrm>
            <a:off x="5166360" y="123444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Step number 3"/>
          <p:cNvSpPr txBox="1"/>
          <p:nvPr/>
        </p:nvSpPr>
        <p:spPr>
          <a:xfrm>
            <a:off x="5166360" y="12344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5" name="Arrow 3"/>
          <p:cNvSpPr/>
          <p:nvPr/>
        </p:nvSpPr>
        <p:spPr>
          <a:xfrm>
            <a:off x="6355080" y="1600200"/>
            <a:ext cx="457200" cy="27432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Step title 3"/>
          <p:cNvSpPr txBox="1"/>
          <p:nvPr/>
        </p:nvSpPr>
        <p:spPr>
          <a:xfrm>
            <a:off x="475488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Observe</a:t>
            </a:r>
            <a:endParaRPr lang="en-US" sz="1800" dirty="0"/>
          </a:p>
        </p:txBody>
      </p:sp>
      <p:sp>
        <p:nvSpPr>
          <p:cNvPr id="17" name="Step desc 3"/>
          <p:cNvSpPr txBox="1"/>
          <p:nvPr/>
        </p:nvSpPr>
        <p:spPr>
          <a:xfrm>
            <a:off x="4800600" y="27432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Harness captures results and feeds them back</a:t>
            </a:r>
            <a:endParaRPr lang="en-US" sz="1300" dirty="0"/>
          </a:p>
        </p:txBody>
      </p:sp>
      <p:sp>
        <p:nvSpPr>
          <p:cNvPr id="18" name="Step circle 4"/>
          <p:cNvSpPr/>
          <p:nvPr/>
        </p:nvSpPr>
        <p:spPr>
          <a:xfrm>
            <a:off x="7315200" y="1234440"/>
            <a:ext cx="1005840" cy="10058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Step number 4"/>
          <p:cNvSpPr txBox="1"/>
          <p:nvPr/>
        </p:nvSpPr>
        <p:spPr>
          <a:xfrm>
            <a:off x="7315200" y="12344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20" name="Step title 4"/>
          <p:cNvSpPr txBox="1"/>
          <p:nvPr/>
        </p:nvSpPr>
        <p:spPr>
          <a:xfrm>
            <a:off x="690372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Repeat</a:t>
            </a:r>
            <a:endParaRPr lang="en-US" sz="1800" dirty="0"/>
          </a:p>
        </p:txBody>
      </p:sp>
      <p:sp>
        <p:nvSpPr>
          <p:cNvPr id="21" name="Step desc 4"/>
          <p:cNvSpPr txBox="1"/>
          <p:nvPr/>
        </p:nvSpPr>
        <p:spPr>
          <a:xfrm>
            <a:off x="6949440" y="27432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Cycle continues until the task is done</a:t>
            </a:r>
            <a:endParaRPr lang="en-US" sz="1300" dirty="0"/>
          </a:p>
        </p:txBody>
      </p:sp>
      <p:sp>
        <p:nvSpPr>
          <p:cNvPr id="22" name="Example card"/>
          <p:cNvSpPr/>
          <p:nvPr/>
        </p:nvSpPr>
        <p:spPr>
          <a:xfrm>
            <a:off x="457200" y="365760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Loop example"/>
          <p:cNvSpPr txBox="1"/>
          <p:nvPr/>
        </p:nvSpPr>
        <p:spPr>
          <a:xfrm>
            <a:off x="640080" y="3767328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Coding example: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model proposes a change → the harness runs tests in a sandbox → results return to the model → if tests fail, it reasons about a fix and retries.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From prompt to harness engineering</a:t>
            </a:r>
            <a:endParaRPr lang="en-US" sz="3000" dirty="0"/>
          </a:p>
        </p:txBody>
      </p:sp>
      <p:sp>
        <p:nvSpPr>
          <p:cNvPr id="3" name="Era card 1"/>
          <p:cNvSpPr/>
          <p:nvPr/>
        </p:nvSpPr>
        <p:spPr>
          <a:xfrm>
            <a:off x="457200" y="1188720"/>
            <a:ext cx="2606040" cy="292608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Era number 1"/>
          <p:cNvSpPr txBox="1"/>
          <p:nvPr/>
        </p:nvSpPr>
        <p:spPr>
          <a:xfrm>
            <a:off x="640080" y="1325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Era title 1"/>
          <p:cNvSpPr txBox="1"/>
          <p:nvPr/>
        </p:nvSpPr>
        <p:spPr>
          <a:xfrm>
            <a:off x="640080" y="1828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Prompt engineering</a:t>
            </a:r>
            <a:endParaRPr lang="en-US" sz="1700" dirty="0"/>
          </a:p>
        </p:txBody>
      </p:sp>
      <p:sp>
        <p:nvSpPr>
          <p:cNvPr id="6" name="Era details 1"/>
          <p:cNvSpPr txBox="1"/>
          <p:nvPr/>
        </p:nvSpPr>
        <p:spPr>
          <a:xfrm>
            <a:off x="640080" y="2240280"/>
            <a:ext cx="22860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2"/>
                </a:solidFill>
              </a:rPr>
              <a:t>Focus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Better inputs for better responses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2"/>
                </a:solidFill>
              </a:rPr>
              <a:t>Artifact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Well-written prompts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2"/>
                </a:solidFill>
              </a:rPr>
              <a:t>Era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Early LLM apps</a:t>
            </a:r>
            <a:endParaRPr lang="en-US" sz="1300" dirty="0"/>
          </a:p>
        </p:txBody>
      </p:sp>
      <p:sp>
        <p:nvSpPr>
          <p:cNvPr id="7" name="Era card 2"/>
          <p:cNvSpPr/>
          <p:nvPr/>
        </p:nvSpPr>
        <p:spPr>
          <a:xfrm>
            <a:off x="3246120" y="1188720"/>
            <a:ext cx="2606040" cy="292608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Era number 2"/>
          <p:cNvSpPr txBox="1"/>
          <p:nvPr/>
        </p:nvSpPr>
        <p:spPr>
          <a:xfrm>
            <a:off x="3429000" y="1325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Era title 2"/>
          <p:cNvSpPr txBox="1"/>
          <p:nvPr/>
        </p:nvSpPr>
        <p:spPr>
          <a:xfrm>
            <a:off x="3429000" y="1828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Context engineering</a:t>
            </a:r>
            <a:endParaRPr lang="en-US" sz="1700" dirty="0"/>
          </a:p>
        </p:txBody>
      </p:sp>
      <p:sp>
        <p:nvSpPr>
          <p:cNvPr id="10" name="Era details 2"/>
          <p:cNvSpPr txBox="1"/>
          <p:nvPr/>
        </p:nvSpPr>
        <p:spPr>
          <a:xfrm>
            <a:off x="3429000" y="2240280"/>
            <a:ext cx="22860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2"/>
                </a:solidFill>
              </a:rPr>
              <a:t>Focus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Curating what the model sees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2"/>
                </a:solidFill>
              </a:rPr>
              <a:t>Artifact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Retrieval, memory design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2"/>
                </a:solidFill>
              </a:rPr>
              <a:t>Era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RAG-era systems</a:t>
            </a:r>
            <a:endParaRPr lang="en-US" sz="1300" dirty="0"/>
          </a:p>
        </p:txBody>
      </p:sp>
      <p:sp>
        <p:nvSpPr>
          <p:cNvPr id="11" name="Era card 3"/>
          <p:cNvSpPr/>
          <p:nvPr/>
        </p:nvSpPr>
        <p:spPr>
          <a:xfrm>
            <a:off x="6035040" y="1188720"/>
            <a:ext cx="2606040" cy="2926080"/>
          </a:xfrm>
          <a:prstGeom prst="roundRect">
            <a:avLst>
              <a:gd name="adj" fmla="val 280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Era number 3"/>
          <p:cNvSpPr txBox="1"/>
          <p:nvPr/>
        </p:nvSpPr>
        <p:spPr>
          <a:xfrm>
            <a:off x="6217920" y="1325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3" name="Era title 3"/>
          <p:cNvSpPr txBox="1"/>
          <p:nvPr/>
        </p:nvSpPr>
        <p:spPr>
          <a:xfrm>
            <a:off x="6217920" y="1828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Harness engineering</a:t>
            </a:r>
            <a:endParaRPr lang="en-US" sz="1700" dirty="0"/>
          </a:p>
        </p:txBody>
      </p:sp>
      <p:sp>
        <p:nvSpPr>
          <p:cNvPr id="14" name="Era details 3"/>
          <p:cNvSpPr txBox="1"/>
          <p:nvPr/>
        </p:nvSpPr>
        <p:spPr>
          <a:xfrm>
            <a:off x="6217920" y="2240280"/>
            <a:ext cx="22860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Focus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Designing the whole system around the model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Artifact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Full harness infrastructure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Era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Agentic, autonomous workflows</a:t>
            </a:r>
            <a:endParaRPr lang="en-US" sz="1300" dirty="0"/>
          </a:p>
        </p:txBody>
      </p:sp>
      <p:sp>
        <p:nvSpPr>
          <p:cNvPr id="15" name="Era footnote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The term shifted from “scaffolding” (temporary) to “harness” (permanent, system-level).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Harness vs. framework vs. runtime</a:t>
            </a:r>
            <a:endParaRPr lang="en-US" sz="3000" dirty="0"/>
          </a:p>
        </p:txBody>
      </p:sp>
      <p:graphicFrame>
        <p:nvGraphicFramePr>
          <p:cNvPr id="8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291840"/>
                <a:gridCol w="2377440"/>
                <a:gridCol w="12801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Layer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What it provides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Examples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Web analogy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Framework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Building blocks to construct agents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LangChain, CrewAI, Google ADK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Express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Runtime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Durable execution, state, retries, human-in-the-loop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LangGraph, Temporal, Inngest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Node.js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Harness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Framework + runtime with built-in decisions: tools, planning, filesystem, context mgmt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Deep Agents, Anthropic Agent SDK, OpenAI Agents SDK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Next.js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Prompt vs harness"/>
          <p:cNvSpPr txBox="1"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Prompt vs. harness: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system prompt tells the model what to do; the harness controls what it can 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harness can matter as much as the model</a:t>
            </a:r>
            <a:endParaRPr lang="en-US" sz="3000" dirty="0"/>
          </a:p>
        </p:txBody>
      </p:sp>
      <p:graphicFrame>
        <p:nvGraphicFramePr>
          <p:cNvPr id="3" name="Impact chart" descr=""/>
          <p:cNvGraphicFramePr/>
          <p:nvPr/>
        </p:nvGraphicFramePr>
        <p:xfrm>
          <a:off x="457200" y="1143000"/>
          <a:ext cx="47548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 1"/>
          <p:cNvSpPr txBox="1"/>
          <p:nvPr/>
        </p:nvSpPr>
        <p:spPr>
          <a:xfrm>
            <a:off x="5486400" y="12344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+16.5 pts</a:t>
            </a:r>
            <a:endParaRPr lang="en-US" sz="4400" dirty="0"/>
          </a:p>
        </p:txBody>
      </p:sp>
      <p:sp>
        <p:nvSpPr>
          <p:cNvPr id="5" name="Stat 1 label"/>
          <p:cNvSpPr txBox="1"/>
          <p:nvPr/>
        </p:nvSpPr>
        <p:spPr>
          <a:xfrm>
            <a:off x="5486400" y="1965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same model, better harness (Databricks)</a:t>
            </a:r>
            <a:endParaRPr lang="en-US" sz="1200" dirty="0"/>
          </a:p>
        </p:txBody>
      </p:sp>
      <p:sp>
        <p:nvSpPr>
          <p:cNvPr id="6" name="Stat 2"/>
          <p:cNvSpPr txBox="1"/>
          <p:nvPr/>
        </p:nvSpPr>
        <p:spPr>
          <a:xfrm>
            <a:off x="5486400" y="24688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10–20 pts</a:t>
            </a:r>
            <a:endParaRPr lang="en-US" sz="4400" dirty="0"/>
          </a:p>
        </p:txBody>
      </p:sp>
      <p:sp>
        <p:nvSpPr>
          <p:cNvPr id="7" name="Stat 2 label"/>
          <p:cNvSpPr txBox="1"/>
          <p:nvPr/>
        </p:nvSpPr>
        <p:spPr>
          <a:xfrm>
            <a:off x="5486400" y="32004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jump on a tau2-bench subset from model-specific harness profiles (LangChain)</a:t>
            </a:r>
            <a:endParaRPr lang="en-US" sz="1200" dirty="0"/>
          </a:p>
        </p:txBody>
      </p:sp>
      <p:sp>
        <p:nvSpPr>
          <p:cNvPr id="8" name="Impact takeaway"/>
          <p:cNvSpPr txBox="1"/>
          <p:nvPr/>
        </p:nvSpPr>
        <p:spPr>
          <a:xfrm>
            <a:off x="5486400" y="38862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chemeClr val="tx1"/>
                </a:solidFill>
              </a:rPr>
              <a:t>A strong harness around a mid-tier model can beat a weak harness around a better one.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Harnesses are shaped by the job</a:t>
            </a:r>
            <a:endParaRPr lang="en-US" sz="3000" dirty="0"/>
          </a:p>
        </p:txBody>
      </p:sp>
      <p:sp>
        <p:nvSpPr>
          <p:cNvPr id="3" name="Use case card 1"/>
          <p:cNvSpPr/>
          <p:nvPr/>
        </p:nvSpPr>
        <p:spPr>
          <a:xfrm>
            <a:off x="457200" y="1234440"/>
            <a:ext cx="1920240" cy="320040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oding circle"/>
          <p:cNvSpPr/>
          <p:nvPr/>
        </p:nvSpPr>
        <p:spPr>
          <a:xfrm>
            <a:off x="1005840" y="146304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Coding icon" descr="Cod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580" y="1668780"/>
            <a:ext cx="411480" cy="411480"/>
          </a:xfrm>
          <a:prstGeom prst="rect">
            <a:avLst/>
          </a:prstGeom>
        </p:spPr>
      </p:pic>
      <p:sp>
        <p:nvSpPr>
          <p:cNvPr id="6" name="Use case title 1"/>
          <p:cNvSpPr txBox="1"/>
          <p:nvPr/>
        </p:nvSpPr>
        <p:spPr>
          <a:xfrm>
            <a:off x="594360" y="2468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Coding</a:t>
            </a:r>
            <a:endParaRPr lang="en-US" sz="1600" dirty="0"/>
          </a:p>
        </p:txBody>
      </p:sp>
      <p:sp>
        <p:nvSpPr>
          <p:cNvPr id="7" name="Use case desc 1"/>
          <p:cNvSpPr txBox="1"/>
          <p:nvPr/>
        </p:nvSpPr>
        <p:spPr>
          <a:xfrm>
            <a:off x="594360" y="3063240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Files, git, terminal, tests, rollback of bad edits</a:t>
            </a:r>
            <a:endParaRPr lang="en-US" sz="1300" dirty="0"/>
          </a:p>
        </p:txBody>
      </p:sp>
      <p:sp>
        <p:nvSpPr>
          <p:cNvPr id="8" name="Use case card 2"/>
          <p:cNvSpPr/>
          <p:nvPr/>
        </p:nvSpPr>
        <p:spPr>
          <a:xfrm>
            <a:off x="2560320" y="1234440"/>
            <a:ext cx="1920240" cy="320040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Research circle"/>
          <p:cNvSpPr/>
          <p:nvPr/>
        </p:nvSpPr>
        <p:spPr>
          <a:xfrm>
            <a:off x="3108960" y="1463040"/>
            <a:ext cx="822960" cy="8229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0" name="Research icon" descr="Resear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700" y="1668780"/>
            <a:ext cx="411480" cy="411480"/>
          </a:xfrm>
          <a:prstGeom prst="rect">
            <a:avLst/>
          </a:prstGeom>
        </p:spPr>
      </p:pic>
      <p:sp>
        <p:nvSpPr>
          <p:cNvPr id="11" name="Use case title 2"/>
          <p:cNvSpPr txBox="1"/>
          <p:nvPr/>
        </p:nvSpPr>
        <p:spPr>
          <a:xfrm>
            <a:off x="2697480" y="2468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Research</a:t>
            </a:r>
            <a:endParaRPr lang="en-US" sz="1600" dirty="0"/>
          </a:p>
        </p:txBody>
      </p:sp>
      <p:sp>
        <p:nvSpPr>
          <p:cNvPr id="12" name="Use case desc 2"/>
          <p:cNvSpPr txBox="1"/>
          <p:nvPr/>
        </p:nvSpPr>
        <p:spPr>
          <a:xfrm>
            <a:off x="2697480" y="3063240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Web search, source tracking, citations, chunking</a:t>
            </a:r>
            <a:endParaRPr lang="en-US" sz="1300" dirty="0"/>
          </a:p>
        </p:txBody>
      </p:sp>
      <p:sp>
        <p:nvSpPr>
          <p:cNvPr id="13" name="Use case card 3"/>
          <p:cNvSpPr/>
          <p:nvPr/>
        </p:nvSpPr>
        <p:spPr>
          <a:xfrm>
            <a:off x="4663440" y="1234440"/>
            <a:ext cx="1920240" cy="320040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Data analysis circle"/>
          <p:cNvSpPr/>
          <p:nvPr/>
        </p:nvSpPr>
        <p:spPr>
          <a:xfrm>
            <a:off x="5212080" y="146304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Data analysis icon" descr="Data analysi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820" y="1668780"/>
            <a:ext cx="411480" cy="411480"/>
          </a:xfrm>
          <a:prstGeom prst="rect">
            <a:avLst/>
          </a:prstGeom>
        </p:spPr>
      </p:pic>
      <p:sp>
        <p:nvSpPr>
          <p:cNvPr id="16" name="Use case title 3"/>
          <p:cNvSpPr txBox="1"/>
          <p:nvPr/>
        </p:nvSpPr>
        <p:spPr>
          <a:xfrm>
            <a:off x="4800600" y="2468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Data analysis</a:t>
            </a:r>
            <a:endParaRPr lang="en-US" sz="1600" dirty="0"/>
          </a:p>
        </p:txBody>
      </p:sp>
      <p:sp>
        <p:nvSpPr>
          <p:cNvPr id="17" name="Use case desc 3"/>
          <p:cNvSpPr txBox="1"/>
          <p:nvPr/>
        </p:nvSpPr>
        <p:spPr>
          <a:xfrm>
            <a:off x="4800600" y="3063240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SQL, Python, schema context, prod-data limits</a:t>
            </a:r>
            <a:endParaRPr lang="en-US" sz="1300" dirty="0"/>
          </a:p>
        </p:txBody>
      </p:sp>
      <p:sp>
        <p:nvSpPr>
          <p:cNvPr id="18" name="Use case card 4"/>
          <p:cNvSpPr/>
          <p:nvPr/>
        </p:nvSpPr>
        <p:spPr>
          <a:xfrm>
            <a:off x="6766560" y="1234440"/>
            <a:ext cx="1920240" cy="320040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Enterprise workflow circle"/>
          <p:cNvSpPr/>
          <p:nvPr/>
        </p:nvSpPr>
        <p:spPr>
          <a:xfrm>
            <a:off x="7315200" y="1463040"/>
            <a:ext cx="822960" cy="8229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Enterprise workflow icon" descr="Enterprise workflow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0940" y="1668780"/>
            <a:ext cx="411480" cy="411480"/>
          </a:xfrm>
          <a:prstGeom prst="rect">
            <a:avLst/>
          </a:prstGeom>
        </p:spPr>
      </p:pic>
      <p:sp>
        <p:nvSpPr>
          <p:cNvPr id="21" name="Use case title 4"/>
          <p:cNvSpPr txBox="1"/>
          <p:nvPr/>
        </p:nvSpPr>
        <p:spPr>
          <a:xfrm>
            <a:off x="6903720" y="2468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Enterprise workflow</a:t>
            </a:r>
            <a:endParaRPr lang="en-US" sz="1600" dirty="0"/>
          </a:p>
        </p:txBody>
      </p:sp>
      <p:sp>
        <p:nvSpPr>
          <p:cNvPr id="22" name="Use case desc 4"/>
          <p:cNvSpPr txBox="1"/>
          <p:nvPr/>
        </p:nvSpPr>
        <p:spPr>
          <a:xfrm>
            <a:off x="6903720" y="3063240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Auth, audit logs, approvals, RBAC, internal systems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2026 harness toolkit</a:t>
            </a:r>
            <a:endParaRPr lang="en-US" sz="3000" dirty="0"/>
          </a:p>
        </p:txBody>
      </p:sp>
      <p:graphicFrame>
        <p:nvGraphicFramePr>
          <p:cNvPr id="11" name="Toolki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03504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Tool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Highlights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LangChain Deep Agents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Open source on LangGraph; planning, virtual filesystem, subagents, compaction; model-agnostic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Anthropic Agent SDK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Extracted from Claude Code; agent loop, bash, files, web search, MCP; Claude models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OpenAI Agents SDK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Moved into harness territory (Apr 2026); sandbox, memory compaction, handoffs, guardrails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Google ADK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Sequential/parallel/loop multi-agent; evaluation; Vertex AI; Python, Java, TS, Go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Microsoft Agent Framework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Successor path for AutoGen; Python/.NET; Azure AI and MCP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CrewAI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Role-based crews configured declaratively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Temporal / Inngest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Durable execution for tasks lasting hours or days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Most production failures are harness failures</a:t>
            </a:r>
            <a:endParaRPr lang="en-US" sz="3000" dirty="0"/>
          </a:p>
        </p:txBody>
      </p:sp>
      <p:sp>
        <p:nvSpPr>
          <p:cNvPr id="3" name="Context rot circle"/>
          <p:cNvSpPr/>
          <p:nvPr/>
        </p:nvSpPr>
        <p:spPr>
          <a:xfrm>
            <a:off x="457200" y="123444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" name="Context rot icon" descr="Context r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348740"/>
            <a:ext cx="228600" cy="228600"/>
          </a:xfrm>
          <a:prstGeom prst="rect">
            <a:avLst/>
          </a:prstGeom>
        </p:spPr>
      </p:pic>
      <p:sp>
        <p:nvSpPr>
          <p:cNvPr id="5" name="Failure title 1"/>
          <p:cNvSpPr txBox="1"/>
          <p:nvPr/>
        </p:nvSpPr>
        <p:spPr>
          <a:xfrm>
            <a:off x="1051560" y="1188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Context rot</a:t>
            </a:r>
            <a:endParaRPr lang="en-US" sz="1500" dirty="0"/>
          </a:p>
        </p:txBody>
      </p:sp>
      <p:sp>
        <p:nvSpPr>
          <p:cNvPr id="6" name="Failure desc 1"/>
          <p:cNvSpPr txBox="1"/>
          <p:nvPr/>
        </p:nvSpPr>
        <p:spPr>
          <a:xfrm>
            <a:off x="1051560" y="14813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Long sessions degrade reasoning without trimming</a:t>
            </a:r>
            <a:endParaRPr lang="en-US" sz="1300" dirty="0"/>
          </a:p>
        </p:txBody>
      </p:sp>
      <p:sp>
        <p:nvSpPr>
          <p:cNvPr id="7" name="Tool overload circle"/>
          <p:cNvSpPr/>
          <p:nvPr/>
        </p:nvSpPr>
        <p:spPr>
          <a:xfrm>
            <a:off x="457200" y="207568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8" name="Tool overload icon" descr="Tool overloa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189988"/>
            <a:ext cx="228600" cy="228600"/>
          </a:xfrm>
          <a:prstGeom prst="rect">
            <a:avLst/>
          </a:prstGeom>
        </p:spPr>
      </p:pic>
      <p:sp>
        <p:nvSpPr>
          <p:cNvPr id="9" name="Failure title 2"/>
          <p:cNvSpPr txBox="1"/>
          <p:nvPr/>
        </p:nvSpPr>
        <p:spPr>
          <a:xfrm>
            <a:off x="1051560" y="20299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Tool overload</a:t>
            </a:r>
            <a:endParaRPr lang="en-US" sz="1500" dirty="0"/>
          </a:p>
        </p:txBody>
      </p:sp>
      <p:sp>
        <p:nvSpPr>
          <p:cNvPr id="10" name="Failure desc 2"/>
          <p:cNvSpPr txBox="1"/>
          <p:nvPr/>
        </p:nvSpPr>
        <p:spPr>
          <a:xfrm>
            <a:off x="1051560" y="232257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Too many tools add confusion and latency</a:t>
            </a:r>
            <a:endParaRPr lang="en-US" sz="1300" dirty="0"/>
          </a:p>
        </p:txBody>
      </p:sp>
      <p:sp>
        <p:nvSpPr>
          <p:cNvPr id="11" name="Brittle tool wiring circle"/>
          <p:cNvSpPr/>
          <p:nvPr/>
        </p:nvSpPr>
        <p:spPr>
          <a:xfrm>
            <a:off x="457200" y="2916936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2" name="Brittle tool wiring icon" descr="Brittle tool wir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031236"/>
            <a:ext cx="228600" cy="228600"/>
          </a:xfrm>
          <a:prstGeom prst="rect">
            <a:avLst/>
          </a:prstGeom>
        </p:spPr>
      </p:pic>
      <p:sp>
        <p:nvSpPr>
          <p:cNvPr id="13" name="Failure title 3"/>
          <p:cNvSpPr txBox="1"/>
          <p:nvPr/>
        </p:nvSpPr>
        <p:spPr>
          <a:xfrm>
            <a:off x="1051560" y="28712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Brittle tool wiring</a:t>
            </a:r>
            <a:endParaRPr lang="en-US" sz="1500" dirty="0"/>
          </a:p>
        </p:txBody>
      </p:sp>
      <p:sp>
        <p:nvSpPr>
          <p:cNvPr id="14" name="Failure desc 3"/>
          <p:cNvSpPr txBox="1"/>
          <p:nvPr/>
        </p:nvSpPr>
        <p:spPr>
          <a:xfrm>
            <a:off x="1051560" y="316382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Small descriptor changes break tools</a:t>
            </a:r>
            <a:endParaRPr lang="en-US" sz="1300" dirty="0"/>
          </a:p>
        </p:txBody>
      </p:sp>
      <p:sp>
        <p:nvSpPr>
          <p:cNvPr id="15" name="Latency circle"/>
          <p:cNvSpPr/>
          <p:nvPr/>
        </p:nvSpPr>
        <p:spPr>
          <a:xfrm>
            <a:off x="457200" y="3758184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Latency icon" descr="Latenc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72484"/>
            <a:ext cx="228600" cy="228600"/>
          </a:xfrm>
          <a:prstGeom prst="rect">
            <a:avLst/>
          </a:prstGeom>
        </p:spPr>
      </p:pic>
      <p:sp>
        <p:nvSpPr>
          <p:cNvPr id="17" name="Failure title 4"/>
          <p:cNvSpPr txBox="1"/>
          <p:nvPr/>
        </p:nvSpPr>
        <p:spPr>
          <a:xfrm>
            <a:off x="1051560" y="37124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Latency</a:t>
            </a:r>
            <a:endParaRPr lang="en-US" sz="1500" dirty="0"/>
          </a:p>
        </p:txBody>
      </p:sp>
      <p:sp>
        <p:nvSpPr>
          <p:cNvPr id="18" name="Failure desc 4"/>
          <p:cNvSpPr txBox="1"/>
          <p:nvPr/>
        </p:nvSpPr>
        <p:spPr>
          <a:xfrm>
            <a:off x="1051560" y="40050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Many tool calls exceed acceptable response times</a:t>
            </a:r>
            <a:endParaRPr lang="en-US" sz="1300" dirty="0"/>
          </a:p>
        </p:txBody>
      </p:sp>
      <p:sp>
        <p:nvSpPr>
          <p:cNvPr id="19" name="Irrelevant retrieval circle"/>
          <p:cNvSpPr/>
          <p:nvPr/>
        </p:nvSpPr>
        <p:spPr>
          <a:xfrm>
            <a:off x="4663440" y="123444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Irrelevant retrieval icon" descr="Irrelevant retrieva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7740" y="1348740"/>
            <a:ext cx="228600" cy="228600"/>
          </a:xfrm>
          <a:prstGeom prst="rect">
            <a:avLst/>
          </a:prstGeom>
        </p:spPr>
      </p:pic>
      <p:sp>
        <p:nvSpPr>
          <p:cNvPr id="21" name="Failure title 5"/>
          <p:cNvSpPr txBox="1"/>
          <p:nvPr/>
        </p:nvSpPr>
        <p:spPr>
          <a:xfrm>
            <a:off x="5257800" y="1188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Irrelevant retrieval</a:t>
            </a:r>
            <a:endParaRPr lang="en-US" sz="1500" dirty="0"/>
          </a:p>
        </p:txBody>
      </p:sp>
      <p:sp>
        <p:nvSpPr>
          <p:cNvPr id="22" name="Failure desc 5"/>
          <p:cNvSpPr txBox="1"/>
          <p:nvPr/>
        </p:nvSpPr>
        <p:spPr>
          <a:xfrm>
            <a:off x="5257800" y="14813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Wrong memories fuel confident hallucinations</a:t>
            </a:r>
            <a:endParaRPr lang="en-US" sz="1300" dirty="0"/>
          </a:p>
        </p:txBody>
      </p:sp>
      <p:sp>
        <p:nvSpPr>
          <p:cNvPr id="23" name="Weak verification circle"/>
          <p:cNvSpPr/>
          <p:nvPr/>
        </p:nvSpPr>
        <p:spPr>
          <a:xfrm>
            <a:off x="4663440" y="207568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4" name="Weak verification icon" descr="Weak verificati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7740" y="2189988"/>
            <a:ext cx="228600" cy="228600"/>
          </a:xfrm>
          <a:prstGeom prst="rect">
            <a:avLst/>
          </a:prstGeom>
        </p:spPr>
      </p:pic>
      <p:sp>
        <p:nvSpPr>
          <p:cNvPr id="25" name="Failure title 6"/>
          <p:cNvSpPr txBox="1"/>
          <p:nvPr/>
        </p:nvSpPr>
        <p:spPr>
          <a:xfrm>
            <a:off x="5257800" y="20299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Weak verification</a:t>
            </a:r>
            <a:endParaRPr lang="en-US" sz="1500" dirty="0"/>
          </a:p>
        </p:txBody>
      </p:sp>
      <p:sp>
        <p:nvSpPr>
          <p:cNvPr id="26" name="Failure desc 6"/>
          <p:cNvSpPr txBox="1"/>
          <p:nvPr/>
        </p:nvSpPr>
        <p:spPr>
          <a:xfrm>
            <a:off x="5257800" y="232257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No test loop lets incomplete work through</a:t>
            </a:r>
            <a:endParaRPr lang="en-US" sz="1300" dirty="0"/>
          </a:p>
        </p:txBody>
      </p:sp>
      <p:sp>
        <p:nvSpPr>
          <p:cNvPr id="27" name="Missing guardrails circle"/>
          <p:cNvSpPr/>
          <p:nvPr/>
        </p:nvSpPr>
        <p:spPr>
          <a:xfrm>
            <a:off x="4663440" y="2916936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8" name="Missing guardrails icon" descr="Missing guardrail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7740" y="3031236"/>
            <a:ext cx="228600" cy="228600"/>
          </a:xfrm>
          <a:prstGeom prst="rect">
            <a:avLst/>
          </a:prstGeom>
        </p:spPr>
      </p:pic>
      <p:sp>
        <p:nvSpPr>
          <p:cNvPr id="29" name="Failure title 7"/>
          <p:cNvSpPr txBox="1"/>
          <p:nvPr/>
        </p:nvSpPr>
        <p:spPr>
          <a:xfrm>
            <a:off x="5257800" y="28712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Missing guardrails</a:t>
            </a:r>
            <a:endParaRPr lang="en-US" sz="1500" dirty="0"/>
          </a:p>
        </p:txBody>
      </p:sp>
      <p:sp>
        <p:nvSpPr>
          <p:cNvPr id="30" name="Failure desc 7"/>
          <p:cNvSpPr txBox="1"/>
          <p:nvPr/>
        </p:nvSpPr>
        <p:spPr>
          <a:xfrm>
            <a:off x="5257800" y="316382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Deletes, emails, purchases go unchecked</a:t>
            </a:r>
            <a:endParaRPr lang="en-US" sz="1300" dirty="0"/>
          </a:p>
        </p:txBody>
      </p:sp>
      <p:sp>
        <p:nvSpPr>
          <p:cNvPr id="31" name="Debug tip card"/>
          <p:cNvSpPr/>
          <p:nvPr/>
        </p:nvSpPr>
        <p:spPr>
          <a:xfrm>
            <a:off x="4663440" y="3721608"/>
            <a:ext cx="402336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2" name="Debug tip"/>
          <p:cNvSpPr txBox="1"/>
          <p:nvPr/>
        </p:nvSpPr>
        <p:spPr>
          <a:xfrm>
            <a:off x="4800600" y="376732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bg1"/>
                </a:solidFill>
              </a:rPr>
              <a:t>Models don’t know they’re in a harness — debugging an agent means debugging the harness.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Do you actually need a harness?</a:t>
            </a:r>
            <a:endParaRPr lang="en-US" sz="3000" dirty="0"/>
          </a:p>
        </p:txBody>
      </p:sp>
      <p:sp>
        <p:nvSpPr>
          <p:cNvPr id="3" name="Yes card"/>
          <p:cNvSpPr/>
          <p:nvPr/>
        </p:nvSpPr>
        <p:spPr>
          <a:xfrm>
            <a:off x="457200" y="1188720"/>
            <a:ext cx="3977640" cy="283464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No card"/>
          <p:cNvSpPr/>
          <p:nvPr/>
        </p:nvSpPr>
        <p:spPr>
          <a:xfrm>
            <a:off x="4709160" y="1188720"/>
            <a:ext cx="3977640" cy="283464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eed one circle"/>
          <p:cNvSpPr/>
          <p:nvPr/>
        </p:nvSpPr>
        <p:spPr>
          <a:xfrm>
            <a:off x="640080" y="13258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Need one icon" descr="Need 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440180"/>
            <a:ext cx="228600" cy="228600"/>
          </a:xfrm>
          <a:prstGeom prst="rect">
            <a:avLst/>
          </a:prstGeom>
        </p:spPr>
      </p:pic>
      <p:sp>
        <p:nvSpPr>
          <p:cNvPr id="7" name="Skip it circle"/>
          <p:cNvSpPr/>
          <p:nvPr/>
        </p:nvSpPr>
        <p:spPr>
          <a:xfrm>
            <a:off x="4892040" y="132588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8" name="Skip it icon" descr="Skip 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340" y="1440180"/>
            <a:ext cx="228600" cy="228600"/>
          </a:xfrm>
          <a:prstGeom prst="rect">
            <a:avLst/>
          </a:prstGeom>
        </p:spPr>
      </p:pic>
      <p:sp>
        <p:nvSpPr>
          <p:cNvPr id="9" name="Yes heading"/>
          <p:cNvSpPr txBox="1"/>
          <p:nvPr/>
        </p:nvSpPr>
        <p:spPr>
          <a:xfrm>
            <a:off x="1234440" y="1371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You likely need one if it…</a:t>
            </a:r>
            <a:endParaRPr lang="en-US" sz="1600" dirty="0"/>
          </a:p>
        </p:txBody>
      </p:sp>
      <p:sp>
        <p:nvSpPr>
          <p:cNvPr id="10" name="No heading"/>
          <p:cNvSpPr txBox="1"/>
          <p:nvPr/>
        </p:nvSpPr>
        <p:spPr>
          <a:xfrm>
            <a:off x="5486400" y="1371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You likely don’t if…</a:t>
            </a:r>
            <a:endParaRPr lang="en-US" sz="1600" dirty="0"/>
          </a:p>
        </p:txBody>
      </p:sp>
      <p:sp>
        <p:nvSpPr>
          <p:cNvPr id="11" name="Yes list"/>
          <p:cNvSpPr txBox="1"/>
          <p:nvPr/>
        </p:nvSpPr>
        <p:spPr>
          <a:xfrm>
            <a:off x="685800" y="1920240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Uses external tools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Remembers progress across sessions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Runs code in real environments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Coordinates multiple agents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Recovers from partial failures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Needs human approval steps</a:t>
            </a:r>
            <a:endParaRPr lang="en-US" sz="1400" dirty="0"/>
          </a:p>
        </p:txBody>
      </p:sp>
      <p:sp>
        <p:nvSpPr>
          <p:cNvPr id="12" name="No list"/>
          <p:cNvSpPr txBox="1"/>
          <p:nvPr/>
        </p:nvSpPr>
        <p:spPr>
          <a:xfrm>
            <a:off x="4937760" y="1920240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Predictable, predetermined steps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One model call is enough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A small deterministic script does the job</a:t>
            </a:r>
            <a:endParaRPr lang="en-US" sz="1400" dirty="0"/>
          </a:p>
        </p:txBody>
      </p:sp>
      <p:sp>
        <p:nvSpPr>
          <p:cNvPr id="13" name="Timing note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Teams often reach for a harness too early (one-shot tasks) or too late (shipping raw models, then finding the gaps).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Where harnesses are heading</a:t>
            </a:r>
            <a:endParaRPr lang="en-US" sz="3000" dirty="0"/>
          </a:p>
        </p:txBody>
      </p:sp>
      <p:sp>
        <p:nvSpPr>
          <p:cNvPr id="3" name="Future card 1"/>
          <p:cNvSpPr/>
          <p:nvPr/>
        </p:nvSpPr>
        <p:spPr>
          <a:xfrm>
            <a:off x="457200" y="1188720"/>
            <a:ext cx="40233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red enterprise platforms circle"/>
          <p:cNvSpPr/>
          <p:nvPr/>
        </p:nvSpPr>
        <p:spPr>
          <a:xfrm>
            <a:off x="640080" y="13716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Shared enterprise platforms icon" descr="Shared enterprise platform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274320" cy="274320"/>
          </a:xfrm>
          <a:prstGeom prst="rect">
            <a:avLst/>
          </a:prstGeom>
        </p:spPr>
      </p:pic>
      <p:sp>
        <p:nvSpPr>
          <p:cNvPr id="6" name="Future title 1"/>
          <p:cNvSpPr txBox="1"/>
          <p:nvPr/>
        </p:nvSpPr>
        <p:spPr>
          <a:xfrm>
            <a:off x="1325880" y="14173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Shared enterprise platforms</a:t>
            </a:r>
            <a:endParaRPr lang="en-US" sz="1600" dirty="0"/>
          </a:p>
        </p:txBody>
      </p:sp>
      <p:sp>
        <p:nvSpPr>
          <p:cNvPr id="7" name="Future desc 1"/>
          <p:cNvSpPr txBox="1"/>
          <p:nvPr/>
        </p:nvSpPr>
        <p:spPr>
          <a:xfrm>
            <a:off x="1325880" y="18745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Central governance, evaluation and audit to tame “agent sprawl” across many teams (e.g., Databricks Agent Bricks).</a:t>
            </a:r>
            <a:endParaRPr lang="en-US" sz="1300" dirty="0"/>
          </a:p>
        </p:txBody>
      </p:sp>
      <p:sp>
        <p:nvSpPr>
          <p:cNvPr id="8" name="Future card 2"/>
          <p:cNvSpPr/>
          <p:nvPr/>
        </p:nvSpPr>
        <p:spPr>
          <a:xfrm>
            <a:off x="4663440" y="1188720"/>
            <a:ext cx="40233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Disposable harnesses circle"/>
          <p:cNvSpPr/>
          <p:nvPr/>
        </p:nvSpPr>
        <p:spPr>
          <a:xfrm>
            <a:off x="4846320" y="1371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Disposable harnesses icon" descr="Disposable harness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508760"/>
            <a:ext cx="274320" cy="274320"/>
          </a:xfrm>
          <a:prstGeom prst="rect">
            <a:avLst/>
          </a:prstGeom>
        </p:spPr>
      </p:pic>
      <p:sp>
        <p:nvSpPr>
          <p:cNvPr id="11" name="Future title 2"/>
          <p:cNvSpPr txBox="1"/>
          <p:nvPr/>
        </p:nvSpPr>
        <p:spPr>
          <a:xfrm>
            <a:off x="5532120" y="14173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Disposable harnesses</a:t>
            </a:r>
            <a:endParaRPr lang="en-US" sz="1600" dirty="0"/>
          </a:p>
        </p:txBody>
      </p:sp>
      <p:sp>
        <p:nvSpPr>
          <p:cNvPr id="12" name="Future desc 2"/>
          <p:cNvSpPr txBox="1"/>
          <p:nvPr/>
        </p:nvSpPr>
        <p:spPr>
          <a:xfrm>
            <a:off x="5532120" y="18745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Lightweight, task-specific harnesses built for one workflow and thrown away as infra gets cheaper.</a:t>
            </a:r>
            <a:endParaRPr lang="en-US" sz="1300" dirty="0"/>
          </a:p>
        </p:txBody>
      </p:sp>
      <p:sp>
        <p:nvSpPr>
          <p:cNvPr id="13" name="Future card 3"/>
          <p:cNvSpPr/>
          <p:nvPr/>
        </p:nvSpPr>
        <p:spPr>
          <a:xfrm>
            <a:off x="457200" y="2880360"/>
            <a:ext cx="40233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Natural-language harnesses circle"/>
          <p:cNvSpPr/>
          <p:nvPr/>
        </p:nvSpPr>
        <p:spPr>
          <a:xfrm>
            <a:off x="640080" y="306324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5" name="Natural-language harnesses icon" descr="Natural-language harness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00400"/>
            <a:ext cx="274320" cy="274320"/>
          </a:xfrm>
          <a:prstGeom prst="rect">
            <a:avLst/>
          </a:prstGeom>
        </p:spPr>
      </p:pic>
      <p:sp>
        <p:nvSpPr>
          <p:cNvPr id="16" name="Future title 3"/>
          <p:cNvSpPr txBox="1"/>
          <p:nvPr/>
        </p:nvSpPr>
        <p:spPr>
          <a:xfrm>
            <a:off x="1325880" y="31089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Natural-language harnesses</a:t>
            </a:r>
            <a:endParaRPr lang="en-US" sz="1600" dirty="0"/>
          </a:p>
        </p:txBody>
      </p:sp>
      <p:sp>
        <p:nvSpPr>
          <p:cNvPr id="17" name="Future desc 3"/>
          <p:cNvSpPr txBox="1"/>
          <p:nvPr/>
        </p:nvSpPr>
        <p:spPr>
          <a:xfrm>
            <a:off x="1325880" y="35661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Plain-language instructions replace code config, so more teams can build and modify them.</a:t>
            </a:r>
            <a:endParaRPr lang="en-US" sz="1300" dirty="0"/>
          </a:p>
        </p:txBody>
      </p:sp>
      <p:sp>
        <p:nvSpPr>
          <p:cNvPr id="18" name="Future card 4"/>
          <p:cNvSpPr/>
          <p:nvPr/>
        </p:nvSpPr>
        <p:spPr>
          <a:xfrm>
            <a:off x="4663440" y="2880360"/>
            <a:ext cx="40233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Models absorb more circle"/>
          <p:cNvSpPr/>
          <p:nvPr/>
        </p:nvSpPr>
        <p:spPr>
          <a:xfrm>
            <a:off x="4846320" y="306324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Models absorb more icon" descr="Models absorb mor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200400"/>
            <a:ext cx="274320" cy="274320"/>
          </a:xfrm>
          <a:prstGeom prst="rect">
            <a:avLst/>
          </a:prstGeom>
        </p:spPr>
      </p:pic>
      <p:sp>
        <p:nvSpPr>
          <p:cNvPr id="21" name="Future title 4"/>
          <p:cNvSpPr txBox="1"/>
          <p:nvPr/>
        </p:nvSpPr>
        <p:spPr>
          <a:xfrm>
            <a:off x="5532120" y="31089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Models absorb more</a:t>
            </a:r>
            <a:endParaRPr lang="en-US" sz="1600" dirty="0"/>
          </a:p>
        </p:txBody>
      </p:sp>
      <p:sp>
        <p:nvSpPr>
          <p:cNvPr id="22" name="Future desc 4"/>
          <p:cNvSpPr txBox="1"/>
          <p:nvPr/>
        </p:nvSpPr>
        <p:spPr>
          <a:xfrm>
            <a:off x="5532120" y="35661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Models will take on some harness functions natively, but the layer is expected to persist.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The model contains the intelligence. The harness turns it into reliable work.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71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Invest engineering effort in the harness, not just model selection</a:t>
            </a:r>
            <a:endParaRPr lang="en-US" sz="1800" dirty="0"/>
          </a:p>
        </p:txBody>
      </p:sp>
      <p:sp>
        <p:nvSpPr>
          <p:cNvPr id="4" name="Sources"/>
          <p:cNvSpPr txBox="1"/>
          <p:nvPr/>
        </p:nvSpPr>
        <p:spPr>
          <a:xfrm>
            <a:off x="548640" y="4160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chemeClr val="bg2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Sources: datacamp.com/blog/agent-harness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chemeClr val="bg2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databricks.com/blog/ai-harness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gent Harness">
  <a:themeElements>
    <a:clrScheme name="Agent Harness">
      <a:dk1>
        <a:srgbClr val="16202A"/>
      </a:dk1>
      <a:lt1>
        <a:srgbClr val="FFFFFF"/>
      </a:lt1>
      <a:dk2>
        <a:srgbClr val="2B3A4A"/>
      </a:dk2>
      <a:lt2>
        <a:srgbClr val="F1F4F6"/>
      </a:lt2>
      <a:accent1>
        <a:srgbClr val="E8A33D"/>
      </a:accent1>
      <a:accent2>
        <a:srgbClr val="2A9D8F"/>
      </a:accent2>
      <a:accent3>
        <a:srgbClr val="C8553D"/>
      </a:accent3>
      <a:accent4>
        <a:srgbClr val="5B7C99"/>
      </a:accent4>
      <a:accent5>
        <a:srgbClr val="8AB17D"/>
      </a:accent5>
      <a:accent6>
        <a:srgbClr val="7A6C9E"/>
      </a:accent6>
      <a:hlink>
        <a:srgbClr val="2A9D8F"/>
      </a:hlink>
      <a:folHlink>
        <a:srgbClr val="5B7C99"/>
      </a:folHlink>
    </a:clrScheme>
    <a:fontScheme name="Agent Harnes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Harness: Turning Models into Reliable Agents</dc:title>
  <dc:subject>PptxGenJS Presentation</dc:subject>
  <dc:creator>Harish</dc:creator>
  <cp:lastModifiedBy>Harish</cp:lastModifiedBy>
  <cp:revision>1</cp:revision>
  <dcterms:created xsi:type="dcterms:W3CDTF">2026-10-07T01:15:36Z</dcterms:created>
  <dcterms:modified xsi:type="dcterms:W3CDTF">2026-10-07T01:15:36Z</dcterms:modified>
</cp:coreProperties>
</file>