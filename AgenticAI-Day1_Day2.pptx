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257" r:id="rId2"/>
    <p:sldId id="320" r:id="rId3"/>
    <p:sldId id="348" r:id="rId4"/>
    <p:sldId id="349" r:id="rId5"/>
    <p:sldId id="350" r:id="rId6"/>
    <p:sldId id="351" r:id="rId7"/>
    <p:sldId id="352" r:id="rId8"/>
    <p:sldId id="309" r:id="rId9"/>
    <p:sldId id="311" r:id="rId10"/>
    <p:sldId id="312" r:id="rId11"/>
    <p:sldId id="258" r:id="rId12"/>
    <p:sldId id="314" r:id="rId13"/>
    <p:sldId id="339" r:id="rId14"/>
    <p:sldId id="321" r:id="rId15"/>
    <p:sldId id="322" r:id="rId16"/>
    <p:sldId id="336" r:id="rId17"/>
    <p:sldId id="337" r:id="rId18"/>
    <p:sldId id="347" r:id="rId19"/>
    <p:sldId id="317" r:id="rId20"/>
    <p:sldId id="318" r:id="rId21"/>
    <p:sldId id="323" r:id="rId22"/>
    <p:sldId id="324" r:id="rId23"/>
    <p:sldId id="338" r:id="rId24"/>
    <p:sldId id="325" r:id="rId25"/>
    <p:sldId id="326" r:id="rId26"/>
    <p:sldId id="327" r:id="rId27"/>
    <p:sldId id="340" r:id="rId28"/>
    <p:sldId id="342" r:id="rId29"/>
    <p:sldId id="343" r:id="rId30"/>
    <p:sldId id="344" r:id="rId31"/>
    <p:sldId id="346" r:id="rId32"/>
    <p:sldId id="319" r:id="rId33"/>
    <p:sldId id="259" r:id="rId34"/>
    <p:sldId id="260" r:id="rId35"/>
    <p:sldId id="261" r:id="rId36"/>
    <p:sldId id="262" r:id="rId37"/>
    <p:sldId id="263" r:id="rId38"/>
    <p:sldId id="264" r:id="rId39"/>
    <p:sldId id="334" r:id="rId40"/>
    <p:sldId id="265" r:id="rId41"/>
    <p:sldId id="266" r:id="rId42"/>
    <p:sldId id="267" r:id="rId43"/>
    <p:sldId id="268" r:id="rId44"/>
    <p:sldId id="269" r:id="rId45"/>
    <p:sldId id="270" r:id="rId46"/>
    <p:sldId id="271" r:id="rId47"/>
    <p:sldId id="272" r:id="rId48"/>
    <p:sldId id="293" r:id="rId49"/>
    <p:sldId id="294" r:id="rId50"/>
    <p:sldId id="295" r:id="rId51"/>
    <p:sldId id="335" r:id="rId5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60"/>
  </p:normalViewPr>
  <p:slideViewPr>
    <p:cSldViewPr>
      <p:cViewPr varScale="1">
        <p:scale>
          <a:sx n="83" d="100"/>
          <a:sy n="83" d="100"/>
        </p:scale>
        <p:origin x="390"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E1CC8B0-A0D2-4D8D-BF6B-DAD574D2B889}" type="datetimeFigureOut">
              <a:rPr lang="en-US" smtClean="0"/>
              <a:pPr/>
              <a:t>5/11/2026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D0492FF-2A8C-436C-8264-82E1BAAAAC1E}" type="slidenum">
              <a:rPr lang="en-US" smtClean="0"/>
              <a:pPr/>
              <a:t>‹#›</a:t>
            </a:fld>
            <a:endParaRPr lang="en-US"/>
          </a:p>
        </p:txBody>
      </p:sp>
    </p:spTree>
    <p:extLst>
      <p:ext uri="{BB962C8B-B14F-4D97-AF65-F5344CB8AC3E}">
        <p14:creationId xmlns:p14="http://schemas.microsoft.com/office/powerpoint/2010/main" val="4266626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274884544_1_2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2d274884544_1_2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it's a type of AI that enables machines to generate new, original content. This can be anything from text to images to music, and it's all made possible by machine learning algorithms and large datasets</a:t>
            </a:r>
            <a:endParaRPr/>
          </a:p>
        </p:txBody>
      </p:sp>
      <p:sp>
        <p:nvSpPr>
          <p:cNvPr id="112" name="Google Shape;112;g2d274884544_1_2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8</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d274884544_1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2d274884544_1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From generating human-like text to creating new images and music, the possibilities are endless. Each type of GenAI has its own unique applications and use cases.</a:t>
            </a:r>
            <a:endParaRPr/>
          </a:p>
        </p:txBody>
      </p:sp>
      <p:sp>
        <p:nvSpPr>
          <p:cNvPr id="140" name="Google Shape;140;g2d274884544_1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9</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1022" y="322580"/>
            <a:ext cx="7619365" cy="575310"/>
          </a:xfrm>
          <a:prstGeom prst="rect">
            <a:avLst/>
          </a:prstGeom>
        </p:spPr>
        <p:txBody>
          <a:bodyPr wrap="square" lIns="0" tIns="0" rIns="0" bIns="0">
            <a:spAutoFit/>
          </a:bodyPr>
          <a:lstStyle>
            <a:lvl1pPr>
              <a:defRPr sz="3600" b="0" i="0">
                <a:solidFill>
                  <a:srgbClr val="002384"/>
                </a:solidFill>
                <a:latin typeface="Arial MT"/>
                <a:cs typeface="Arial M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800" b="0"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2384"/>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1800" b="0" i="0">
                <a:solidFill>
                  <a:schemeClr val="bg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2384"/>
                </a:solidFill>
                <a:latin typeface="Arial MT"/>
                <a:cs typeface="Arial MT"/>
              </a:defRPr>
            </a:lvl1pPr>
          </a:lstStyle>
          <a:p>
            <a:endParaRPr/>
          </a:p>
        </p:txBody>
      </p:sp>
      <p:sp>
        <p:nvSpPr>
          <p:cNvPr id="3" name="Holder 3"/>
          <p:cNvSpPr>
            <a:spLocks noGrp="1"/>
          </p:cNvSpPr>
          <p:nvPr>
            <p:ph sz="half" idx="2"/>
          </p:nvPr>
        </p:nvSpPr>
        <p:spPr>
          <a:xfrm>
            <a:off x="522922" y="1318831"/>
            <a:ext cx="3748404" cy="4154170"/>
          </a:xfrm>
          <a:prstGeom prst="rect">
            <a:avLst/>
          </a:prstGeom>
        </p:spPr>
        <p:txBody>
          <a:bodyPr wrap="square" lIns="0" tIns="0" rIns="0" bIns="0">
            <a:spAutoFit/>
          </a:bodyPr>
          <a:lstStyle>
            <a:lvl1pPr>
              <a:defRPr sz="1800" b="0" i="0">
                <a:solidFill>
                  <a:schemeClr val="bg1"/>
                </a:solidFill>
                <a:latin typeface="Calibri"/>
                <a:cs typeface="Calibri"/>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002384"/>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21"/>
        <p:cNvGrpSpPr/>
        <p:nvPr/>
      </p:nvGrpSpPr>
      <p:grpSpPr>
        <a:xfrm>
          <a:off x="0" y="0"/>
          <a:ext cx="0" cy="0"/>
          <a:chOff x="0" y="0"/>
          <a:chExt cx="0" cy="0"/>
        </a:xfrm>
      </p:grpSpPr>
      <p:sp>
        <p:nvSpPr>
          <p:cNvPr id="22" name="Google Shape;22;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4180053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cstate="print"/>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pic>
        <p:nvPicPr>
          <p:cNvPr id="4" name="Image 1" descr="preencoded.png">
            <a:hlinkClick r:id="rId3"/>
          </p:cNvPr>
          <p:cNvPicPr>
            <a:picLocks noChangeAspect="1"/>
          </p:cNvPicPr>
          <p:nvPr/>
        </p:nvPicPr>
        <p:blipFill>
          <a:blip r:embed="rId4" cstate="print"/>
          <a:stretch>
            <a:fillRect/>
          </a:stretch>
        </p:blipFill>
        <p:spPr>
          <a:xfrm>
            <a:off x="10699346" y="6457950"/>
            <a:ext cx="1435504" cy="3429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5132" y="147574"/>
            <a:ext cx="11341735" cy="1118870"/>
          </a:xfrm>
          <a:prstGeom prst="rect">
            <a:avLst/>
          </a:prstGeom>
        </p:spPr>
        <p:txBody>
          <a:bodyPr wrap="square" lIns="0" tIns="0" rIns="0" bIns="0">
            <a:spAutoFit/>
          </a:bodyPr>
          <a:lstStyle>
            <a:lvl1pPr>
              <a:defRPr sz="3600" b="0" i="0">
                <a:solidFill>
                  <a:srgbClr val="002384"/>
                </a:solidFill>
                <a:latin typeface="Arial MT"/>
                <a:cs typeface="Arial MT"/>
              </a:defRPr>
            </a:lvl1pPr>
          </a:lstStyle>
          <a:p>
            <a:endParaRPr/>
          </a:p>
        </p:txBody>
      </p:sp>
      <p:sp>
        <p:nvSpPr>
          <p:cNvPr id="3" name="Holder 3"/>
          <p:cNvSpPr>
            <a:spLocks noGrp="1"/>
          </p:cNvSpPr>
          <p:nvPr>
            <p:ph type="body" idx="1"/>
          </p:nvPr>
        </p:nvSpPr>
        <p:spPr>
          <a:xfrm>
            <a:off x="2969641" y="3038538"/>
            <a:ext cx="5879465" cy="2448560"/>
          </a:xfrm>
          <a:prstGeom prst="rect">
            <a:avLst/>
          </a:prstGeom>
        </p:spPr>
        <p:txBody>
          <a:bodyPr wrap="square" lIns="0" tIns="0" rIns="0" bIns="0">
            <a:spAutoFit/>
          </a:bodyPr>
          <a:lstStyle>
            <a:lvl1pPr>
              <a:defRPr sz="1800" b="0" i="0">
                <a:solidFill>
                  <a:schemeClr val="bg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5/11/2026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jpeg"/></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www.ibm.com/think/topics/generative-ai-for-developers" TargetMode="External"/><Relationship Id="rId3" Type="http://schemas.openxmlformats.org/officeDocument/2006/relationships/hyperlink" Target="https://www.ibm.com/think/topics/ai-orchestration" TargetMode="External"/><Relationship Id="rId7" Type="http://schemas.openxmlformats.org/officeDocument/2006/relationships/hyperlink" Target="https://www.ibm.com/think/topics/large-language-models" TargetMode="External"/><Relationship Id="rId2" Type="http://schemas.openxmlformats.org/officeDocument/2006/relationships/hyperlink" Target="https://www.ibm.com/think/artificial-intelligence" TargetMode="External"/><Relationship Id="rId1" Type="http://schemas.openxmlformats.org/officeDocument/2006/relationships/slideLayout" Target="../slideLayouts/slideLayout4.xml"/><Relationship Id="rId6" Type="http://schemas.openxmlformats.org/officeDocument/2006/relationships/hyperlink" Target="https://www.ibm.com/think/topics/generative-ai" TargetMode="External"/><Relationship Id="rId5" Type="http://schemas.openxmlformats.org/officeDocument/2006/relationships/hyperlink" Target="https://www.ibm.com/think/insights/agentic-ai" TargetMode="External"/><Relationship Id="rId4" Type="http://schemas.openxmlformats.org/officeDocument/2006/relationships/hyperlink" Target="https://www.ibm.com/think/topics/ai-model" TargetMode="External"/><Relationship Id="rId9" Type="http://schemas.openxmlformats.org/officeDocument/2006/relationships/hyperlink" Target="https://www.ibm.com/think/topics/gpt"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s://medium.com/datadriveninvestor/generative-ai-llmops-deployment-architecture-patterns-6d45d1668aba"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researchgate.net/publication/386461286_Stateful_Monitoring_and_Responsible_Deployment_of_AI_Agents" TargetMode="External"/><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medium.com/datadriveninvestor/generative-ai-llmops-deployment-architecture-patterns-6d45d1668aba" TargetMode="External"/><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hyperlink" Target="https://medium.com/ai-advances/agentic-rags-extending-rags-to-sql-databases-1509b25ca3e7" TargetMode="External"/></Relationships>
</file>

<file path=ppt/slides/_rels/slide5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hyperlink" Target="https://medium.com/ai-advances/reinforcement-learning-agents-for-industrial-control-systems-b917b513f0c4" TargetMode="External"/><Relationship Id="rId4" Type="http://schemas.openxmlformats.org/officeDocument/2006/relationships/hyperlink" Target="https://medium.com/datadriveninvestor/generative-ai-llmops-deployment-architecture-patterns-6d45d1668ab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0" y="19048"/>
              <a:ext cx="12192000" cy="6838950"/>
            </a:xfrm>
            <a:custGeom>
              <a:avLst/>
              <a:gdLst/>
              <a:ahLst/>
              <a:cxnLst/>
              <a:rect l="l" t="t" r="r" b="b"/>
              <a:pathLst>
                <a:path w="12192000" h="6838950">
                  <a:moveTo>
                    <a:pt x="12192000" y="0"/>
                  </a:moveTo>
                  <a:lnTo>
                    <a:pt x="0" y="0"/>
                  </a:lnTo>
                  <a:lnTo>
                    <a:pt x="0" y="6838951"/>
                  </a:lnTo>
                  <a:lnTo>
                    <a:pt x="12192000" y="6838951"/>
                  </a:lnTo>
                  <a:lnTo>
                    <a:pt x="12192000" y="0"/>
                  </a:lnTo>
                  <a:close/>
                </a:path>
              </a:pathLst>
            </a:custGeom>
            <a:solidFill>
              <a:srgbClr val="002384">
                <a:alpha val="39999"/>
              </a:srgbClr>
            </a:solidFill>
          </p:spPr>
          <p:txBody>
            <a:bodyPr wrap="square" lIns="0" tIns="0" rIns="0" bIns="0" rtlCol="0"/>
            <a:lstStyle/>
            <a:p>
              <a:endParaRPr/>
            </a:p>
          </p:txBody>
        </p:sp>
      </p:grpSp>
      <p:sp>
        <p:nvSpPr>
          <p:cNvPr id="5" name="object 5"/>
          <p:cNvSpPr txBox="1">
            <a:spLocks noGrp="1"/>
          </p:cNvSpPr>
          <p:nvPr>
            <p:ph type="title"/>
          </p:nvPr>
        </p:nvSpPr>
        <p:spPr>
          <a:xfrm>
            <a:off x="454025" y="1057655"/>
            <a:ext cx="8385175" cy="670248"/>
          </a:xfrm>
          <a:prstGeom prst="rect">
            <a:avLst/>
          </a:prstGeom>
        </p:spPr>
        <p:txBody>
          <a:bodyPr vert="horz" wrap="square" lIns="0" tIns="31750" rIns="0" bIns="0" rtlCol="0">
            <a:spAutoFit/>
          </a:bodyPr>
          <a:lstStyle/>
          <a:p>
            <a:pPr marL="12700" marR="5080">
              <a:lnSpc>
                <a:spcPts val="5260"/>
              </a:lnSpc>
              <a:spcBef>
                <a:spcPts val="250"/>
              </a:spcBef>
            </a:pPr>
            <a:r>
              <a:rPr sz="4400" b="1" dirty="0">
                <a:solidFill>
                  <a:srgbClr val="FFFFFF"/>
                </a:solidFill>
                <a:latin typeface="Arial"/>
                <a:cs typeface="Arial"/>
              </a:rPr>
              <a:t>Introduction</a:t>
            </a:r>
            <a:r>
              <a:rPr sz="4400" b="1" spc="-130" dirty="0">
                <a:solidFill>
                  <a:srgbClr val="FFFFFF"/>
                </a:solidFill>
                <a:latin typeface="Arial"/>
                <a:cs typeface="Arial"/>
              </a:rPr>
              <a:t> </a:t>
            </a:r>
            <a:r>
              <a:rPr sz="4400" b="1" spc="-25" dirty="0">
                <a:solidFill>
                  <a:srgbClr val="FFFFFF"/>
                </a:solidFill>
                <a:latin typeface="Arial"/>
                <a:cs typeface="Arial"/>
              </a:rPr>
              <a:t>to </a:t>
            </a:r>
            <a:r>
              <a:rPr sz="4400" b="1" dirty="0">
                <a:solidFill>
                  <a:srgbClr val="FFFFFF"/>
                </a:solidFill>
                <a:latin typeface="Arial"/>
                <a:cs typeface="Arial"/>
              </a:rPr>
              <a:t>Agentic</a:t>
            </a:r>
            <a:r>
              <a:rPr sz="4400" b="1" spc="-70" dirty="0">
                <a:solidFill>
                  <a:srgbClr val="FFFFFF"/>
                </a:solidFill>
                <a:latin typeface="Arial"/>
                <a:cs typeface="Arial"/>
              </a:rPr>
              <a:t> </a:t>
            </a:r>
            <a:r>
              <a:rPr sz="4400" b="1" spc="-25" dirty="0">
                <a:solidFill>
                  <a:srgbClr val="FFFFFF"/>
                </a:solidFill>
                <a:latin typeface="Arial"/>
                <a:cs typeface="Arial"/>
              </a:rPr>
              <a:t>AI</a:t>
            </a:r>
            <a:endParaRPr sz="4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0D4C6-C027-4BBF-BB74-255CC26FB870}"/>
              </a:ext>
            </a:extLst>
          </p:cNvPr>
          <p:cNvSpPr>
            <a:spLocks noGrp="1"/>
          </p:cNvSpPr>
          <p:nvPr>
            <p:ph type="title"/>
          </p:nvPr>
        </p:nvSpPr>
        <p:spPr>
          <a:xfrm>
            <a:off x="425132" y="147574"/>
            <a:ext cx="11341735" cy="553998"/>
          </a:xfrm>
        </p:spPr>
        <p:txBody>
          <a:bodyPr/>
          <a:lstStyle/>
          <a:p>
            <a:r>
              <a:rPr lang="en-US" dirty="0"/>
              <a:t>Agenda-Day1</a:t>
            </a:r>
          </a:p>
        </p:txBody>
      </p:sp>
      <p:sp>
        <p:nvSpPr>
          <p:cNvPr id="3" name="TextBox 2">
            <a:extLst>
              <a:ext uri="{FF2B5EF4-FFF2-40B4-BE49-F238E27FC236}">
                <a16:creationId xmlns:a16="http://schemas.microsoft.com/office/drawing/2014/main" id="{B0C1E76E-85B0-406E-E087-35D9668FBD1B}"/>
              </a:ext>
            </a:extLst>
          </p:cNvPr>
          <p:cNvSpPr txBox="1"/>
          <p:nvPr/>
        </p:nvSpPr>
        <p:spPr>
          <a:xfrm>
            <a:off x="425132" y="1219200"/>
            <a:ext cx="10928668" cy="1200329"/>
          </a:xfrm>
          <a:prstGeom prst="rect">
            <a:avLst/>
          </a:prstGeom>
          <a:noFill/>
        </p:spPr>
        <p:txBody>
          <a:bodyPr wrap="square" rtlCol="0">
            <a:spAutoFit/>
          </a:bodyPr>
          <a:lstStyle/>
          <a:p>
            <a:pPr marL="342900" indent="-342900">
              <a:buAutoNum type="arabicPeriod"/>
            </a:pPr>
            <a:r>
              <a:rPr lang="en-US" dirty="0"/>
              <a:t>AI journey: Rule-based → ML → Deep Learning → Generative AI • </a:t>
            </a:r>
          </a:p>
          <a:p>
            <a:pPr marL="342900" indent="-342900">
              <a:buAutoNum type="arabicPeriod"/>
            </a:pPr>
            <a:r>
              <a:rPr lang="en-US" dirty="0"/>
              <a:t>From Chatbots to Autonomous Agents </a:t>
            </a:r>
          </a:p>
          <a:p>
            <a:pPr marL="342900" indent="-342900">
              <a:buAutoNum type="arabicPeriod"/>
            </a:pPr>
            <a:r>
              <a:rPr lang="en-US" dirty="0"/>
              <a:t>Limitation of GenAI</a:t>
            </a:r>
          </a:p>
          <a:p>
            <a:pPr marL="342900" indent="-342900">
              <a:buAutoNum type="arabicPeriod"/>
            </a:pPr>
            <a:r>
              <a:rPr lang="en-US" dirty="0"/>
              <a:t>Telecom use case examples (customer care, network ops, churn, sales assist)</a:t>
            </a:r>
          </a:p>
        </p:txBody>
      </p:sp>
    </p:spTree>
    <p:extLst>
      <p:ext uri="{BB962C8B-B14F-4D97-AF65-F5344CB8AC3E}">
        <p14:creationId xmlns:p14="http://schemas.microsoft.com/office/powerpoint/2010/main" val="1236504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BDEEB-CFBE-4AC0-73A6-F8AF2BFF78A9}"/>
              </a:ext>
            </a:extLst>
          </p:cNvPr>
          <p:cNvSpPr>
            <a:spLocks noGrp="1"/>
          </p:cNvSpPr>
          <p:nvPr>
            <p:ph type="title"/>
          </p:nvPr>
        </p:nvSpPr>
        <p:spPr>
          <a:xfrm>
            <a:off x="425132" y="147574"/>
            <a:ext cx="11341735" cy="553998"/>
          </a:xfrm>
        </p:spPr>
        <p:txBody>
          <a:bodyPr/>
          <a:lstStyle/>
          <a:p>
            <a:r>
              <a:rPr lang="en-US" dirty="0"/>
              <a:t>AI Use Cases in Telecommunications</a:t>
            </a:r>
            <a:endParaRPr lang="en-IN" dirty="0"/>
          </a:p>
        </p:txBody>
      </p:sp>
      <p:sp>
        <p:nvSpPr>
          <p:cNvPr id="4" name="TextBox 3">
            <a:extLst>
              <a:ext uri="{FF2B5EF4-FFF2-40B4-BE49-F238E27FC236}">
                <a16:creationId xmlns:a16="http://schemas.microsoft.com/office/drawing/2014/main" id="{ABB5B756-E18D-BD75-74A8-1FE235E44454}"/>
              </a:ext>
            </a:extLst>
          </p:cNvPr>
          <p:cNvSpPr txBox="1"/>
          <p:nvPr/>
        </p:nvSpPr>
        <p:spPr>
          <a:xfrm>
            <a:off x="381000" y="990600"/>
            <a:ext cx="9829800" cy="4524315"/>
          </a:xfrm>
          <a:prstGeom prst="rect">
            <a:avLst/>
          </a:prstGeom>
          <a:noFill/>
        </p:spPr>
        <p:txBody>
          <a:bodyPr wrap="square">
            <a:spAutoFit/>
          </a:bodyPr>
          <a:lstStyle/>
          <a:p>
            <a:pPr>
              <a:buNone/>
            </a:pPr>
            <a:r>
              <a:rPr lang="en-IN" b="1" dirty="0"/>
              <a:t>1. Network Optimization</a:t>
            </a:r>
          </a:p>
          <a:p>
            <a:pPr>
              <a:buNone/>
            </a:pPr>
            <a:r>
              <a:rPr lang="en-IN" dirty="0"/>
              <a:t>	AI helps telecom companies optimize network traffic, bandwidth allocation, and service quality in real time.</a:t>
            </a:r>
          </a:p>
          <a:p>
            <a:pPr>
              <a:buNone/>
            </a:pPr>
            <a:endParaRPr lang="en-IN" dirty="0"/>
          </a:p>
          <a:p>
            <a:pPr>
              <a:buNone/>
            </a:pPr>
            <a:r>
              <a:rPr lang="en-IN" b="1" dirty="0"/>
              <a:t>Key Applications</a:t>
            </a:r>
          </a:p>
          <a:p>
            <a:pPr lvl="5">
              <a:buFont typeface="Arial" panose="020B0604020202020204" pitchFamily="34" charset="0"/>
              <a:buChar char="•"/>
            </a:pPr>
            <a:r>
              <a:rPr lang="en-IN" dirty="0"/>
              <a:t>Intelligent traffic routing </a:t>
            </a:r>
          </a:p>
          <a:p>
            <a:pPr lvl="3">
              <a:buFont typeface="Arial" panose="020B0604020202020204" pitchFamily="34" charset="0"/>
              <a:buChar char="•"/>
            </a:pPr>
            <a:r>
              <a:rPr lang="en-IN" dirty="0"/>
              <a:t>Load balancing </a:t>
            </a:r>
          </a:p>
          <a:p>
            <a:pPr lvl="3">
              <a:buFont typeface="Arial" panose="020B0604020202020204" pitchFamily="34" charset="0"/>
              <a:buChar char="•"/>
            </a:pPr>
            <a:r>
              <a:rPr lang="en-IN" dirty="0"/>
              <a:t>Congestion prediction </a:t>
            </a:r>
          </a:p>
          <a:p>
            <a:pPr lvl="3">
              <a:buFont typeface="Arial" panose="020B0604020202020204" pitchFamily="34" charset="0"/>
              <a:buChar char="•"/>
            </a:pPr>
            <a:r>
              <a:rPr lang="en-IN" dirty="0"/>
              <a:t>Dynamic bandwidth allocation </a:t>
            </a:r>
          </a:p>
          <a:p>
            <a:pPr lvl="3">
              <a:buFont typeface="Arial" panose="020B0604020202020204" pitchFamily="34" charset="0"/>
              <a:buChar char="•"/>
            </a:pPr>
            <a:r>
              <a:rPr lang="en-IN" dirty="0"/>
              <a:t>5G network optimization </a:t>
            </a:r>
          </a:p>
          <a:p>
            <a:pPr lvl="3"/>
            <a:endParaRPr lang="en-IN" dirty="0"/>
          </a:p>
          <a:p>
            <a:pPr>
              <a:buNone/>
            </a:pPr>
            <a:r>
              <a:rPr lang="en-IN" b="1" dirty="0"/>
              <a:t>Benefits</a:t>
            </a:r>
          </a:p>
          <a:p>
            <a:pPr>
              <a:buFont typeface="Arial" panose="020B0604020202020204" pitchFamily="34" charset="0"/>
              <a:buChar char="•"/>
            </a:pPr>
            <a:r>
              <a:rPr lang="en-IN" dirty="0"/>
              <a:t>Reduced downtime </a:t>
            </a:r>
          </a:p>
          <a:p>
            <a:pPr>
              <a:buFont typeface="Arial" panose="020B0604020202020204" pitchFamily="34" charset="0"/>
              <a:buChar char="•"/>
            </a:pPr>
            <a:r>
              <a:rPr lang="en-IN" dirty="0"/>
              <a:t>Better customer experience </a:t>
            </a:r>
          </a:p>
          <a:p>
            <a:pPr>
              <a:buFont typeface="Arial" panose="020B0604020202020204" pitchFamily="34" charset="0"/>
              <a:buChar char="•"/>
            </a:pPr>
            <a:r>
              <a:rPr lang="en-IN" dirty="0"/>
              <a:t>Improved network reliability </a:t>
            </a:r>
          </a:p>
          <a:p>
            <a:pPr>
              <a:buFont typeface="Arial" panose="020B0604020202020204" pitchFamily="34" charset="0"/>
              <a:buChar char="•"/>
            </a:pPr>
            <a:r>
              <a:rPr lang="en-IN" dirty="0"/>
              <a:t>Lower operational costs</a:t>
            </a:r>
          </a:p>
        </p:txBody>
      </p:sp>
    </p:spTree>
    <p:extLst>
      <p:ext uri="{BB962C8B-B14F-4D97-AF65-F5344CB8AC3E}">
        <p14:creationId xmlns:p14="http://schemas.microsoft.com/office/powerpoint/2010/main" val="1248836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3E88-1847-023F-C987-90463ACE1CAC}"/>
              </a:ext>
            </a:extLst>
          </p:cNvPr>
          <p:cNvSpPr>
            <a:spLocks noGrp="1"/>
          </p:cNvSpPr>
          <p:nvPr>
            <p:ph type="title"/>
          </p:nvPr>
        </p:nvSpPr>
        <p:spPr>
          <a:xfrm>
            <a:off x="425132" y="147574"/>
            <a:ext cx="11341735" cy="553998"/>
          </a:xfrm>
        </p:spPr>
        <p:txBody>
          <a:bodyPr/>
          <a:lstStyle/>
          <a:p>
            <a:r>
              <a:rPr lang="en-US" dirty="0"/>
              <a:t>AI Use Cases in Telecommunications</a:t>
            </a:r>
            <a:endParaRPr lang="en-IN" dirty="0"/>
          </a:p>
        </p:txBody>
      </p:sp>
      <p:sp>
        <p:nvSpPr>
          <p:cNvPr id="4" name="TextBox 3">
            <a:extLst>
              <a:ext uri="{FF2B5EF4-FFF2-40B4-BE49-F238E27FC236}">
                <a16:creationId xmlns:a16="http://schemas.microsoft.com/office/drawing/2014/main" id="{8FFF0453-A0CC-C589-17E6-DB5ECCEAFCD1}"/>
              </a:ext>
            </a:extLst>
          </p:cNvPr>
          <p:cNvSpPr txBox="1"/>
          <p:nvPr/>
        </p:nvSpPr>
        <p:spPr>
          <a:xfrm>
            <a:off x="381000" y="914400"/>
            <a:ext cx="6096000" cy="3693319"/>
          </a:xfrm>
          <a:prstGeom prst="rect">
            <a:avLst/>
          </a:prstGeom>
          <a:noFill/>
        </p:spPr>
        <p:txBody>
          <a:bodyPr wrap="square">
            <a:spAutoFit/>
          </a:bodyPr>
          <a:lstStyle/>
          <a:p>
            <a:pPr>
              <a:buNone/>
            </a:pPr>
            <a:r>
              <a:rPr lang="en-US" b="1" dirty="0"/>
              <a:t>2. Predictive Maintenance</a:t>
            </a:r>
          </a:p>
          <a:p>
            <a:pPr>
              <a:buNone/>
            </a:pPr>
            <a:r>
              <a:rPr lang="en-US" dirty="0"/>
              <a:t>AI models analyze network equipment and infrastructure data to predict failures before they occur.</a:t>
            </a:r>
          </a:p>
          <a:p>
            <a:pPr>
              <a:buNone/>
            </a:pPr>
            <a:r>
              <a:rPr lang="en-US" b="1" dirty="0"/>
              <a:t>Key Applications</a:t>
            </a:r>
          </a:p>
          <a:p>
            <a:pPr>
              <a:buFont typeface="Arial" panose="020B0604020202020204" pitchFamily="34" charset="0"/>
              <a:buChar char="•"/>
            </a:pPr>
            <a:r>
              <a:rPr lang="en-US" dirty="0"/>
              <a:t>Tower equipment monitoring </a:t>
            </a:r>
          </a:p>
          <a:p>
            <a:pPr>
              <a:buFont typeface="Arial" panose="020B0604020202020204" pitchFamily="34" charset="0"/>
              <a:buChar char="•"/>
            </a:pPr>
            <a:r>
              <a:rPr lang="en-US" dirty="0"/>
              <a:t>Hardware failure prediction </a:t>
            </a:r>
          </a:p>
          <a:p>
            <a:pPr>
              <a:buFont typeface="Arial" panose="020B0604020202020204" pitchFamily="34" charset="0"/>
              <a:buChar char="•"/>
            </a:pPr>
            <a:r>
              <a:rPr lang="en-US" dirty="0"/>
              <a:t>Automated fault detection </a:t>
            </a:r>
          </a:p>
          <a:p>
            <a:pPr>
              <a:buFont typeface="Arial" panose="020B0604020202020204" pitchFamily="34" charset="0"/>
              <a:buChar char="•"/>
            </a:pPr>
            <a:r>
              <a:rPr lang="en-US" dirty="0"/>
              <a:t>Preventive maintenance scheduling </a:t>
            </a:r>
          </a:p>
          <a:p>
            <a:pPr>
              <a:buNone/>
            </a:pPr>
            <a:r>
              <a:rPr lang="en-US" b="1" dirty="0"/>
              <a:t>Benefits</a:t>
            </a:r>
          </a:p>
          <a:p>
            <a:pPr>
              <a:buFont typeface="Arial" panose="020B0604020202020204" pitchFamily="34" charset="0"/>
              <a:buChar char="•"/>
            </a:pPr>
            <a:r>
              <a:rPr lang="en-US" dirty="0"/>
              <a:t>Reduced outages </a:t>
            </a:r>
          </a:p>
          <a:p>
            <a:pPr>
              <a:buFont typeface="Arial" panose="020B0604020202020204" pitchFamily="34" charset="0"/>
              <a:buChar char="•"/>
            </a:pPr>
            <a:r>
              <a:rPr lang="en-US" dirty="0"/>
              <a:t>Lower repair costs </a:t>
            </a:r>
          </a:p>
          <a:p>
            <a:pPr>
              <a:buFont typeface="Arial" panose="020B0604020202020204" pitchFamily="34" charset="0"/>
              <a:buChar char="•"/>
            </a:pPr>
            <a:r>
              <a:rPr lang="en-US" dirty="0"/>
              <a:t>Faster issue resolution </a:t>
            </a:r>
          </a:p>
          <a:p>
            <a:pPr>
              <a:buFont typeface="Arial" panose="020B0604020202020204" pitchFamily="34" charset="0"/>
              <a:buChar char="•"/>
            </a:pPr>
            <a:r>
              <a:rPr lang="en-US" dirty="0"/>
              <a:t>Improved SLA compliance</a:t>
            </a:r>
          </a:p>
        </p:txBody>
      </p:sp>
    </p:spTree>
    <p:extLst>
      <p:ext uri="{BB962C8B-B14F-4D97-AF65-F5344CB8AC3E}">
        <p14:creationId xmlns:p14="http://schemas.microsoft.com/office/powerpoint/2010/main" val="4051449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353DB-6BF1-4E40-8CF1-5FBD934CCA7A}"/>
              </a:ext>
            </a:extLst>
          </p:cNvPr>
          <p:cNvSpPr>
            <a:spLocks noGrp="1"/>
          </p:cNvSpPr>
          <p:nvPr>
            <p:ph type="title"/>
          </p:nvPr>
        </p:nvSpPr>
        <p:spPr>
          <a:xfrm>
            <a:off x="425132" y="147574"/>
            <a:ext cx="11341735" cy="553998"/>
          </a:xfrm>
        </p:spPr>
        <p:txBody>
          <a:bodyPr/>
          <a:lstStyle/>
          <a:p>
            <a:r>
              <a:rPr lang="en-US" dirty="0"/>
              <a:t>AI Use Cases in Telecommunications</a:t>
            </a:r>
            <a:endParaRPr lang="en-IN" dirty="0"/>
          </a:p>
        </p:txBody>
      </p:sp>
      <p:sp>
        <p:nvSpPr>
          <p:cNvPr id="4" name="TextBox 3">
            <a:extLst>
              <a:ext uri="{FF2B5EF4-FFF2-40B4-BE49-F238E27FC236}">
                <a16:creationId xmlns:a16="http://schemas.microsoft.com/office/drawing/2014/main" id="{C15D8ABA-42AA-02AA-2E73-762D195655F3}"/>
              </a:ext>
            </a:extLst>
          </p:cNvPr>
          <p:cNvSpPr txBox="1"/>
          <p:nvPr/>
        </p:nvSpPr>
        <p:spPr>
          <a:xfrm>
            <a:off x="381000" y="1371600"/>
            <a:ext cx="6096000" cy="3970318"/>
          </a:xfrm>
          <a:prstGeom prst="rect">
            <a:avLst/>
          </a:prstGeom>
          <a:noFill/>
        </p:spPr>
        <p:txBody>
          <a:bodyPr wrap="square">
            <a:spAutoFit/>
          </a:bodyPr>
          <a:lstStyle/>
          <a:p>
            <a:pPr>
              <a:buNone/>
            </a:pPr>
            <a:r>
              <a:rPr lang="en-US" b="1" dirty="0"/>
              <a:t>AI-Powered Customer Support</a:t>
            </a:r>
          </a:p>
          <a:p>
            <a:pPr>
              <a:buNone/>
            </a:pPr>
            <a:r>
              <a:rPr lang="en-US" dirty="0"/>
              <a:t>Telecom providers use AI chatbots and virtual assistants to automate customer interactions.</a:t>
            </a:r>
          </a:p>
          <a:p>
            <a:pPr>
              <a:buNone/>
            </a:pPr>
            <a:r>
              <a:rPr lang="en-US" b="1" dirty="0"/>
              <a:t>Key Applications</a:t>
            </a:r>
          </a:p>
          <a:p>
            <a:pPr>
              <a:buFont typeface="Arial" panose="020B0604020202020204" pitchFamily="34" charset="0"/>
              <a:buChar char="•"/>
            </a:pPr>
            <a:r>
              <a:rPr lang="en-US" dirty="0"/>
              <a:t>AI chatbots </a:t>
            </a:r>
          </a:p>
          <a:p>
            <a:pPr>
              <a:buFont typeface="Arial" panose="020B0604020202020204" pitchFamily="34" charset="0"/>
              <a:buChar char="•"/>
            </a:pPr>
            <a:r>
              <a:rPr lang="en-US" dirty="0"/>
              <a:t>Voice bots </a:t>
            </a:r>
          </a:p>
          <a:p>
            <a:pPr>
              <a:buFont typeface="Arial" panose="020B0604020202020204" pitchFamily="34" charset="0"/>
              <a:buChar char="•"/>
            </a:pPr>
            <a:r>
              <a:rPr lang="en-US" dirty="0"/>
              <a:t>Smart IVR systems </a:t>
            </a:r>
          </a:p>
          <a:p>
            <a:pPr>
              <a:buFont typeface="Arial" panose="020B0604020202020204" pitchFamily="34" charset="0"/>
              <a:buChar char="•"/>
            </a:pPr>
            <a:r>
              <a:rPr lang="en-US" dirty="0"/>
              <a:t>Automated ticket resolution </a:t>
            </a:r>
          </a:p>
          <a:p>
            <a:pPr>
              <a:buFont typeface="Arial" panose="020B0604020202020204" pitchFamily="34" charset="0"/>
              <a:buChar char="•"/>
            </a:pPr>
            <a:r>
              <a:rPr lang="en-US" dirty="0"/>
              <a:t>Multilingual customer support </a:t>
            </a:r>
          </a:p>
          <a:p>
            <a:pPr>
              <a:buNone/>
            </a:pPr>
            <a:r>
              <a:rPr lang="en-US" b="1" dirty="0"/>
              <a:t>Benefits</a:t>
            </a:r>
          </a:p>
          <a:p>
            <a:pPr>
              <a:buFont typeface="Arial" panose="020B0604020202020204" pitchFamily="34" charset="0"/>
              <a:buChar char="•"/>
            </a:pPr>
            <a:r>
              <a:rPr lang="en-US" dirty="0"/>
              <a:t>24x7 support </a:t>
            </a:r>
          </a:p>
          <a:p>
            <a:pPr>
              <a:buFont typeface="Arial" panose="020B0604020202020204" pitchFamily="34" charset="0"/>
              <a:buChar char="•"/>
            </a:pPr>
            <a:r>
              <a:rPr lang="en-US" dirty="0"/>
              <a:t>Faster response times </a:t>
            </a:r>
          </a:p>
          <a:p>
            <a:pPr>
              <a:buFont typeface="Arial" panose="020B0604020202020204" pitchFamily="34" charset="0"/>
              <a:buChar char="•"/>
            </a:pPr>
            <a:r>
              <a:rPr lang="en-US" dirty="0"/>
              <a:t>Reduced call center workload </a:t>
            </a:r>
          </a:p>
          <a:p>
            <a:pPr>
              <a:buFont typeface="Arial" panose="020B0604020202020204" pitchFamily="34" charset="0"/>
              <a:buChar char="•"/>
            </a:pPr>
            <a:r>
              <a:rPr lang="en-US" dirty="0"/>
              <a:t>Personalized customer interactions</a:t>
            </a:r>
          </a:p>
        </p:txBody>
      </p:sp>
    </p:spTree>
    <p:extLst>
      <p:ext uri="{BB962C8B-B14F-4D97-AF65-F5344CB8AC3E}">
        <p14:creationId xmlns:p14="http://schemas.microsoft.com/office/powerpoint/2010/main" val="3482952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C4D0-42AC-C626-3980-7856E1E0B180}"/>
              </a:ext>
            </a:extLst>
          </p:cNvPr>
          <p:cNvSpPr>
            <a:spLocks noGrp="1"/>
          </p:cNvSpPr>
          <p:nvPr>
            <p:ph type="title"/>
          </p:nvPr>
        </p:nvSpPr>
        <p:spPr>
          <a:xfrm>
            <a:off x="425132" y="147574"/>
            <a:ext cx="11341735" cy="553998"/>
          </a:xfrm>
        </p:spPr>
        <p:txBody>
          <a:bodyPr/>
          <a:lstStyle/>
          <a:p>
            <a:r>
              <a:rPr lang="en-US" dirty="0"/>
              <a:t>AI Use Cases in Telecommunications</a:t>
            </a:r>
            <a:endParaRPr lang="en-IN" dirty="0"/>
          </a:p>
        </p:txBody>
      </p:sp>
      <p:sp>
        <p:nvSpPr>
          <p:cNvPr id="4" name="TextBox 3">
            <a:extLst>
              <a:ext uri="{FF2B5EF4-FFF2-40B4-BE49-F238E27FC236}">
                <a16:creationId xmlns:a16="http://schemas.microsoft.com/office/drawing/2014/main" id="{51622ECC-6818-EC5F-6DB1-342CA60B5DE9}"/>
              </a:ext>
            </a:extLst>
          </p:cNvPr>
          <p:cNvSpPr txBox="1"/>
          <p:nvPr/>
        </p:nvSpPr>
        <p:spPr>
          <a:xfrm>
            <a:off x="425132" y="1676400"/>
            <a:ext cx="6096000" cy="3693319"/>
          </a:xfrm>
          <a:prstGeom prst="rect">
            <a:avLst/>
          </a:prstGeom>
          <a:noFill/>
        </p:spPr>
        <p:txBody>
          <a:bodyPr wrap="square">
            <a:spAutoFit/>
          </a:bodyPr>
          <a:lstStyle/>
          <a:p>
            <a:pPr>
              <a:buNone/>
            </a:pPr>
            <a:r>
              <a:rPr lang="en-IN" b="1" dirty="0"/>
              <a:t>Fraud Detection and Revenue Assurance</a:t>
            </a:r>
          </a:p>
          <a:p>
            <a:pPr>
              <a:buNone/>
            </a:pPr>
            <a:r>
              <a:rPr lang="en-IN" dirty="0"/>
              <a:t>AI systems monitor telecom transactions and usage patterns to identify suspicious activities.</a:t>
            </a:r>
          </a:p>
          <a:p>
            <a:pPr>
              <a:buNone/>
            </a:pPr>
            <a:r>
              <a:rPr lang="en-IN" b="1" dirty="0"/>
              <a:t>Key Applications</a:t>
            </a:r>
          </a:p>
          <a:p>
            <a:pPr>
              <a:buFont typeface="Arial" panose="020B0604020202020204" pitchFamily="34" charset="0"/>
              <a:buChar char="•"/>
            </a:pPr>
            <a:r>
              <a:rPr lang="en-IN" dirty="0"/>
              <a:t>SIM fraud detection </a:t>
            </a:r>
          </a:p>
          <a:p>
            <a:pPr>
              <a:buFont typeface="Arial" panose="020B0604020202020204" pitchFamily="34" charset="0"/>
              <a:buChar char="•"/>
            </a:pPr>
            <a:r>
              <a:rPr lang="en-IN" dirty="0"/>
              <a:t>Subscription fraud detection </a:t>
            </a:r>
          </a:p>
          <a:p>
            <a:pPr>
              <a:buFont typeface="Arial" panose="020B0604020202020204" pitchFamily="34" charset="0"/>
              <a:buChar char="•"/>
            </a:pPr>
            <a:r>
              <a:rPr lang="en-IN" dirty="0"/>
              <a:t>Roaming fraud monitoring </a:t>
            </a:r>
          </a:p>
          <a:p>
            <a:pPr>
              <a:buFont typeface="Arial" panose="020B0604020202020204" pitchFamily="34" charset="0"/>
              <a:buChar char="•"/>
            </a:pPr>
            <a:r>
              <a:rPr lang="en-IN" dirty="0"/>
              <a:t>Billing anomaly detection </a:t>
            </a:r>
          </a:p>
          <a:p>
            <a:pPr>
              <a:buNone/>
            </a:pPr>
            <a:r>
              <a:rPr lang="en-IN" b="1" dirty="0"/>
              <a:t>Benefits</a:t>
            </a:r>
          </a:p>
          <a:p>
            <a:pPr>
              <a:buFont typeface="Arial" panose="020B0604020202020204" pitchFamily="34" charset="0"/>
              <a:buChar char="•"/>
            </a:pPr>
            <a:r>
              <a:rPr lang="en-IN" dirty="0"/>
              <a:t>Reduced financial losses </a:t>
            </a:r>
          </a:p>
          <a:p>
            <a:pPr>
              <a:buFont typeface="Arial" panose="020B0604020202020204" pitchFamily="34" charset="0"/>
              <a:buChar char="•"/>
            </a:pPr>
            <a:r>
              <a:rPr lang="en-IN" dirty="0"/>
              <a:t>Faster fraud identification </a:t>
            </a:r>
          </a:p>
          <a:p>
            <a:pPr>
              <a:buFont typeface="Arial" panose="020B0604020202020204" pitchFamily="34" charset="0"/>
              <a:buChar char="•"/>
            </a:pPr>
            <a:r>
              <a:rPr lang="en-IN" dirty="0"/>
              <a:t>Improved compliance </a:t>
            </a:r>
          </a:p>
          <a:p>
            <a:pPr>
              <a:buFont typeface="Arial" panose="020B0604020202020204" pitchFamily="34" charset="0"/>
              <a:buChar char="•"/>
            </a:pPr>
            <a:r>
              <a:rPr lang="en-IN" dirty="0"/>
              <a:t>Revenue protection</a:t>
            </a:r>
          </a:p>
        </p:txBody>
      </p:sp>
    </p:spTree>
    <p:extLst>
      <p:ext uri="{BB962C8B-B14F-4D97-AF65-F5344CB8AC3E}">
        <p14:creationId xmlns:p14="http://schemas.microsoft.com/office/powerpoint/2010/main" val="2300025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2E00-291B-A50C-32D8-E724105B06F7}"/>
              </a:ext>
            </a:extLst>
          </p:cNvPr>
          <p:cNvSpPr>
            <a:spLocks noGrp="1"/>
          </p:cNvSpPr>
          <p:nvPr>
            <p:ph type="title"/>
          </p:nvPr>
        </p:nvSpPr>
        <p:spPr>
          <a:xfrm>
            <a:off x="425132" y="147574"/>
            <a:ext cx="11341735" cy="553998"/>
          </a:xfrm>
        </p:spPr>
        <p:txBody>
          <a:bodyPr/>
          <a:lstStyle/>
          <a:p>
            <a:r>
              <a:rPr lang="en-US"/>
              <a:t>AI Use Cases in Telecommunications</a:t>
            </a:r>
            <a:endParaRPr lang="en-IN" dirty="0"/>
          </a:p>
        </p:txBody>
      </p:sp>
      <p:sp>
        <p:nvSpPr>
          <p:cNvPr id="4" name="TextBox 3">
            <a:extLst>
              <a:ext uri="{FF2B5EF4-FFF2-40B4-BE49-F238E27FC236}">
                <a16:creationId xmlns:a16="http://schemas.microsoft.com/office/drawing/2014/main" id="{41247B01-75EF-CCD0-E5F6-18705E406EFD}"/>
              </a:ext>
            </a:extLst>
          </p:cNvPr>
          <p:cNvSpPr txBox="1"/>
          <p:nvPr/>
        </p:nvSpPr>
        <p:spPr>
          <a:xfrm>
            <a:off x="425132" y="1524000"/>
            <a:ext cx="6096000" cy="3970318"/>
          </a:xfrm>
          <a:prstGeom prst="rect">
            <a:avLst/>
          </a:prstGeom>
          <a:noFill/>
        </p:spPr>
        <p:txBody>
          <a:bodyPr wrap="square">
            <a:spAutoFit/>
          </a:bodyPr>
          <a:lstStyle/>
          <a:p>
            <a:pPr>
              <a:buNone/>
            </a:pPr>
            <a:r>
              <a:rPr lang="en-US" b="1" dirty="0"/>
              <a:t>. Personalized Customer Experience</a:t>
            </a:r>
          </a:p>
          <a:p>
            <a:pPr>
              <a:buNone/>
            </a:pPr>
            <a:r>
              <a:rPr lang="en-US" dirty="0"/>
              <a:t>AI analyzes customer behavior and usage patterns to deliver personalized services.</a:t>
            </a:r>
          </a:p>
          <a:p>
            <a:pPr>
              <a:buNone/>
            </a:pPr>
            <a:r>
              <a:rPr lang="en-US" b="1" dirty="0"/>
              <a:t>Key Applications</a:t>
            </a:r>
          </a:p>
          <a:p>
            <a:pPr>
              <a:buFont typeface="Arial" panose="020B0604020202020204" pitchFamily="34" charset="0"/>
              <a:buChar char="•"/>
            </a:pPr>
            <a:r>
              <a:rPr lang="en-US" dirty="0"/>
              <a:t>Personalized data plans </a:t>
            </a:r>
          </a:p>
          <a:p>
            <a:pPr>
              <a:buFont typeface="Arial" panose="020B0604020202020204" pitchFamily="34" charset="0"/>
              <a:buChar char="•"/>
            </a:pPr>
            <a:r>
              <a:rPr lang="en-US" dirty="0"/>
              <a:t>Targeted marketing </a:t>
            </a:r>
          </a:p>
          <a:p>
            <a:pPr>
              <a:buFont typeface="Arial" panose="020B0604020202020204" pitchFamily="34" charset="0"/>
              <a:buChar char="•"/>
            </a:pPr>
            <a:r>
              <a:rPr lang="en-US" dirty="0"/>
              <a:t>Churn prediction </a:t>
            </a:r>
          </a:p>
          <a:p>
            <a:pPr>
              <a:buFont typeface="Arial" panose="020B0604020202020204" pitchFamily="34" charset="0"/>
              <a:buChar char="•"/>
            </a:pPr>
            <a:r>
              <a:rPr lang="en-US" dirty="0"/>
              <a:t>Recommendation engines </a:t>
            </a:r>
          </a:p>
          <a:p>
            <a:pPr>
              <a:buFont typeface="Arial" panose="020B0604020202020204" pitchFamily="34" charset="0"/>
              <a:buChar char="•"/>
            </a:pPr>
            <a:r>
              <a:rPr lang="en-US" dirty="0"/>
              <a:t>Smart offers and upselling </a:t>
            </a:r>
          </a:p>
          <a:p>
            <a:pPr>
              <a:buNone/>
            </a:pPr>
            <a:r>
              <a:rPr lang="en-US" b="1" dirty="0"/>
              <a:t>Benefits</a:t>
            </a:r>
          </a:p>
          <a:p>
            <a:pPr>
              <a:buFont typeface="Arial" panose="020B0604020202020204" pitchFamily="34" charset="0"/>
              <a:buChar char="•"/>
            </a:pPr>
            <a:r>
              <a:rPr lang="en-US" dirty="0"/>
              <a:t>Higher customer retention </a:t>
            </a:r>
          </a:p>
          <a:p>
            <a:pPr>
              <a:buFont typeface="Arial" panose="020B0604020202020204" pitchFamily="34" charset="0"/>
              <a:buChar char="•"/>
            </a:pPr>
            <a:r>
              <a:rPr lang="en-US" dirty="0"/>
              <a:t>Increased ARPU (Average Revenue Per User) </a:t>
            </a:r>
          </a:p>
          <a:p>
            <a:pPr>
              <a:buFont typeface="Arial" panose="020B0604020202020204" pitchFamily="34" charset="0"/>
              <a:buChar char="•"/>
            </a:pPr>
            <a:r>
              <a:rPr lang="en-US" dirty="0"/>
              <a:t>Better engagement </a:t>
            </a:r>
          </a:p>
          <a:p>
            <a:pPr>
              <a:buFont typeface="Arial" panose="020B0604020202020204" pitchFamily="34" charset="0"/>
              <a:buChar char="•"/>
            </a:pPr>
            <a:r>
              <a:rPr lang="en-US" dirty="0"/>
              <a:t>Improved customer satisfaction</a:t>
            </a:r>
          </a:p>
        </p:txBody>
      </p:sp>
    </p:spTree>
    <p:extLst>
      <p:ext uri="{BB962C8B-B14F-4D97-AF65-F5344CB8AC3E}">
        <p14:creationId xmlns:p14="http://schemas.microsoft.com/office/powerpoint/2010/main" val="1222456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2d274884544_1_240"/>
          <p:cNvSpPr txBox="1"/>
          <p:nvPr/>
        </p:nvSpPr>
        <p:spPr>
          <a:xfrm>
            <a:off x="490194" y="1838227"/>
            <a:ext cx="8651400" cy="3140100"/>
          </a:xfrm>
          <a:prstGeom prst="rect">
            <a:avLst/>
          </a:prstGeom>
          <a:noFill/>
          <a:ln>
            <a:noFill/>
          </a:ln>
        </p:spPr>
        <p:txBody>
          <a:bodyPr spcFirstLastPara="1" wrap="square" lIns="91425" tIns="45700" rIns="91425" bIns="45700" anchor="t" anchorCtr="0">
            <a:spAutoFit/>
          </a:bodyPr>
          <a:lstStyle/>
          <a:p>
            <a:pPr marL="457200" marR="0" lvl="0" indent="-368300" algn="l" rtl="0">
              <a:lnSpc>
                <a:spcPct val="200000"/>
              </a:lnSpc>
              <a:spcBef>
                <a:spcPts val="0"/>
              </a:spcBef>
              <a:spcAft>
                <a:spcPts val="0"/>
              </a:spcAft>
              <a:buClr>
                <a:schemeClr val="dk1"/>
              </a:buClr>
              <a:buSzPts val="2200"/>
              <a:buFont typeface="Arial"/>
              <a:buChar char="●"/>
            </a:pPr>
            <a:r>
              <a:rPr lang="en-US" sz="2200" b="0" i="0" u="none" strike="noStrike" cap="none">
                <a:solidFill>
                  <a:schemeClr val="dk1"/>
                </a:solidFill>
                <a:latin typeface="Arial"/>
                <a:ea typeface="Arial"/>
                <a:cs typeface="Arial"/>
                <a:sym typeface="Arial"/>
              </a:rPr>
              <a:t>A subset of Artificial Intelligence (AI)</a:t>
            </a:r>
            <a:endParaRPr sz="2200" b="0" i="0" u="none" strike="noStrike" cap="none">
              <a:solidFill>
                <a:schemeClr val="dk1"/>
              </a:solidFill>
              <a:latin typeface="Arial"/>
              <a:ea typeface="Arial"/>
              <a:cs typeface="Arial"/>
              <a:sym typeface="Arial"/>
            </a:endParaRPr>
          </a:p>
          <a:p>
            <a:pPr marL="457200" marR="0" lvl="0" indent="-368300" algn="l" rtl="0">
              <a:lnSpc>
                <a:spcPct val="200000"/>
              </a:lnSpc>
              <a:spcBef>
                <a:spcPts val="0"/>
              </a:spcBef>
              <a:spcAft>
                <a:spcPts val="0"/>
              </a:spcAft>
              <a:buClr>
                <a:schemeClr val="dk1"/>
              </a:buClr>
              <a:buSzPts val="2200"/>
              <a:buFont typeface="Arial"/>
              <a:buChar char="●"/>
            </a:pPr>
            <a:r>
              <a:rPr lang="en-US" sz="2200" b="0" i="0" u="none" strike="noStrike" cap="none">
                <a:solidFill>
                  <a:schemeClr val="dk1"/>
                </a:solidFill>
                <a:latin typeface="Arial"/>
                <a:ea typeface="Arial"/>
                <a:cs typeface="Arial"/>
                <a:sym typeface="Arial"/>
              </a:rPr>
              <a:t>Enables machines to generate new, original content</a:t>
            </a:r>
            <a:endParaRPr sz="2200" b="0" i="0" u="none" strike="noStrike" cap="none">
              <a:solidFill>
                <a:schemeClr val="dk1"/>
              </a:solidFill>
              <a:latin typeface="Arial"/>
              <a:ea typeface="Arial"/>
              <a:cs typeface="Arial"/>
              <a:sym typeface="Arial"/>
            </a:endParaRPr>
          </a:p>
          <a:p>
            <a:pPr marL="457200" marR="0" lvl="0" indent="-368300" algn="l" rtl="0">
              <a:lnSpc>
                <a:spcPct val="200000"/>
              </a:lnSpc>
              <a:spcBef>
                <a:spcPts val="0"/>
              </a:spcBef>
              <a:spcAft>
                <a:spcPts val="0"/>
              </a:spcAft>
              <a:buClr>
                <a:schemeClr val="dk1"/>
              </a:buClr>
              <a:buSzPts val="2200"/>
              <a:buFont typeface="Arial"/>
              <a:buChar char="●"/>
            </a:pPr>
            <a:r>
              <a:rPr lang="en-US" sz="2200" b="0" i="0" u="none" strike="noStrike" cap="none">
                <a:solidFill>
                  <a:schemeClr val="dk1"/>
                </a:solidFill>
                <a:latin typeface="Arial"/>
                <a:ea typeface="Arial"/>
                <a:cs typeface="Arial"/>
                <a:sym typeface="Arial"/>
              </a:rPr>
              <a:t>Uses machine learning algorithms to create novel outputs</a:t>
            </a:r>
            <a:endParaRPr sz="2200" b="0" i="0" u="none" strike="noStrike" cap="none">
              <a:solidFill>
                <a:schemeClr val="dk1"/>
              </a:solidFill>
              <a:latin typeface="Arial"/>
              <a:ea typeface="Arial"/>
              <a:cs typeface="Arial"/>
              <a:sym typeface="Arial"/>
            </a:endParaRPr>
          </a:p>
          <a:p>
            <a:pPr marL="457200" marR="0" lvl="0" indent="-368300" algn="l" rtl="0">
              <a:lnSpc>
                <a:spcPct val="200000"/>
              </a:lnSpc>
              <a:spcBef>
                <a:spcPts val="0"/>
              </a:spcBef>
              <a:spcAft>
                <a:spcPts val="0"/>
              </a:spcAft>
              <a:buClr>
                <a:schemeClr val="dk1"/>
              </a:buClr>
              <a:buSzPts val="2200"/>
              <a:buFont typeface="Arial"/>
              <a:buChar char="●"/>
            </a:pPr>
            <a:r>
              <a:rPr lang="en-US" sz="2200" b="0" i="0" u="none" strike="noStrike" cap="none">
                <a:solidFill>
                  <a:schemeClr val="dk1"/>
                </a:solidFill>
                <a:latin typeface="Arial"/>
                <a:ea typeface="Arial"/>
                <a:cs typeface="Arial"/>
                <a:sym typeface="Arial"/>
              </a:rPr>
              <a:t>Can generate text, images, music, and more</a:t>
            </a:r>
            <a:endParaRPr sz="2200" b="0" i="0" u="none" strike="noStrike" cap="none">
              <a:solidFill>
                <a:schemeClr val="dk1"/>
              </a:solidFill>
              <a:latin typeface="Arial"/>
              <a:ea typeface="Arial"/>
              <a:cs typeface="Arial"/>
              <a:sym typeface="Arial"/>
            </a:endParaRPr>
          </a:p>
          <a:p>
            <a:pPr marL="457200" marR="0" lvl="0" indent="-368300" algn="l" rtl="0">
              <a:lnSpc>
                <a:spcPct val="200000"/>
              </a:lnSpc>
              <a:spcBef>
                <a:spcPts val="0"/>
              </a:spcBef>
              <a:spcAft>
                <a:spcPts val="0"/>
              </a:spcAft>
              <a:buClr>
                <a:schemeClr val="dk1"/>
              </a:buClr>
              <a:buSzPts val="2200"/>
              <a:buFont typeface="Arial"/>
              <a:buChar char="●"/>
            </a:pPr>
            <a:r>
              <a:rPr lang="en-US" sz="2200" b="0" i="0" u="none" strike="noStrike" cap="none">
                <a:solidFill>
                  <a:schemeClr val="dk1"/>
                </a:solidFill>
                <a:latin typeface="Arial"/>
                <a:ea typeface="Arial"/>
                <a:cs typeface="Arial"/>
                <a:sym typeface="Arial"/>
              </a:rPr>
              <a:t>Trained on large datasets to learn patterns and relationships</a:t>
            </a:r>
            <a:endParaRPr sz="2200" b="0" i="0" u="none" strike="noStrike" cap="none">
              <a:solidFill>
                <a:schemeClr val="dk1"/>
              </a:solidFill>
              <a:latin typeface="Arial"/>
              <a:ea typeface="Arial"/>
              <a:cs typeface="Arial"/>
              <a:sym typeface="Arial"/>
            </a:endParaRPr>
          </a:p>
        </p:txBody>
      </p:sp>
      <p:sp>
        <p:nvSpPr>
          <p:cNvPr id="115" name="Google Shape;115;g2d274884544_1_240"/>
          <p:cNvSpPr txBox="1"/>
          <p:nvPr/>
        </p:nvSpPr>
        <p:spPr>
          <a:xfrm>
            <a:off x="568700" y="518525"/>
            <a:ext cx="8012100" cy="528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alibri"/>
                <a:ea typeface="Calibri"/>
                <a:cs typeface="Calibri"/>
                <a:sym typeface="Calibri"/>
              </a:rPr>
              <a:t>Generative AI</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2d274884544_1_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Types of GenAI</a:t>
            </a:r>
            <a:endParaRPr/>
          </a:p>
        </p:txBody>
      </p:sp>
      <p:sp>
        <p:nvSpPr>
          <p:cNvPr id="143" name="Google Shape;143;g2d274884544_1_11"/>
          <p:cNvSpPr txBox="1">
            <a:spLocks noGrp="1"/>
          </p:cNvSpPr>
          <p:nvPr>
            <p:ph type="body" idx="1"/>
          </p:nvPr>
        </p:nvSpPr>
        <p:spPr>
          <a:xfrm>
            <a:off x="306575" y="1116400"/>
            <a:ext cx="11385600" cy="4956300"/>
          </a:xfrm>
          <a:prstGeom prst="rect">
            <a:avLst/>
          </a:prstGeom>
          <a:noFill/>
          <a:ln>
            <a:noFill/>
          </a:ln>
        </p:spPr>
        <p:txBody>
          <a:bodyPr spcFirstLastPara="1" wrap="square" lIns="91425" tIns="502900" rIns="91425" bIns="45700" anchor="ctr" anchorCtr="0">
            <a:spAutoFit/>
          </a:bodyPr>
          <a:lstStyle/>
          <a:p>
            <a:pPr marL="457200" marR="0" lvl="0" indent="-355600" algn="l" rtl="0">
              <a:lnSpc>
                <a:spcPct val="300000"/>
              </a:lnSpc>
              <a:spcBef>
                <a:spcPts val="0"/>
              </a:spcBef>
              <a:spcAft>
                <a:spcPts val="0"/>
              </a:spcAft>
              <a:buSzPts val="2000"/>
              <a:buFont typeface="Arial"/>
              <a:buChar char="•"/>
            </a:pPr>
            <a:r>
              <a:rPr lang="en-US" sz="2200" b="1" dirty="0">
                <a:latin typeface="Arial"/>
                <a:ea typeface="Arial"/>
                <a:cs typeface="Arial"/>
                <a:sym typeface="Arial"/>
              </a:rPr>
              <a:t>Text-to-Text</a:t>
            </a:r>
            <a:r>
              <a:rPr lang="en-US" sz="2200" dirty="0">
                <a:latin typeface="Arial"/>
                <a:ea typeface="Arial"/>
                <a:cs typeface="Arial"/>
                <a:sym typeface="Arial"/>
              </a:rPr>
              <a:t>: generating human-like text</a:t>
            </a:r>
            <a:endParaRPr sz="2200" dirty="0">
              <a:latin typeface="Arial"/>
              <a:ea typeface="Arial"/>
              <a:cs typeface="Arial"/>
              <a:sym typeface="Arial"/>
            </a:endParaRPr>
          </a:p>
          <a:p>
            <a:pPr marL="457200" marR="0" lvl="0" indent="-355600" algn="l" rtl="0">
              <a:lnSpc>
                <a:spcPct val="300000"/>
              </a:lnSpc>
              <a:spcBef>
                <a:spcPts val="0"/>
              </a:spcBef>
              <a:spcAft>
                <a:spcPts val="0"/>
              </a:spcAft>
              <a:buSzPts val="2000"/>
              <a:buFont typeface="Arial"/>
              <a:buChar char="•"/>
            </a:pPr>
            <a:r>
              <a:rPr lang="en-US" sz="2200" b="1" dirty="0">
                <a:latin typeface="Arial"/>
                <a:ea typeface="Arial"/>
                <a:cs typeface="Arial"/>
                <a:sym typeface="Arial"/>
              </a:rPr>
              <a:t>Text-to-Image</a:t>
            </a:r>
            <a:r>
              <a:rPr lang="en-US" sz="2200" dirty="0">
                <a:latin typeface="Arial"/>
                <a:ea typeface="Arial"/>
                <a:cs typeface="Arial"/>
                <a:sym typeface="Arial"/>
              </a:rPr>
              <a:t>: generating images from text descriptions</a:t>
            </a:r>
            <a:endParaRPr sz="2200" dirty="0">
              <a:latin typeface="Arial"/>
              <a:ea typeface="Arial"/>
              <a:cs typeface="Arial"/>
              <a:sym typeface="Arial"/>
            </a:endParaRPr>
          </a:p>
          <a:p>
            <a:pPr marL="457200" marR="0" lvl="0" indent="-355600" algn="l" rtl="0">
              <a:lnSpc>
                <a:spcPct val="300000"/>
              </a:lnSpc>
              <a:spcBef>
                <a:spcPts val="0"/>
              </a:spcBef>
              <a:spcAft>
                <a:spcPts val="0"/>
              </a:spcAft>
              <a:buSzPts val="2000"/>
              <a:buFont typeface="Arial"/>
              <a:buChar char="•"/>
            </a:pPr>
            <a:r>
              <a:rPr lang="en-US" sz="2200" b="1" dirty="0">
                <a:latin typeface="Arial"/>
                <a:ea typeface="Arial"/>
                <a:cs typeface="Arial"/>
                <a:sym typeface="Arial"/>
              </a:rPr>
              <a:t>Image-to-Image</a:t>
            </a:r>
            <a:r>
              <a:rPr lang="en-US" sz="2200" dirty="0">
                <a:latin typeface="Arial"/>
                <a:ea typeface="Arial"/>
                <a:cs typeface="Arial"/>
                <a:sym typeface="Arial"/>
              </a:rPr>
              <a:t>: generating new images from existing ones</a:t>
            </a:r>
            <a:endParaRPr sz="2200" dirty="0">
              <a:latin typeface="Arial"/>
              <a:ea typeface="Arial"/>
              <a:cs typeface="Arial"/>
              <a:sym typeface="Arial"/>
            </a:endParaRPr>
          </a:p>
          <a:p>
            <a:pPr marL="457200" marR="0" lvl="0" indent="-355600" algn="l" rtl="0">
              <a:lnSpc>
                <a:spcPct val="300000"/>
              </a:lnSpc>
              <a:spcBef>
                <a:spcPts val="0"/>
              </a:spcBef>
              <a:spcAft>
                <a:spcPts val="0"/>
              </a:spcAft>
              <a:buSzPts val="2000"/>
              <a:buFont typeface="Arial"/>
              <a:buChar char="•"/>
            </a:pPr>
            <a:r>
              <a:rPr lang="en-US" sz="2200" b="1" dirty="0">
                <a:latin typeface="Arial"/>
                <a:ea typeface="Arial"/>
                <a:cs typeface="Arial"/>
                <a:sym typeface="Arial"/>
              </a:rPr>
              <a:t>Music and Audio</a:t>
            </a:r>
            <a:r>
              <a:rPr lang="en-US" sz="2200" dirty="0">
                <a:latin typeface="Arial"/>
                <a:ea typeface="Arial"/>
                <a:cs typeface="Arial"/>
                <a:sym typeface="Arial"/>
              </a:rPr>
              <a:t>: generating music and audio files</a:t>
            </a:r>
            <a:endParaRPr sz="2200" dirty="0">
              <a:latin typeface="Arial"/>
              <a:ea typeface="Arial"/>
              <a:cs typeface="Arial"/>
              <a:sym typeface="Arial"/>
            </a:endParaRPr>
          </a:p>
          <a:p>
            <a:pPr marL="457200" marR="0" lvl="0" indent="-355600" algn="l" rtl="0">
              <a:lnSpc>
                <a:spcPct val="300000"/>
              </a:lnSpc>
              <a:spcBef>
                <a:spcPts val="0"/>
              </a:spcBef>
              <a:spcAft>
                <a:spcPts val="0"/>
              </a:spcAft>
              <a:buSzPts val="2000"/>
              <a:buFont typeface="Arial"/>
              <a:buChar char="•"/>
            </a:pPr>
            <a:r>
              <a:rPr lang="en-US" sz="2200" b="1" dirty="0">
                <a:latin typeface="Arial"/>
                <a:ea typeface="Arial"/>
                <a:cs typeface="Arial"/>
                <a:sym typeface="Arial"/>
              </a:rPr>
              <a:t>Video Generation</a:t>
            </a:r>
            <a:r>
              <a:rPr lang="en-US" sz="2200" dirty="0">
                <a:latin typeface="Arial"/>
                <a:ea typeface="Arial"/>
                <a:cs typeface="Arial"/>
                <a:sym typeface="Arial"/>
              </a:rPr>
              <a:t>: generating videos from scripts or prompts</a:t>
            </a:r>
            <a:endParaRPr sz="2200" dirty="0">
              <a:latin typeface="Arial"/>
              <a:ea typeface="Arial"/>
              <a:cs typeface="Arial"/>
              <a:sym typeface="Arial"/>
            </a:endParaRPr>
          </a:p>
        </p:txBody>
      </p:sp>
      <p:pic>
        <p:nvPicPr>
          <p:cNvPr id="3" name="Picture 2">
            <a:extLst>
              <a:ext uri="{FF2B5EF4-FFF2-40B4-BE49-F238E27FC236}">
                <a16:creationId xmlns:a16="http://schemas.microsoft.com/office/drawing/2014/main" id="{A9FBC009-574D-C316-6B30-73E322B56E54}"/>
              </a:ext>
            </a:extLst>
          </p:cNvPr>
          <p:cNvPicPr>
            <a:picLocks noChangeAspect="1"/>
          </p:cNvPicPr>
          <p:nvPr/>
        </p:nvPicPr>
        <p:blipFill>
          <a:blip r:embed="rId3" cstate="print"/>
          <a:stretch>
            <a:fillRect/>
          </a:stretch>
        </p:blipFill>
        <p:spPr>
          <a:xfrm>
            <a:off x="401842" y="1547609"/>
            <a:ext cx="11388315" cy="52125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8E840-B326-39C9-03DA-8EA4B1B9BAEB}"/>
              </a:ext>
            </a:extLst>
          </p:cNvPr>
          <p:cNvSpPr>
            <a:spLocks noGrp="1"/>
          </p:cNvSpPr>
          <p:nvPr>
            <p:ph type="title"/>
          </p:nvPr>
        </p:nvSpPr>
        <p:spPr>
          <a:xfrm>
            <a:off x="425132" y="147574"/>
            <a:ext cx="11341735" cy="553998"/>
          </a:xfrm>
        </p:spPr>
        <p:txBody>
          <a:bodyPr/>
          <a:lstStyle/>
          <a:p>
            <a:r>
              <a:rPr lang="en-US" dirty="0"/>
              <a:t>Limitation of GenAI</a:t>
            </a:r>
          </a:p>
        </p:txBody>
      </p:sp>
      <p:sp>
        <p:nvSpPr>
          <p:cNvPr id="5" name="TextBox 4">
            <a:extLst>
              <a:ext uri="{FF2B5EF4-FFF2-40B4-BE49-F238E27FC236}">
                <a16:creationId xmlns:a16="http://schemas.microsoft.com/office/drawing/2014/main" id="{1A6A27F7-68F4-483E-7FA3-67140044E759}"/>
              </a:ext>
            </a:extLst>
          </p:cNvPr>
          <p:cNvSpPr txBox="1"/>
          <p:nvPr/>
        </p:nvSpPr>
        <p:spPr>
          <a:xfrm>
            <a:off x="425131" y="914400"/>
            <a:ext cx="11341735" cy="4801314"/>
          </a:xfrm>
          <a:prstGeom prst="rect">
            <a:avLst/>
          </a:prstGeom>
          <a:noFill/>
        </p:spPr>
        <p:txBody>
          <a:bodyPr wrap="square">
            <a:spAutoFit/>
          </a:bodyPr>
          <a:lstStyle/>
          <a:p>
            <a:pPr marL="342900" indent="-342900">
              <a:buAutoNum type="arabicPeriod"/>
            </a:pPr>
            <a:r>
              <a:rPr lang="en-US" dirty="0"/>
              <a:t>It generates responses based on prompts but doesn't autonomously pursue long-term objectives or complete tasks without continuous prompting.</a:t>
            </a:r>
          </a:p>
          <a:p>
            <a:pPr marL="342900" indent="-342900">
              <a:buAutoNum type="arabicPeriod"/>
            </a:pPr>
            <a:endParaRPr lang="en-US" dirty="0"/>
          </a:p>
          <a:p>
            <a:pPr marL="342900" indent="-342900">
              <a:buAutoNum type="arabicPeriod"/>
            </a:pPr>
            <a:r>
              <a:rPr lang="en-US" dirty="0"/>
              <a:t>Generative models usually lack persistent memory across sessions.</a:t>
            </a:r>
          </a:p>
          <a:p>
            <a:pPr marL="342900" indent="-342900">
              <a:buAutoNum type="arabicPeriod"/>
            </a:pPr>
            <a:endParaRPr lang="en-US" dirty="0"/>
          </a:p>
          <a:p>
            <a:pPr marL="342900" indent="-342900">
              <a:buAutoNum type="arabicPeriod"/>
            </a:pPr>
            <a:r>
              <a:rPr lang="en-US" dirty="0"/>
              <a:t>Generative AI struggles with multi-step reasoning or breaking down complex tasks</a:t>
            </a:r>
          </a:p>
          <a:p>
            <a:pPr marL="342900" indent="-342900">
              <a:buAutoNum type="arabicPeriod"/>
            </a:pPr>
            <a:endParaRPr lang="en-US" dirty="0"/>
          </a:p>
          <a:p>
            <a:pPr marL="342900" indent="-342900">
              <a:buAutoNum type="arabicPeriod"/>
            </a:pPr>
            <a:r>
              <a:rPr lang="en-US" dirty="0"/>
              <a:t>Generative AI doesn’t interact with external tools or systems (APIs, databases, web browsers) unless explicitly connected.</a:t>
            </a:r>
          </a:p>
          <a:p>
            <a:pPr marL="342900" indent="-342900">
              <a:buAutoNum type="arabicPeriod"/>
            </a:pPr>
            <a:endParaRPr lang="en-US" dirty="0"/>
          </a:p>
          <a:p>
            <a:pPr marL="342900" indent="-342900">
              <a:buAutoNum type="arabicPeriod"/>
            </a:pPr>
            <a:r>
              <a:rPr lang="en-US" dirty="0"/>
              <a:t>ChatGPT or other LLMs just respond to prompts — no looped execution or self-initiated action.</a:t>
            </a:r>
          </a:p>
          <a:p>
            <a:pPr marL="342900" indent="-342900">
              <a:buAutoNum type="arabicPeriod"/>
            </a:pPr>
            <a:endParaRPr lang="en-US" dirty="0"/>
          </a:p>
          <a:p>
            <a:pPr marL="342900" indent="-342900">
              <a:buAutoNum type="arabicPeriod"/>
            </a:pPr>
            <a:r>
              <a:rPr lang="en-US" dirty="0"/>
              <a:t>Generative AI is a single-agent model, not designed for coordination between multiple AI entities.</a:t>
            </a:r>
          </a:p>
          <a:p>
            <a:pPr marL="342900" indent="-342900">
              <a:buAutoNum type="arabicPeriod"/>
            </a:pPr>
            <a:endParaRPr lang="en-US" dirty="0"/>
          </a:p>
          <a:p>
            <a:pPr marL="342900" indent="-342900">
              <a:buAutoNum type="arabicPeriod"/>
            </a:pPr>
            <a:r>
              <a:rPr lang="en-US" dirty="0"/>
              <a:t>LLMs may hallucinate but don’t typically verify or improve their answers over time.</a:t>
            </a:r>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1401140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AI </a:t>
            </a:r>
            <a:r>
              <a:rPr sz="3950" spc="-10" dirty="0"/>
              <a:t>Agents</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762000" y="1562100"/>
            <a:ext cx="5486400" cy="4305300"/>
          </a:xfrm>
          <a:custGeom>
            <a:avLst/>
            <a:gdLst/>
            <a:ahLst/>
            <a:cxnLst/>
            <a:rect l="l" t="t" r="r" b="b"/>
            <a:pathLst>
              <a:path w="3257550" h="3152775">
                <a:moveTo>
                  <a:pt x="3257550" y="0"/>
                </a:moveTo>
                <a:lnTo>
                  <a:pt x="0" y="0"/>
                </a:lnTo>
                <a:lnTo>
                  <a:pt x="0" y="3152775"/>
                </a:lnTo>
                <a:lnTo>
                  <a:pt x="3038094" y="3123946"/>
                </a:lnTo>
                <a:lnTo>
                  <a:pt x="3257550" y="0"/>
                </a:lnTo>
                <a:close/>
              </a:path>
            </a:pathLst>
          </a:custGeom>
          <a:solidFill>
            <a:srgbClr val="002384"/>
          </a:solidFill>
        </p:spPr>
        <p:txBody>
          <a:bodyPr wrap="square" lIns="0" tIns="0" rIns="0" bIns="0" rtlCol="0"/>
          <a:lstStyle/>
          <a:p>
            <a:endParaRPr/>
          </a:p>
        </p:txBody>
      </p:sp>
      <p:sp>
        <p:nvSpPr>
          <p:cNvPr id="5" name="object 5"/>
          <p:cNvSpPr txBox="1"/>
          <p:nvPr/>
        </p:nvSpPr>
        <p:spPr>
          <a:xfrm>
            <a:off x="862647" y="1574482"/>
            <a:ext cx="5233353" cy="5725285"/>
          </a:xfrm>
          <a:prstGeom prst="rect">
            <a:avLst/>
          </a:prstGeom>
        </p:spPr>
        <p:txBody>
          <a:bodyPr vert="horz" wrap="square" lIns="0" tIns="10795" rIns="0" bIns="0" rtlCol="0">
            <a:spAutoFit/>
          </a:bodyPr>
          <a:lstStyle/>
          <a:p>
            <a:pPr marL="12700" marR="92710">
              <a:lnSpc>
                <a:spcPct val="100800"/>
              </a:lnSpc>
              <a:spcBef>
                <a:spcPts val="85"/>
              </a:spcBef>
            </a:pPr>
            <a:r>
              <a:rPr lang="en-US" sz="1800" dirty="0">
                <a:solidFill>
                  <a:srgbClr val="FFFFFF"/>
                </a:solidFill>
                <a:latin typeface="Calibri"/>
                <a:cs typeface="Calibri"/>
              </a:rPr>
              <a:t>AI agent is an autonomous entity capable of perceiving its environment, making decisions, and taking actions to achieve specific goals. Agents can vary in complexity from simple reactive agents that respond to stimuli to more advanced intelligent agents that learn and adapt over time. </a:t>
            </a:r>
          </a:p>
          <a:p>
            <a:pPr marL="12700" marR="92710">
              <a:lnSpc>
                <a:spcPct val="100800"/>
              </a:lnSpc>
              <a:spcBef>
                <a:spcPts val="85"/>
              </a:spcBef>
            </a:pPr>
            <a:endParaRPr lang="en-US" dirty="0">
              <a:solidFill>
                <a:srgbClr val="FFFFFF"/>
              </a:solidFill>
              <a:latin typeface="Calibri"/>
              <a:cs typeface="Calibri"/>
            </a:endParaRPr>
          </a:p>
          <a:p>
            <a:pPr marL="12700" marR="92710">
              <a:lnSpc>
                <a:spcPct val="100800"/>
              </a:lnSpc>
              <a:spcBef>
                <a:spcPts val="85"/>
              </a:spcBef>
            </a:pPr>
            <a:r>
              <a:rPr lang="en-US" dirty="0">
                <a:solidFill>
                  <a:srgbClr val="FFFFFF"/>
                </a:solidFill>
                <a:latin typeface="Calibri"/>
                <a:cs typeface="Calibri"/>
              </a:rPr>
              <a:t>T</a:t>
            </a:r>
            <a:r>
              <a:rPr lang="en-US" sz="1800" dirty="0">
                <a:solidFill>
                  <a:srgbClr val="FFFFFF"/>
                </a:solidFill>
                <a:latin typeface="Calibri"/>
                <a:cs typeface="Calibri"/>
              </a:rPr>
              <a:t>ypes of agents include:</a:t>
            </a:r>
          </a:p>
          <a:p>
            <a:pPr marL="12700" marR="92710">
              <a:lnSpc>
                <a:spcPct val="100800"/>
              </a:lnSpc>
              <a:spcBef>
                <a:spcPts val="85"/>
              </a:spcBef>
            </a:pPr>
            <a:endParaRPr lang="en-US" sz="1800" dirty="0">
              <a:solidFill>
                <a:srgbClr val="FFFFFF"/>
              </a:solidFill>
              <a:latin typeface="Calibri"/>
              <a:cs typeface="Calibri"/>
            </a:endParaRPr>
          </a:p>
          <a:p>
            <a:pPr marL="12700" marR="92710">
              <a:lnSpc>
                <a:spcPct val="100800"/>
              </a:lnSpc>
              <a:spcBef>
                <a:spcPts val="85"/>
              </a:spcBef>
            </a:pPr>
            <a:r>
              <a:rPr lang="en-US" sz="1800" b="1" dirty="0">
                <a:solidFill>
                  <a:srgbClr val="FFFFFF"/>
                </a:solidFill>
                <a:latin typeface="Calibri"/>
                <a:cs typeface="Calibri"/>
              </a:rPr>
              <a:t>Reactive Agents</a:t>
            </a:r>
            <a:r>
              <a:rPr lang="en-US" sz="1800" dirty="0">
                <a:solidFill>
                  <a:srgbClr val="FFFFFF"/>
                </a:solidFill>
                <a:latin typeface="Calibri"/>
                <a:cs typeface="Calibri"/>
              </a:rPr>
              <a:t>: Respond directly to environmental changes without internal memory.</a:t>
            </a:r>
          </a:p>
          <a:p>
            <a:pPr marL="12700" marR="92710">
              <a:lnSpc>
                <a:spcPct val="100800"/>
              </a:lnSpc>
              <a:spcBef>
                <a:spcPts val="85"/>
              </a:spcBef>
            </a:pPr>
            <a:r>
              <a:rPr lang="en-US" sz="1800" b="1" dirty="0">
                <a:solidFill>
                  <a:srgbClr val="FFFFFF"/>
                </a:solidFill>
                <a:latin typeface="Calibri"/>
                <a:cs typeface="Calibri"/>
              </a:rPr>
              <a:t>Model-Based Agents</a:t>
            </a:r>
            <a:r>
              <a:rPr lang="en-US" sz="1800" dirty="0">
                <a:solidFill>
                  <a:srgbClr val="FFFFFF"/>
                </a:solidFill>
                <a:latin typeface="Calibri"/>
                <a:cs typeface="Calibri"/>
              </a:rPr>
              <a:t>: Use internal models of the world to make decisions.</a:t>
            </a:r>
          </a:p>
          <a:p>
            <a:pPr marL="12700" marR="92710">
              <a:lnSpc>
                <a:spcPct val="100800"/>
              </a:lnSpc>
              <a:spcBef>
                <a:spcPts val="85"/>
              </a:spcBef>
            </a:pPr>
            <a:r>
              <a:rPr lang="en-US" sz="1800" b="1" dirty="0">
                <a:solidFill>
                  <a:srgbClr val="FFFFFF"/>
                </a:solidFill>
                <a:latin typeface="Calibri"/>
                <a:cs typeface="Calibri"/>
              </a:rPr>
              <a:t>Goal-Based Agents</a:t>
            </a:r>
            <a:r>
              <a:rPr lang="en-US" sz="1800" dirty="0">
                <a:solidFill>
                  <a:srgbClr val="FFFFFF"/>
                </a:solidFill>
                <a:latin typeface="Calibri"/>
                <a:cs typeface="Calibri"/>
              </a:rPr>
              <a:t>: Plan actions based on achieving specific goals.</a:t>
            </a:r>
          </a:p>
          <a:p>
            <a:pPr marL="12700" marR="92710">
              <a:lnSpc>
                <a:spcPct val="100800"/>
              </a:lnSpc>
              <a:spcBef>
                <a:spcPts val="85"/>
              </a:spcBef>
            </a:pPr>
            <a:r>
              <a:rPr lang="en-US" sz="1800" dirty="0">
                <a:solidFill>
                  <a:srgbClr val="FFFFFF"/>
                </a:solidFill>
                <a:latin typeface="Calibri"/>
                <a:cs typeface="Calibri"/>
              </a:rPr>
              <a:t>Utility-Based Agents: Evaluate potential actions based on a utility function to maximize outcomes.</a:t>
            </a:r>
          </a:p>
          <a:p>
            <a:pPr marL="12700" marR="92710">
              <a:lnSpc>
                <a:spcPct val="100800"/>
              </a:lnSpc>
              <a:spcBef>
                <a:spcPts val="85"/>
              </a:spcBef>
            </a:pPr>
            <a:endParaRPr lang="en-US" dirty="0">
              <a:solidFill>
                <a:srgbClr val="FFFFFF"/>
              </a:solidFill>
              <a:latin typeface="Calibri"/>
              <a:cs typeface="Calibri"/>
            </a:endParaRPr>
          </a:p>
          <a:p>
            <a:pPr marL="12700" marR="92710">
              <a:lnSpc>
                <a:spcPct val="100800"/>
              </a:lnSpc>
              <a:spcBef>
                <a:spcPts val="85"/>
              </a:spcBef>
            </a:pPr>
            <a:endParaRPr lang="en-US" sz="1800" dirty="0">
              <a:solidFill>
                <a:srgbClr val="FFFFFF"/>
              </a:solidFill>
              <a:latin typeface="Calibri"/>
              <a:cs typeface="Calibri"/>
            </a:endParaRPr>
          </a:p>
          <a:p>
            <a:pPr marL="12700" marR="92710">
              <a:lnSpc>
                <a:spcPct val="100800"/>
              </a:lnSpc>
              <a:spcBef>
                <a:spcPts val="85"/>
              </a:spcBef>
            </a:pPr>
            <a:endParaRPr lang="en-US" sz="1800" dirty="0">
              <a:latin typeface="Calibri"/>
              <a:cs typeface="Calibri"/>
            </a:endParaRPr>
          </a:p>
        </p:txBody>
      </p:sp>
      <p:pic>
        <p:nvPicPr>
          <p:cNvPr id="6" name="object 6"/>
          <p:cNvPicPr/>
          <p:nvPr/>
        </p:nvPicPr>
        <p:blipFill>
          <a:blip r:embed="rId3" cstate="print"/>
          <a:stretch>
            <a:fillRect/>
          </a:stretch>
        </p:blipFill>
        <p:spPr>
          <a:xfrm>
            <a:off x="6324600" y="2451434"/>
            <a:ext cx="5562600" cy="17279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Agent process">
            <a:extLst>
              <a:ext uri="{FF2B5EF4-FFF2-40B4-BE49-F238E27FC236}">
                <a16:creationId xmlns:a16="http://schemas.microsoft.com/office/drawing/2014/main" id="{F028D90F-A305-77D2-A973-CF38DFBEB3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24000"/>
            <a:ext cx="12192000" cy="5334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1FB0B26-E0B3-A317-B33D-1DCE4504B8F6}"/>
              </a:ext>
            </a:extLst>
          </p:cNvPr>
          <p:cNvSpPr txBox="1"/>
          <p:nvPr/>
        </p:nvSpPr>
        <p:spPr>
          <a:xfrm>
            <a:off x="304800" y="381000"/>
            <a:ext cx="11125200" cy="369332"/>
          </a:xfrm>
          <a:prstGeom prst="rect">
            <a:avLst/>
          </a:prstGeom>
          <a:noFill/>
        </p:spPr>
        <p:txBody>
          <a:bodyPr wrap="square" rtlCol="0">
            <a:spAutoFit/>
          </a:bodyPr>
          <a:lstStyle/>
          <a:p>
            <a:r>
              <a:rPr lang="en-US" dirty="0"/>
              <a:t>What is AI Agent</a:t>
            </a:r>
          </a:p>
        </p:txBody>
      </p:sp>
    </p:spTree>
    <p:extLst>
      <p:ext uri="{BB962C8B-B14F-4D97-AF65-F5344CB8AC3E}">
        <p14:creationId xmlns:p14="http://schemas.microsoft.com/office/powerpoint/2010/main" val="247049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D40FE-A56C-0583-0B7F-1C705AAD7DF8}"/>
              </a:ext>
            </a:extLst>
          </p:cNvPr>
          <p:cNvSpPr>
            <a:spLocks noGrp="1"/>
          </p:cNvSpPr>
          <p:nvPr>
            <p:ph type="title"/>
          </p:nvPr>
        </p:nvSpPr>
        <p:spPr/>
        <p:txBody>
          <a:bodyPr>
            <a:normAutofit/>
          </a:bodyPr>
          <a:lstStyle/>
          <a:p>
            <a:r>
              <a:rPr lang="x-none" dirty="0"/>
              <a:t>Agent</a:t>
            </a:r>
          </a:p>
        </p:txBody>
      </p:sp>
      <p:pic>
        <p:nvPicPr>
          <p:cNvPr id="1026" name="Picture 2">
            <a:extLst>
              <a:ext uri="{FF2B5EF4-FFF2-40B4-BE49-F238E27FC236}">
                <a16:creationId xmlns:a16="http://schemas.microsoft.com/office/drawing/2014/main" id="{1BC357B2-F951-414F-14F2-915DB7B0080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286" y="1741615"/>
            <a:ext cx="9947680" cy="39479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5F82231-4886-695C-E33C-87A5EB437CB7}"/>
              </a:ext>
            </a:extLst>
          </p:cNvPr>
          <p:cNvSpPr txBox="1"/>
          <p:nvPr/>
        </p:nvSpPr>
        <p:spPr>
          <a:xfrm>
            <a:off x="3048000" y="5504934"/>
            <a:ext cx="6096000" cy="369332"/>
          </a:xfrm>
          <a:prstGeom prst="rect">
            <a:avLst/>
          </a:prstGeom>
          <a:noFill/>
        </p:spPr>
        <p:txBody>
          <a:bodyPr wrap="square">
            <a:spAutoFit/>
          </a:bodyPr>
          <a:lstStyle/>
          <a:p>
            <a:r>
              <a:rPr lang="x-none" dirty="0"/>
              <a:t>Source: https://lilianweng.github.io/posts/2023-06-23-agent/</a:t>
            </a:r>
          </a:p>
        </p:txBody>
      </p:sp>
    </p:spTree>
    <p:extLst>
      <p:ext uri="{BB962C8B-B14F-4D97-AF65-F5344CB8AC3E}">
        <p14:creationId xmlns:p14="http://schemas.microsoft.com/office/powerpoint/2010/main" val="2348118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BB5341-5B0B-25F6-7E80-A71F94DB6BF1}"/>
              </a:ext>
            </a:extLst>
          </p:cNvPr>
          <p:cNvSpPr txBox="1"/>
          <p:nvPr/>
        </p:nvSpPr>
        <p:spPr>
          <a:xfrm>
            <a:off x="457200" y="381000"/>
            <a:ext cx="10591800" cy="664284"/>
          </a:xfrm>
          <a:prstGeom prst="rect">
            <a:avLst/>
          </a:prstGeom>
          <a:noFill/>
        </p:spPr>
        <p:txBody>
          <a:bodyPr wrap="square" rtlCol="0">
            <a:spAutoFit/>
          </a:bodyPr>
          <a:lstStyle/>
          <a:p>
            <a:pPr algn="l"/>
            <a:r>
              <a:rPr lang="en-US" b="1" i="0" dirty="0">
                <a:solidFill>
                  <a:srgbClr val="242424"/>
                </a:solidFill>
                <a:effectLst/>
                <a:latin typeface="sohne"/>
              </a:rPr>
              <a:t>From LLMs to AI agents</a:t>
            </a:r>
          </a:p>
          <a:p>
            <a:endParaRPr lang="en-US" dirty="0"/>
          </a:p>
        </p:txBody>
      </p:sp>
      <p:sp>
        <p:nvSpPr>
          <p:cNvPr id="3" name="TextBox 2">
            <a:extLst>
              <a:ext uri="{FF2B5EF4-FFF2-40B4-BE49-F238E27FC236}">
                <a16:creationId xmlns:a16="http://schemas.microsoft.com/office/drawing/2014/main" id="{2B8D4439-4C32-F7A4-A258-6BB1DE2D091C}"/>
              </a:ext>
            </a:extLst>
          </p:cNvPr>
          <p:cNvSpPr txBox="1"/>
          <p:nvPr/>
        </p:nvSpPr>
        <p:spPr>
          <a:xfrm>
            <a:off x="152400" y="3276601"/>
            <a:ext cx="11582400" cy="4909036"/>
          </a:xfrm>
          <a:prstGeom prst="rect">
            <a:avLst/>
          </a:prstGeom>
          <a:noFill/>
        </p:spPr>
        <p:txBody>
          <a:bodyPr wrap="square" rtlCol="0">
            <a:spAutoFit/>
          </a:bodyPr>
          <a:lstStyle/>
          <a:p>
            <a:pPr algn="l">
              <a:lnSpc>
                <a:spcPts val="1800"/>
              </a:lnSpc>
              <a:buNone/>
            </a:pPr>
            <a:r>
              <a:rPr lang="en-US" b="1" i="0" dirty="0">
                <a:solidFill>
                  <a:srgbClr val="242424"/>
                </a:solidFill>
                <a:effectLst/>
                <a:latin typeface="sohne"/>
              </a:rPr>
              <a:t>1.1 Traditional chatbots to LLM-powered chatbots</a:t>
            </a:r>
          </a:p>
          <a:p>
            <a:pPr algn="l">
              <a:lnSpc>
                <a:spcPts val="2400"/>
              </a:lnSpc>
              <a:buNone/>
            </a:pPr>
            <a:r>
              <a:rPr lang="en-US" b="0" i="0" dirty="0">
                <a:solidFill>
                  <a:srgbClr val="242424"/>
                </a:solidFill>
                <a:effectLst/>
                <a:latin typeface="source-serif-pro"/>
              </a:rPr>
              <a:t>	</a:t>
            </a:r>
            <a:endParaRPr lang="en-US" dirty="0">
              <a:solidFill>
                <a:srgbClr val="242424"/>
              </a:solidFill>
              <a:latin typeface="source-serif-pro"/>
            </a:endParaRPr>
          </a:p>
          <a:p>
            <a:pPr algn="l">
              <a:lnSpc>
                <a:spcPts val="2400"/>
              </a:lnSpc>
              <a:buNone/>
            </a:pPr>
            <a:r>
              <a:rPr lang="en-US" b="1" i="0" dirty="0">
                <a:solidFill>
                  <a:srgbClr val="242424"/>
                </a:solidFill>
                <a:effectLst/>
                <a:latin typeface="source-serif-pro"/>
              </a:rPr>
              <a:t>Heuristic-Based Responses: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Traditional chatbots operated on rule-based logic (“if-then” statements).</a:t>
            </a:r>
          </a:p>
          <a:p>
            <a:pPr algn="l">
              <a:lnSpc>
                <a:spcPts val="2400"/>
              </a:lnSpc>
              <a:buFont typeface="Arial" panose="020B0604020202020204" pitchFamily="34" charset="0"/>
              <a:buChar char="•"/>
            </a:pPr>
            <a:r>
              <a:rPr lang="en-US" b="0" i="0" dirty="0">
                <a:solidFill>
                  <a:srgbClr val="242424"/>
                </a:solidFill>
                <a:effectLst/>
                <a:latin typeface="source-serif-pro"/>
              </a:rPr>
              <a:t>Limited to predefined rules and unable to manage complex or ambiguous queries. </a:t>
            </a:r>
            <a:endParaRPr lang="en-US" dirty="0">
              <a:solidFill>
                <a:srgbClr val="242424"/>
              </a:solidFill>
              <a:latin typeface="source-serif-pro"/>
            </a:endParaRPr>
          </a:p>
          <a:p>
            <a:pPr algn="l">
              <a:lnSpc>
                <a:spcPts val="2400"/>
              </a:lnSpc>
              <a:buNone/>
            </a:pPr>
            <a:r>
              <a:rPr lang="en-US" b="1" i="0" dirty="0">
                <a:solidFill>
                  <a:srgbClr val="242424"/>
                </a:solidFill>
                <a:effectLst/>
                <a:latin typeface="source-serif-pro"/>
              </a:rPr>
              <a:t>Canned Responses: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Responses were static and predefined.</a:t>
            </a:r>
          </a:p>
          <a:p>
            <a:pPr algn="l">
              <a:lnSpc>
                <a:spcPts val="2400"/>
              </a:lnSpc>
              <a:buFont typeface="Arial" panose="020B0604020202020204" pitchFamily="34" charset="0"/>
              <a:buChar char="•"/>
            </a:pPr>
            <a:r>
              <a:rPr lang="en-US" b="0" i="0" dirty="0">
                <a:solidFill>
                  <a:srgbClr val="242424"/>
                </a:solidFill>
                <a:effectLst/>
                <a:latin typeface="source-serif-pro"/>
              </a:rPr>
              <a:t>Triggered by detecting specific keywords or phrases.</a:t>
            </a:r>
          </a:p>
          <a:p>
            <a:pPr algn="l">
              <a:lnSpc>
                <a:spcPts val="2400"/>
              </a:lnSpc>
              <a:buFont typeface="Arial" panose="020B0604020202020204" pitchFamily="34" charset="0"/>
              <a:buChar char="•"/>
            </a:pPr>
            <a:r>
              <a:rPr lang="en-US" b="0" i="0" dirty="0">
                <a:solidFill>
                  <a:srgbClr val="242424"/>
                </a:solidFill>
                <a:effectLst/>
                <a:latin typeface="source-serif-pro"/>
              </a:rPr>
              <a:t>Lacked flexibility and conversational depth.</a:t>
            </a:r>
          </a:p>
          <a:p>
            <a:pPr algn="l">
              <a:lnSpc>
                <a:spcPts val="2400"/>
              </a:lnSpc>
              <a:buNone/>
            </a:pPr>
            <a:r>
              <a:rPr lang="en-US" b="1" i="0" dirty="0">
                <a:solidFill>
                  <a:srgbClr val="242424"/>
                </a:solidFill>
                <a:effectLst/>
                <a:latin typeface="source-serif-pro"/>
              </a:rPr>
              <a:t>Human Handoff:</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Always included a “Speak to a human” button for unresolved queries.</a:t>
            </a:r>
          </a:p>
          <a:p>
            <a:pPr algn="l">
              <a:lnSpc>
                <a:spcPts val="2400"/>
              </a:lnSpc>
              <a:buFont typeface="Arial" panose="020B0604020202020204" pitchFamily="34" charset="0"/>
              <a:buChar char="•"/>
            </a:pPr>
            <a:r>
              <a:rPr lang="en-US" b="0" i="0" dirty="0">
                <a:solidFill>
                  <a:srgbClr val="242424"/>
                </a:solidFill>
                <a:effectLst/>
                <a:latin typeface="source-serif-pro"/>
              </a:rPr>
              <a:t>Human intervention remained essential for handling complex issues.</a:t>
            </a:r>
          </a:p>
          <a:p>
            <a:pPr algn="l">
              <a:lnSpc>
                <a:spcPts val="2400"/>
              </a:lnSpc>
              <a:buFont typeface="Arial" panose="020B0604020202020204" pitchFamily="34" charset="0"/>
              <a:buChar char="•"/>
            </a:pPr>
            <a:endParaRPr lang="en-US" dirty="0">
              <a:solidFill>
                <a:srgbClr val="242424"/>
              </a:solidFill>
              <a:latin typeface="source-serif-pro"/>
            </a:endParaRPr>
          </a:p>
          <a:p>
            <a:pPr algn="l">
              <a:lnSpc>
                <a:spcPts val="2400"/>
              </a:lnSpc>
              <a:buFont typeface="Arial" panose="020B0604020202020204" pitchFamily="34" charset="0"/>
              <a:buChar char="•"/>
            </a:pPr>
            <a:endParaRPr lang="en-US" b="0" i="0" dirty="0">
              <a:solidFill>
                <a:srgbClr val="242424"/>
              </a:solidFill>
              <a:effectLst/>
              <a:latin typeface="source-serif-pro"/>
            </a:endParaRPr>
          </a:p>
          <a:p>
            <a:pPr algn="l">
              <a:lnSpc>
                <a:spcPts val="2400"/>
              </a:lnSpc>
              <a:buFont typeface="Arial" panose="020B0604020202020204" pitchFamily="34" charset="0"/>
              <a:buChar char="•"/>
            </a:pPr>
            <a:endParaRPr lang="en-US" b="0" i="0" dirty="0">
              <a:solidFill>
                <a:srgbClr val="242424"/>
              </a:solidFill>
              <a:effectLst/>
              <a:latin typeface="source-serif-pro"/>
            </a:endParaRPr>
          </a:p>
          <a:p>
            <a:endParaRPr lang="en-US" dirty="0"/>
          </a:p>
        </p:txBody>
      </p:sp>
      <p:pic>
        <p:nvPicPr>
          <p:cNvPr id="1026" name="Picture 2">
            <a:extLst>
              <a:ext uri="{FF2B5EF4-FFF2-40B4-BE49-F238E27FC236}">
                <a16:creationId xmlns:a16="http://schemas.microsoft.com/office/drawing/2014/main" id="{23D4349C-8A04-B6D4-A3F9-ABE6779E78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2600" y="713142"/>
            <a:ext cx="6667500"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418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F3C720-A67F-B10E-87BC-DFEC2520ADB4}"/>
              </a:ext>
            </a:extLst>
          </p:cNvPr>
          <p:cNvSpPr txBox="1"/>
          <p:nvPr/>
        </p:nvSpPr>
        <p:spPr>
          <a:xfrm>
            <a:off x="304800" y="381000"/>
            <a:ext cx="10591800" cy="6601807"/>
          </a:xfrm>
          <a:prstGeom prst="rect">
            <a:avLst/>
          </a:prstGeom>
          <a:noFill/>
        </p:spPr>
        <p:txBody>
          <a:bodyPr wrap="square" rtlCol="0">
            <a:spAutoFit/>
          </a:bodyPr>
          <a:lstStyle/>
          <a:p>
            <a:pPr algn="l">
              <a:lnSpc>
                <a:spcPts val="1800"/>
              </a:lnSpc>
              <a:buNone/>
            </a:pPr>
            <a:r>
              <a:rPr lang="en-US" b="1" i="0" dirty="0">
                <a:solidFill>
                  <a:srgbClr val="242424"/>
                </a:solidFill>
                <a:effectLst/>
                <a:latin typeface="sohne"/>
              </a:rPr>
              <a:t>1.2 Introduction of LLM-Powered Chatbots</a:t>
            </a:r>
          </a:p>
          <a:p>
            <a:pPr algn="l">
              <a:lnSpc>
                <a:spcPts val="1800"/>
              </a:lnSpc>
              <a:buNone/>
            </a:pPr>
            <a:endParaRPr lang="en-US" b="1" i="0" dirty="0">
              <a:solidFill>
                <a:srgbClr val="242424"/>
              </a:solidFill>
              <a:effectLst/>
              <a:latin typeface="sohne"/>
            </a:endParaRPr>
          </a:p>
          <a:p>
            <a:pPr algn="l">
              <a:lnSpc>
                <a:spcPts val="2400"/>
              </a:lnSpc>
            </a:pPr>
            <a:r>
              <a:rPr lang="en-US" b="1" i="0" dirty="0">
                <a:solidFill>
                  <a:srgbClr val="242424"/>
                </a:solidFill>
                <a:effectLst/>
                <a:latin typeface="source-serif-pro"/>
              </a:rPr>
              <a:t>Launch of ChatGPT: </a:t>
            </a:r>
            <a:r>
              <a:rPr lang="en-US" b="0" i="0" dirty="0">
                <a:solidFill>
                  <a:srgbClr val="242424"/>
                </a:solidFill>
                <a:effectLst/>
                <a:latin typeface="source-serif-pro"/>
              </a:rPr>
              <a:t>On November 30, 2022, OpenAI introduced ChatGPT, powered by GPT-3.5, as the first mainstream LLM application. ChatGPT retained the familiar chatbot interface but was backed by advanced LLM technology trained on a vast internet corpus.</a:t>
            </a:r>
          </a:p>
          <a:p>
            <a:pPr algn="l">
              <a:lnSpc>
                <a:spcPts val="2400"/>
              </a:lnSpc>
            </a:pPr>
            <a:endParaRPr lang="en-US" dirty="0">
              <a:solidFill>
                <a:srgbClr val="242424"/>
              </a:solidFill>
              <a:latin typeface="source-serif-pro"/>
            </a:endParaRPr>
          </a:p>
          <a:p>
            <a:pPr algn="l">
              <a:lnSpc>
                <a:spcPts val="2400"/>
              </a:lnSpc>
              <a:buNone/>
            </a:pPr>
            <a:r>
              <a:rPr lang="en-US" b="1" i="0" dirty="0">
                <a:solidFill>
                  <a:srgbClr val="242424"/>
                </a:solidFill>
                <a:effectLst/>
                <a:latin typeface="source-serif-pro"/>
              </a:rPr>
              <a:t>Limitations: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1" i="0" dirty="0">
                <a:solidFill>
                  <a:srgbClr val="242424"/>
                </a:solidFill>
                <a:effectLst/>
                <a:latin typeface="source-serif-pro"/>
              </a:rPr>
              <a:t>Personalization:</a:t>
            </a:r>
            <a:r>
              <a:rPr lang="en-US" b="0" i="0" dirty="0">
                <a:solidFill>
                  <a:srgbClr val="242424"/>
                </a:solidFill>
                <a:effectLst/>
                <a:latin typeface="source-serif-pro"/>
              </a:rPr>
              <a:t> Struggles to maintain consistent, personalized interactions over long conversations.</a:t>
            </a:r>
          </a:p>
          <a:p>
            <a:pPr algn="l">
              <a:lnSpc>
                <a:spcPts val="2400"/>
              </a:lnSpc>
              <a:buFont typeface="Arial" panose="020B0604020202020204" pitchFamily="34" charset="0"/>
              <a:buChar char="•"/>
            </a:pPr>
            <a:r>
              <a:rPr lang="en-US" b="1" i="0" dirty="0">
                <a:solidFill>
                  <a:srgbClr val="242424"/>
                </a:solidFill>
                <a:effectLst/>
                <a:latin typeface="source-serif-pro"/>
              </a:rPr>
              <a:t>Hallucinations:</a:t>
            </a:r>
            <a:r>
              <a:rPr lang="en-US" b="0" i="0" dirty="0">
                <a:solidFill>
                  <a:srgbClr val="242424"/>
                </a:solidFill>
                <a:effectLst/>
                <a:latin typeface="source-serif-pro"/>
              </a:rPr>
              <a:t> Can produce factually incorrect but coherent responses, generating outputs based on probabilities rather than verified knowledge.</a:t>
            </a:r>
          </a:p>
          <a:p>
            <a:pPr algn="l">
              <a:lnSpc>
                <a:spcPts val="2400"/>
              </a:lnSpc>
              <a:buFont typeface="Arial" panose="020B0604020202020204" pitchFamily="34" charset="0"/>
              <a:buChar char="•"/>
            </a:pPr>
            <a:endParaRPr lang="en-US" dirty="0">
              <a:solidFill>
                <a:srgbClr val="242424"/>
              </a:solidFill>
              <a:latin typeface="source-serif-pro"/>
            </a:endParaRPr>
          </a:p>
          <a:p>
            <a:pPr algn="l">
              <a:lnSpc>
                <a:spcPts val="2400"/>
              </a:lnSpc>
              <a:buFont typeface="Arial" panose="020B0604020202020204" pitchFamily="34" charset="0"/>
              <a:buChar char="•"/>
            </a:pPr>
            <a:endParaRPr lang="en-US" b="0" i="0" dirty="0">
              <a:solidFill>
                <a:srgbClr val="242424"/>
              </a:solidFill>
              <a:effectLst/>
              <a:latin typeface="source-serif-pro"/>
            </a:endParaRPr>
          </a:p>
          <a:p>
            <a:pPr algn="l">
              <a:lnSpc>
                <a:spcPts val="1800"/>
              </a:lnSpc>
              <a:buNone/>
            </a:pPr>
            <a:r>
              <a:rPr lang="en-US" b="1" i="0" dirty="0">
                <a:solidFill>
                  <a:srgbClr val="242424"/>
                </a:solidFill>
                <a:effectLst/>
                <a:latin typeface="sohne"/>
              </a:rPr>
              <a:t>1.3 From LLM-Powered Chatbots to RAG Chatbots and AI Agents</a:t>
            </a:r>
          </a:p>
          <a:p>
            <a:pPr algn="l">
              <a:lnSpc>
                <a:spcPts val="2400"/>
              </a:lnSpc>
              <a:buNone/>
            </a:pPr>
            <a:r>
              <a:rPr lang="en-US" b="1" i="0" dirty="0">
                <a:solidFill>
                  <a:srgbClr val="242424"/>
                </a:solidFill>
                <a:effectLst/>
                <a:latin typeface="source-serif-pro"/>
              </a:rPr>
              <a:t>RAG Chatbots: </a:t>
            </a:r>
            <a:r>
              <a:rPr lang="en-US" b="0" i="0" dirty="0">
                <a:solidFill>
                  <a:srgbClr val="242424"/>
                </a:solidFill>
                <a:effectLst/>
                <a:latin typeface="source-serif-pro"/>
              </a:rPr>
              <a:t>Retrieval-Augmented Generation (RAG) combines external data retrieval with LLM capabilities to produce accurate and contextually grounded responses.</a:t>
            </a:r>
          </a:p>
          <a:p>
            <a:pPr algn="l">
              <a:lnSpc>
                <a:spcPts val="2400"/>
              </a:lnSpc>
              <a:buNone/>
            </a:pPr>
            <a:r>
              <a:rPr lang="en-US" b="1" i="0" dirty="0">
                <a:solidFill>
                  <a:srgbClr val="242424"/>
                </a:solidFill>
                <a:effectLst/>
                <a:latin typeface="source-serif-pro"/>
              </a:rPr>
              <a:t>Sources of Knowledge:</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1" i="0" dirty="0">
                <a:solidFill>
                  <a:srgbClr val="242424"/>
                </a:solidFill>
                <a:effectLst/>
                <a:latin typeface="source-serif-pro"/>
              </a:rPr>
              <a:t>Non-Parametric Knowledge:</a:t>
            </a:r>
            <a:r>
              <a:rPr lang="en-US" b="0" i="0" dirty="0">
                <a:solidFill>
                  <a:srgbClr val="242424"/>
                </a:solidFill>
                <a:effectLst/>
                <a:latin typeface="source-serif-pro"/>
              </a:rPr>
              <a:t> Real-time data retrieved from external sources like the internet or proprietary databases.</a:t>
            </a:r>
          </a:p>
          <a:p>
            <a:pPr algn="l">
              <a:lnSpc>
                <a:spcPts val="2400"/>
              </a:lnSpc>
              <a:buFont typeface="Arial" panose="020B0604020202020204" pitchFamily="34" charset="0"/>
              <a:buChar char="•"/>
            </a:pPr>
            <a:r>
              <a:rPr lang="en-US" b="1" i="0" dirty="0">
                <a:solidFill>
                  <a:srgbClr val="242424"/>
                </a:solidFill>
                <a:effectLst/>
                <a:latin typeface="source-serif-pro"/>
              </a:rPr>
              <a:t>Parametric Knowledge:</a:t>
            </a:r>
            <a:r>
              <a:rPr lang="en-US" b="0" i="0" dirty="0">
                <a:solidFill>
                  <a:srgbClr val="242424"/>
                </a:solidFill>
                <a:effectLst/>
                <a:latin typeface="source-serif-pro"/>
              </a:rPr>
              <a:t> Embedded knowledge within the LLM from its training.</a:t>
            </a:r>
          </a:p>
          <a:p>
            <a:pPr algn="l">
              <a:lnSpc>
                <a:spcPts val="2400"/>
              </a:lnSpc>
              <a:buFont typeface="Arial" panose="020B0604020202020204" pitchFamily="34" charset="0"/>
              <a:buChar char="•"/>
            </a:pPr>
            <a:endParaRPr lang="en-US" b="0" i="0" dirty="0">
              <a:solidFill>
                <a:srgbClr val="242424"/>
              </a:solidFill>
              <a:effectLst/>
              <a:latin typeface="source-serif-pro"/>
            </a:endParaRPr>
          </a:p>
          <a:p>
            <a:pPr algn="l">
              <a:lnSpc>
                <a:spcPts val="2400"/>
              </a:lnSpc>
            </a:pPr>
            <a:endParaRPr lang="en-US" b="0" i="0" dirty="0">
              <a:solidFill>
                <a:srgbClr val="242424"/>
              </a:solidFill>
              <a:effectLst/>
              <a:latin typeface="source-serif-pro"/>
            </a:endParaRPr>
          </a:p>
          <a:p>
            <a:endParaRPr lang="en-US" dirty="0"/>
          </a:p>
        </p:txBody>
      </p:sp>
    </p:spTree>
    <p:extLst>
      <p:ext uri="{BB962C8B-B14F-4D97-AF65-F5344CB8AC3E}">
        <p14:creationId xmlns:p14="http://schemas.microsoft.com/office/powerpoint/2010/main" val="2479876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print"/>
          <a:stretch>
            <a:fillRect/>
          </a:stretch>
        </p:blipFill>
        <p:spPr>
          <a:xfrm>
            <a:off x="0" y="0"/>
            <a:ext cx="4572000" cy="6858000"/>
          </a:xfrm>
          <a:prstGeom prst="rect">
            <a:avLst/>
          </a:prstGeom>
        </p:spPr>
      </p:pic>
      <p:sp>
        <p:nvSpPr>
          <p:cNvPr id="3" name="Text 0"/>
          <p:cNvSpPr/>
          <p:nvPr/>
        </p:nvSpPr>
        <p:spPr>
          <a:xfrm>
            <a:off x="5224463" y="658416"/>
            <a:ext cx="6315075" cy="1165225"/>
          </a:xfrm>
          <a:prstGeom prst="rect">
            <a:avLst/>
          </a:prstGeom>
          <a:noFill/>
          <a:ln/>
        </p:spPr>
        <p:txBody>
          <a:bodyPr wrap="square" lIns="0" tIns="0" rIns="0" bIns="0" rtlCol="0" anchor="t"/>
          <a:lstStyle/>
          <a:p>
            <a:pPr>
              <a:lnSpc>
                <a:spcPts val="4583"/>
              </a:lnSpc>
            </a:pPr>
            <a:r>
              <a:rPr lang="en-US" sz="3700" b="1" dirty="0">
                <a:solidFill>
                  <a:srgbClr val="231971"/>
                </a:solidFill>
                <a:latin typeface="Outfit Extra Bold" pitchFamily="34" charset="0"/>
                <a:ea typeface="Outfit Extra Bold" pitchFamily="34" charset="-122"/>
                <a:cs typeface="Outfit Extra Bold" pitchFamily="34" charset="-120"/>
              </a:rPr>
              <a:t>Key Characteristics of  AI Agent</a:t>
            </a:r>
            <a:endParaRPr lang="en-US" sz="3700" dirty="0"/>
          </a:p>
        </p:txBody>
      </p:sp>
      <p:sp>
        <p:nvSpPr>
          <p:cNvPr id="4" name="Shape 1"/>
          <p:cNvSpPr/>
          <p:nvPr/>
        </p:nvSpPr>
        <p:spPr>
          <a:xfrm>
            <a:off x="5224463" y="2312889"/>
            <a:ext cx="419398" cy="419398"/>
          </a:xfrm>
          <a:prstGeom prst="roundRect">
            <a:avLst>
              <a:gd name="adj" fmla="val 18670"/>
            </a:avLst>
          </a:prstGeom>
          <a:solidFill>
            <a:srgbClr val="E9E6FA"/>
          </a:solidFill>
          <a:ln w="7620">
            <a:solidFill>
              <a:srgbClr val="BDB8DF"/>
            </a:solidFill>
            <a:prstDash val="solid"/>
          </a:ln>
        </p:spPr>
      </p:sp>
      <p:sp>
        <p:nvSpPr>
          <p:cNvPr id="5" name="Text 2"/>
          <p:cNvSpPr/>
          <p:nvPr/>
        </p:nvSpPr>
        <p:spPr>
          <a:xfrm>
            <a:off x="5379641" y="2382739"/>
            <a:ext cx="109042" cy="279698"/>
          </a:xfrm>
          <a:prstGeom prst="rect">
            <a:avLst/>
          </a:prstGeom>
          <a:noFill/>
          <a:ln/>
        </p:spPr>
        <p:txBody>
          <a:bodyPr wrap="none" lIns="0" tIns="0" rIns="0" bIns="0" rtlCol="0" anchor="t"/>
          <a:lstStyle/>
          <a:p>
            <a:pPr algn="ctr">
              <a:lnSpc>
                <a:spcPts val="2167"/>
              </a:lnSpc>
            </a:pPr>
            <a:r>
              <a:rPr lang="en-US" sz="2200" b="1" dirty="0">
                <a:solidFill>
                  <a:srgbClr val="2A2742"/>
                </a:solidFill>
                <a:latin typeface="Outfit Extra Bold" pitchFamily="34" charset="0"/>
                <a:ea typeface="Outfit Extra Bold" pitchFamily="34" charset="-122"/>
                <a:cs typeface="Outfit Extra Bold" pitchFamily="34" charset="-120"/>
              </a:rPr>
              <a:t>1</a:t>
            </a:r>
            <a:endParaRPr lang="en-US" sz="2200" dirty="0"/>
          </a:p>
        </p:txBody>
      </p:sp>
      <p:sp>
        <p:nvSpPr>
          <p:cNvPr id="6" name="Text 3"/>
          <p:cNvSpPr/>
          <p:nvPr/>
        </p:nvSpPr>
        <p:spPr>
          <a:xfrm>
            <a:off x="5830293" y="2312888"/>
            <a:ext cx="2330351" cy="291307"/>
          </a:xfrm>
          <a:prstGeom prst="rect">
            <a:avLst/>
          </a:prstGeom>
          <a:noFill/>
          <a:ln/>
        </p:spPr>
        <p:txBody>
          <a:bodyPr wrap="none" lIns="0" tIns="0" rIns="0" bIns="0" rtlCol="0" anchor="t"/>
          <a:lstStyle/>
          <a:p>
            <a:pPr>
              <a:lnSpc>
                <a:spcPts val="2292"/>
              </a:lnSpc>
            </a:pPr>
            <a:r>
              <a:rPr lang="en-US" b="1" dirty="0">
                <a:solidFill>
                  <a:srgbClr val="2A2742"/>
                </a:solidFill>
                <a:latin typeface="Outfit Extra Bold" pitchFamily="34" charset="0"/>
                <a:ea typeface="Outfit Extra Bold" pitchFamily="34" charset="-122"/>
                <a:cs typeface="Outfit Extra Bold" pitchFamily="34" charset="-120"/>
              </a:rPr>
              <a:t>Goal-Oriented</a:t>
            </a:r>
            <a:endParaRPr lang="en-US" dirty="0"/>
          </a:p>
        </p:txBody>
      </p:sp>
      <p:sp>
        <p:nvSpPr>
          <p:cNvPr id="7" name="Text 4"/>
          <p:cNvSpPr/>
          <p:nvPr/>
        </p:nvSpPr>
        <p:spPr>
          <a:xfrm>
            <a:off x="5830292" y="2716014"/>
            <a:ext cx="2458542" cy="1193007"/>
          </a:xfrm>
          <a:prstGeom prst="rect">
            <a:avLst/>
          </a:prstGeom>
          <a:noFill/>
          <a:ln/>
        </p:spPr>
        <p:txBody>
          <a:bodyPr wrap="square" lIns="0" tIns="0" rIns="0" bIns="0" rtlCol="0" anchor="t"/>
          <a:lstStyle/>
          <a:p>
            <a:pPr>
              <a:lnSpc>
                <a:spcPts val="2333"/>
              </a:lnSpc>
            </a:pPr>
            <a:r>
              <a:rPr lang="en-US" sz="1500" dirty="0">
                <a:solidFill>
                  <a:srgbClr val="2A2742"/>
                </a:solidFill>
                <a:latin typeface="Arimo" pitchFamily="34" charset="0"/>
                <a:ea typeface="Arimo" pitchFamily="34" charset="-122"/>
                <a:cs typeface="Arimo" pitchFamily="34" charset="-120"/>
              </a:rPr>
              <a:t> AI Agent systems are designed with specific goals in mind, driving their actions and decisions.</a:t>
            </a:r>
            <a:endParaRPr lang="en-US" sz="1500" dirty="0"/>
          </a:p>
        </p:txBody>
      </p:sp>
      <p:sp>
        <p:nvSpPr>
          <p:cNvPr id="8" name="Shape 5"/>
          <p:cNvSpPr/>
          <p:nvPr/>
        </p:nvSpPr>
        <p:spPr>
          <a:xfrm>
            <a:off x="8475266" y="2312889"/>
            <a:ext cx="419398" cy="419398"/>
          </a:xfrm>
          <a:prstGeom prst="roundRect">
            <a:avLst>
              <a:gd name="adj" fmla="val 18670"/>
            </a:avLst>
          </a:prstGeom>
          <a:solidFill>
            <a:srgbClr val="E9E6FA"/>
          </a:solidFill>
          <a:ln w="7620">
            <a:solidFill>
              <a:srgbClr val="BDB8DF"/>
            </a:solidFill>
            <a:prstDash val="solid"/>
          </a:ln>
        </p:spPr>
      </p:sp>
      <p:sp>
        <p:nvSpPr>
          <p:cNvPr id="9" name="Text 6"/>
          <p:cNvSpPr/>
          <p:nvPr/>
        </p:nvSpPr>
        <p:spPr>
          <a:xfrm>
            <a:off x="8604448" y="2382739"/>
            <a:ext cx="161032" cy="279698"/>
          </a:xfrm>
          <a:prstGeom prst="rect">
            <a:avLst/>
          </a:prstGeom>
          <a:noFill/>
          <a:ln/>
        </p:spPr>
        <p:txBody>
          <a:bodyPr wrap="none" lIns="0" tIns="0" rIns="0" bIns="0" rtlCol="0" anchor="t"/>
          <a:lstStyle/>
          <a:p>
            <a:pPr algn="ctr">
              <a:lnSpc>
                <a:spcPts val="2167"/>
              </a:lnSpc>
            </a:pPr>
            <a:r>
              <a:rPr lang="en-US" sz="2200" b="1" dirty="0">
                <a:solidFill>
                  <a:srgbClr val="2A2742"/>
                </a:solidFill>
                <a:latin typeface="Outfit Extra Bold" pitchFamily="34" charset="0"/>
                <a:ea typeface="Outfit Extra Bold" pitchFamily="34" charset="-122"/>
                <a:cs typeface="Outfit Extra Bold" pitchFamily="34" charset="-120"/>
              </a:rPr>
              <a:t>2</a:t>
            </a:r>
            <a:endParaRPr lang="en-US" sz="2200" dirty="0"/>
          </a:p>
        </p:txBody>
      </p:sp>
      <p:sp>
        <p:nvSpPr>
          <p:cNvPr id="10" name="Text 7"/>
          <p:cNvSpPr/>
          <p:nvPr/>
        </p:nvSpPr>
        <p:spPr>
          <a:xfrm>
            <a:off x="9081095" y="2312888"/>
            <a:ext cx="2330351" cy="291307"/>
          </a:xfrm>
          <a:prstGeom prst="rect">
            <a:avLst/>
          </a:prstGeom>
          <a:noFill/>
          <a:ln/>
        </p:spPr>
        <p:txBody>
          <a:bodyPr wrap="none" lIns="0" tIns="0" rIns="0" bIns="0" rtlCol="0" anchor="t"/>
          <a:lstStyle/>
          <a:p>
            <a:pPr>
              <a:lnSpc>
                <a:spcPts val="2292"/>
              </a:lnSpc>
            </a:pPr>
            <a:r>
              <a:rPr lang="en-US" b="1" dirty="0">
                <a:solidFill>
                  <a:srgbClr val="2A2742"/>
                </a:solidFill>
                <a:latin typeface="Outfit Extra Bold" pitchFamily="34" charset="0"/>
                <a:ea typeface="Outfit Extra Bold" pitchFamily="34" charset="-122"/>
                <a:cs typeface="Outfit Extra Bold" pitchFamily="34" charset="-120"/>
              </a:rPr>
              <a:t>Autonomous</a:t>
            </a:r>
            <a:endParaRPr lang="en-US" dirty="0"/>
          </a:p>
        </p:txBody>
      </p:sp>
      <p:sp>
        <p:nvSpPr>
          <p:cNvPr id="11" name="Text 8"/>
          <p:cNvSpPr/>
          <p:nvPr/>
        </p:nvSpPr>
        <p:spPr>
          <a:xfrm>
            <a:off x="9081095" y="2716014"/>
            <a:ext cx="2458542" cy="1491258"/>
          </a:xfrm>
          <a:prstGeom prst="rect">
            <a:avLst/>
          </a:prstGeom>
          <a:noFill/>
          <a:ln/>
        </p:spPr>
        <p:txBody>
          <a:bodyPr wrap="square" lIns="0" tIns="0" rIns="0" bIns="0" rtlCol="0" anchor="t"/>
          <a:lstStyle/>
          <a:p>
            <a:pPr>
              <a:lnSpc>
                <a:spcPts val="2333"/>
              </a:lnSpc>
            </a:pPr>
            <a:r>
              <a:rPr lang="en-US" sz="1500" dirty="0">
                <a:solidFill>
                  <a:srgbClr val="2A2742"/>
                </a:solidFill>
                <a:latin typeface="Arimo" pitchFamily="34" charset="0"/>
                <a:ea typeface="Arimo" pitchFamily="34" charset="-122"/>
                <a:cs typeface="Arimo" pitchFamily="34" charset="-120"/>
              </a:rPr>
              <a:t>They can operate independently, making decisions and taking actions without constant human intervention.</a:t>
            </a:r>
            <a:endParaRPr lang="en-US" sz="1500" dirty="0"/>
          </a:p>
        </p:txBody>
      </p:sp>
      <p:sp>
        <p:nvSpPr>
          <p:cNvPr id="12" name="Shape 9"/>
          <p:cNvSpPr/>
          <p:nvPr/>
        </p:nvSpPr>
        <p:spPr>
          <a:xfrm>
            <a:off x="5224463" y="4603354"/>
            <a:ext cx="419398" cy="419398"/>
          </a:xfrm>
          <a:prstGeom prst="roundRect">
            <a:avLst>
              <a:gd name="adj" fmla="val 18670"/>
            </a:avLst>
          </a:prstGeom>
          <a:solidFill>
            <a:srgbClr val="E9E6FA"/>
          </a:solidFill>
          <a:ln w="7620">
            <a:solidFill>
              <a:srgbClr val="BDB8DF"/>
            </a:solidFill>
            <a:prstDash val="solid"/>
          </a:ln>
        </p:spPr>
      </p:sp>
      <p:sp>
        <p:nvSpPr>
          <p:cNvPr id="13" name="Text 10"/>
          <p:cNvSpPr/>
          <p:nvPr/>
        </p:nvSpPr>
        <p:spPr>
          <a:xfrm>
            <a:off x="5354638" y="4673204"/>
            <a:ext cx="159048" cy="279698"/>
          </a:xfrm>
          <a:prstGeom prst="rect">
            <a:avLst/>
          </a:prstGeom>
          <a:noFill/>
          <a:ln/>
        </p:spPr>
        <p:txBody>
          <a:bodyPr wrap="none" lIns="0" tIns="0" rIns="0" bIns="0" rtlCol="0" anchor="t"/>
          <a:lstStyle/>
          <a:p>
            <a:pPr algn="ctr">
              <a:lnSpc>
                <a:spcPts val="2167"/>
              </a:lnSpc>
            </a:pPr>
            <a:r>
              <a:rPr lang="en-US" sz="2200" b="1" dirty="0">
                <a:solidFill>
                  <a:srgbClr val="2A2742"/>
                </a:solidFill>
                <a:latin typeface="Outfit Extra Bold" pitchFamily="34" charset="0"/>
                <a:ea typeface="Outfit Extra Bold" pitchFamily="34" charset="-122"/>
                <a:cs typeface="Outfit Extra Bold" pitchFamily="34" charset="-120"/>
              </a:rPr>
              <a:t>3</a:t>
            </a:r>
            <a:endParaRPr lang="en-US" sz="2200" dirty="0"/>
          </a:p>
        </p:txBody>
      </p:sp>
      <p:sp>
        <p:nvSpPr>
          <p:cNvPr id="14" name="Text 11"/>
          <p:cNvSpPr/>
          <p:nvPr/>
        </p:nvSpPr>
        <p:spPr>
          <a:xfrm>
            <a:off x="5830293" y="4603353"/>
            <a:ext cx="2330351" cy="291307"/>
          </a:xfrm>
          <a:prstGeom prst="rect">
            <a:avLst/>
          </a:prstGeom>
          <a:noFill/>
          <a:ln/>
        </p:spPr>
        <p:txBody>
          <a:bodyPr wrap="none" lIns="0" tIns="0" rIns="0" bIns="0" rtlCol="0" anchor="t"/>
          <a:lstStyle/>
          <a:p>
            <a:pPr>
              <a:lnSpc>
                <a:spcPts val="2292"/>
              </a:lnSpc>
            </a:pPr>
            <a:r>
              <a:rPr lang="en-US" b="1" dirty="0">
                <a:solidFill>
                  <a:srgbClr val="2A2742"/>
                </a:solidFill>
                <a:latin typeface="Outfit Extra Bold" pitchFamily="34" charset="0"/>
                <a:ea typeface="Outfit Extra Bold" pitchFamily="34" charset="-122"/>
                <a:cs typeface="Outfit Extra Bold" pitchFamily="34" charset="-120"/>
              </a:rPr>
              <a:t>Self-Learning</a:t>
            </a:r>
            <a:endParaRPr lang="en-US" dirty="0"/>
          </a:p>
        </p:txBody>
      </p:sp>
      <p:sp>
        <p:nvSpPr>
          <p:cNvPr id="15" name="Text 12"/>
          <p:cNvSpPr/>
          <p:nvPr/>
        </p:nvSpPr>
        <p:spPr>
          <a:xfrm>
            <a:off x="5830292" y="5006479"/>
            <a:ext cx="2458542" cy="1193007"/>
          </a:xfrm>
          <a:prstGeom prst="rect">
            <a:avLst/>
          </a:prstGeom>
          <a:noFill/>
          <a:ln/>
        </p:spPr>
        <p:txBody>
          <a:bodyPr wrap="square" lIns="0" tIns="0" rIns="0" bIns="0" rtlCol="0" anchor="t"/>
          <a:lstStyle/>
          <a:p>
            <a:pPr>
              <a:lnSpc>
                <a:spcPts val="2333"/>
              </a:lnSpc>
            </a:pPr>
            <a:r>
              <a:rPr lang="en-US" sz="1500" dirty="0">
                <a:solidFill>
                  <a:srgbClr val="2A2742"/>
                </a:solidFill>
                <a:latin typeface="Arimo" pitchFamily="34" charset="0"/>
                <a:ea typeface="Arimo" pitchFamily="34" charset="-122"/>
                <a:cs typeface="Arimo" pitchFamily="34" charset="-120"/>
              </a:rPr>
              <a:t>AI Agent  continuously learns and improves its performance based on data and feedback.</a:t>
            </a:r>
            <a:endParaRPr lang="en-US" sz="1500" dirty="0"/>
          </a:p>
        </p:txBody>
      </p:sp>
      <p:sp>
        <p:nvSpPr>
          <p:cNvPr id="16" name="Shape 13"/>
          <p:cNvSpPr/>
          <p:nvPr/>
        </p:nvSpPr>
        <p:spPr>
          <a:xfrm>
            <a:off x="8475266" y="4603354"/>
            <a:ext cx="419398" cy="419398"/>
          </a:xfrm>
          <a:prstGeom prst="roundRect">
            <a:avLst>
              <a:gd name="adj" fmla="val 18670"/>
            </a:avLst>
          </a:prstGeom>
          <a:solidFill>
            <a:srgbClr val="E9E6FA"/>
          </a:solidFill>
          <a:ln w="7620">
            <a:solidFill>
              <a:srgbClr val="BDB8DF"/>
            </a:solidFill>
            <a:prstDash val="solid"/>
          </a:ln>
        </p:spPr>
      </p:sp>
      <p:sp>
        <p:nvSpPr>
          <p:cNvPr id="17" name="Text 14"/>
          <p:cNvSpPr/>
          <p:nvPr/>
        </p:nvSpPr>
        <p:spPr>
          <a:xfrm>
            <a:off x="8599290" y="4673204"/>
            <a:ext cx="171351" cy="279698"/>
          </a:xfrm>
          <a:prstGeom prst="rect">
            <a:avLst/>
          </a:prstGeom>
          <a:noFill/>
          <a:ln/>
        </p:spPr>
        <p:txBody>
          <a:bodyPr wrap="none" lIns="0" tIns="0" rIns="0" bIns="0" rtlCol="0" anchor="t"/>
          <a:lstStyle/>
          <a:p>
            <a:pPr algn="ctr">
              <a:lnSpc>
                <a:spcPts val="2167"/>
              </a:lnSpc>
            </a:pPr>
            <a:r>
              <a:rPr lang="en-US" sz="2200" b="1" dirty="0">
                <a:solidFill>
                  <a:srgbClr val="2A2742"/>
                </a:solidFill>
                <a:latin typeface="Outfit Extra Bold" pitchFamily="34" charset="0"/>
                <a:ea typeface="Outfit Extra Bold" pitchFamily="34" charset="-122"/>
                <a:cs typeface="Outfit Extra Bold" pitchFamily="34" charset="-120"/>
              </a:rPr>
              <a:t>4</a:t>
            </a:r>
            <a:endParaRPr lang="en-US" sz="2200" dirty="0"/>
          </a:p>
        </p:txBody>
      </p:sp>
      <p:sp>
        <p:nvSpPr>
          <p:cNvPr id="18" name="Text 15"/>
          <p:cNvSpPr/>
          <p:nvPr/>
        </p:nvSpPr>
        <p:spPr>
          <a:xfrm>
            <a:off x="9081095" y="4603353"/>
            <a:ext cx="2437110" cy="291307"/>
          </a:xfrm>
          <a:prstGeom prst="rect">
            <a:avLst/>
          </a:prstGeom>
          <a:noFill/>
          <a:ln/>
        </p:spPr>
        <p:txBody>
          <a:bodyPr wrap="none" lIns="0" tIns="0" rIns="0" bIns="0" rtlCol="0" anchor="t"/>
          <a:lstStyle/>
          <a:p>
            <a:pPr>
              <a:lnSpc>
                <a:spcPts val="2292"/>
              </a:lnSpc>
            </a:pPr>
            <a:r>
              <a:rPr lang="en-US" b="1" dirty="0">
                <a:solidFill>
                  <a:srgbClr val="2A2742"/>
                </a:solidFill>
                <a:latin typeface="Outfit Extra Bold" pitchFamily="34" charset="0"/>
                <a:ea typeface="Outfit Extra Bold" pitchFamily="34" charset="-122"/>
                <a:cs typeface="Outfit Extra Bold" pitchFamily="34" charset="-120"/>
              </a:rPr>
              <a:t>Contextual Awareness</a:t>
            </a:r>
            <a:endParaRPr lang="en-US" dirty="0"/>
          </a:p>
        </p:txBody>
      </p:sp>
      <p:sp>
        <p:nvSpPr>
          <p:cNvPr id="19" name="Text 16"/>
          <p:cNvSpPr/>
          <p:nvPr/>
        </p:nvSpPr>
        <p:spPr>
          <a:xfrm>
            <a:off x="9081095" y="5006479"/>
            <a:ext cx="2458542" cy="1193007"/>
          </a:xfrm>
          <a:prstGeom prst="rect">
            <a:avLst/>
          </a:prstGeom>
          <a:noFill/>
          <a:ln/>
        </p:spPr>
        <p:txBody>
          <a:bodyPr wrap="square" lIns="0" tIns="0" rIns="0" bIns="0" rtlCol="0" anchor="t"/>
          <a:lstStyle/>
          <a:p>
            <a:pPr>
              <a:lnSpc>
                <a:spcPts val="2333"/>
              </a:lnSpc>
            </a:pPr>
            <a:r>
              <a:rPr lang="en-US" sz="1500" dirty="0">
                <a:solidFill>
                  <a:srgbClr val="2A2742"/>
                </a:solidFill>
                <a:latin typeface="Arimo" pitchFamily="34" charset="0"/>
                <a:ea typeface="Arimo" pitchFamily="34" charset="-122"/>
                <a:cs typeface="Arimo" pitchFamily="34" charset="-120"/>
              </a:rPr>
              <a:t>They can understand and adapt to changing contexts, making decisions based on real-time information.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Use cases</a:t>
            </a:r>
          </a:p>
        </p:txBody>
      </p:sp>
      <p:sp>
        <p:nvSpPr>
          <p:cNvPr id="3" name="TextBox 2">
            <a:extLst>
              <a:ext uri="{FF2B5EF4-FFF2-40B4-BE49-F238E27FC236}">
                <a16:creationId xmlns:a16="http://schemas.microsoft.com/office/drawing/2014/main" id="{E3CF1691-072A-A8C5-9DDC-DA394C27CE08}"/>
              </a:ext>
            </a:extLst>
          </p:cNvPr>
          <p:cNvSpPr txBox="1"/>
          <p:nvPr/>
        </p:nvSpPr>
        <p:spPr>
          <a:xfrm>
            <a:off x="440286" y="1661627"/>
            <a:ext cx="5018615" cy="4401205"/>
          </a:xfrm>
          <a:prstGeom prst="rect">
            <a:avLst/>
          </a:prstGeom>
          <a:noFill/>
        </p:spPr>
        <p:txBody>
          <a:bodyPr wrap="square">
            <a:spAutoFit/>
          </a:bodyPr>
          <a:lstStyle/>
          <a:p>
            <a:pPr>
              <a:buFont typeface="Arial" panose="020B0604020202020204" pitchFamily="34" charset="0"/>
              <a:buChar char="•"/>
            </a:pPr>
            <a:r>
              <a:rPr lang="en-US" sz="1400" b="1" dirty="0"/>
              <a:t>Customer Service</a:t>
            </a:r>
            <a:r>
              <a:rPr lang="en-US" sz="1400" dirty="0"/>
              <a:t> Automated chatbots handling initial customer inquiries</a:t>
            </a:r>
          </a:p>
          <a:p>
            <a:pPr>
              <a:buFont typeface="Arial" panose="020B0604020202020204" pitchFamily="34" charset="0"/>
              <a:buChar char="•"/>
            </a:pPr>
            <a:r>
              <a:rPr lang="en-US" sz="1400" dirty="0"/>
              <a:t>Virtual assistants providing 24/7 support</a:t>
            </a:r>
          </a:p>
          <a:p>
            <a:pPr>
              <a:buFont typeface="Arial" panose="020B0604020202020204" pitchFamily="34" charset="0"/>
              <a:buChar char="•"/>
            </a:pPr>
            <a:r>
              <a:rPr lang="en-US" sz="1400" dirty="0"/>
              <a:t>AI agents resolving common issues without human intervention</a:t>
            </a:r>
          </a:p>
          <a:p>
            <a:endParaRPr lang="en-US" sz="1400" dirty="0"/>
          </a:p>
          <a:p>
            <a:pPr>
              <a:buFont typeface="Arial" panose="020B0604020202020204" pitchFamily="34" charset="0"/>
              <a:buChar char="•"/>
            </a:pPr>
            <a:r>
              <a:rPr lang="en-US" sz="1400" b="1" dirty="0"/>
              <a:t>Personal Productivity</a:t>
            </a:r>
            <a:r>
              <a:rPr lang="en-US" sz="1400" dirty="0"/>
              <a:t> Digital assistants managing calendars and scheduling</a:t>
            </a:r>
          </a:p>
          <a:p>
            <a:pPr>
              <a:buFont typeface="Arial" panose="020B0604020202020204" pitchFamily="34" charset="0"/>
              <a:buChar char="•"/>
            </a:pPr>
            <a:r>
              <a:rPr lang="en-US" sz="1400" dirty="0"/>
              <a:t>Email sorting and prioritization agents</a:t>
            </a:r>
          </a:p>
          <a:p>
            <a:pPr>
              <a:buFont typeface="Arial" panose="020B0604020202020204" pitchFamily="34" charset="0"/>
              <a:buChar char="•"/>
            </a:pPr>
            <a:r>
              <a:rPr lang="en-US" sz="1400" dirty="0"/>
              <a:t>Task management systems with intelligent recommendations</a:t>
            </a:r>
          </a:p>
          <a:p>
            <a:pPr>
              <a:buFont typeface="Arial" panose="020B0604020202020204" pitchFamily="34" charset="0"/>
              <a:buChar char="•"/>
            </a:pPr>
            <a:endParaRPr lang="en-US" sz="1400" b="1" dirty="0"/>
          </a:p>
          <a:p>
            <a:pPr>
              <a:buFont typeface="Arial" panose="020B0604020202020204" pitchFamily="34" charset="0"/>
              <a:buChar char="•"/>
            </a:pPr>
            <a:r>
              <a:rPr lang="en-US" sz="1400" b="1" dirty="0"/>
              <a:t>Healthcare</a:t>
            </a:r>
            <a:r>
              <a:rPr lang="en-US" sz="1400" dirty="0"/>
              <a:t> Diagnostic support agents analyzing patient symptoms</a:t>
            </a:r>
          </a:p>
          <a:p>
            <a:pPr>
              <a:buFont typeface="Arial" panose="020B0604020202020204" pitchFamily="34" charset="0"/>
              <a:buChar char="•"/>
            </a:pPr>
            <a:r>
              <a:rPr lang="en-US" sz="1400" dirty="0"/>
              <a:t>Medication management assistants for patients</a:t>
            </a:r>
          </a:p>
          <a:p>
            <a:pPr>
              <a:buFont typeface="Arial" panose="020B0604020202020204" pitchFamily="34" charset="0"/>
              <a:buChar char="•"/>
            </a:pPr>
            <a:r>
              <a:rPr lang="en-US" sz="1400" dirty="0"/>
              <a:t>Administrative agents handling appointment scheduling and records</a:t>
            </a:r>
          </a:p>
          <a:p>
            <a:pPr>
              <a:buFont typeface="Arial" panose="020B0604020202020204" pitchFamily="34" charset="0"/>
              <a:buChar char="•"/>
            </a:pPr>
            <a:endParaRPr lang="en-US" sz="1400" b="1" dirty="0"/>
          </a:p>
          <a:p>
            <a:pPr>
              <a:buFont typeface="Arial" panose="020B0604020202020204" pitchFamily="34" charset="0"/>
              <a:buChar char="•"/>
            </a:pPr>
            <a:r>
              <a:rPr lang="en-US" sz="1400" b="1" dirty="0"/>
              <a:t>Financial Services</a:t>
            </a:r>
            <a:r>
              <a:rPr lang="en-US" sz="1400" dirty="0"/>
              <a:t> Robo-advisors managing investment portfolios</a:t>
            </a:r>
          </a:p>
          <a:p>
            <a:pPr>
              <a:buFont typeface="Arial" panose="020B0604020202020204" pitchFamily="34" charset="0"/>
              <a:buChar char="•"/>
            </a:pPr>
            <a:r>
              <a:rPr lang="en-US" sz="1400" dirty="0"/>
              <a:t>Fraud detection agents monitoring transactions</a:t>
            </a:r>
          </a:p>
          <a:p>
            <a:pPr>
              <a:buFont typeface="Arial" panose="020B0604020202020204" pitchFamily="34" charset="0"/>
              <a:buChar char="•"/>
            </a:pPr>
            <a:r>
              <a:rPr lang="en-US" sz="1400" dirty="0"/>
              <a:t>Insurance claim processing automation</a:t>
            </a:r>
          </a:p>
        </p:txBody>
      </p:sp>
      <p:pic>
        <p:nvPicPr>
          <p:cNvPr id="19458" name="Picture 2" descr="2+ Thousand Chatbot Funny Royalty-Free Images, Stock Photos &amp; Pictures |  Shutterstock">
            <a:extLst>
              <a:ext uri="{FF2B5EF4-FFF2-40B4-BE49-F238E27FC236}">
                <a16:creationId xmlns:a16="http://schemas.microsoft.com/office/drawing/2014/main" id="{8B2EA422-0DCA-57A7-2A62-9030682CA7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39029" y="1167788"/>
            <a:ext cx="5018614" cy="1672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534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9E85052-F845-427F-7B87-D0CD69CBA346}"/>
              </a:ext>
            </a:extLst>
          </p:cNvPr>
          <p:cNvSpPr txBox="1">
            <a:spLocks noGrp="1"/>
          </p:cNvSpPr>
          <p:nvPr>
            <p:ph type="body" idx="1"/>
          </p:nvPr>
        </p:nvSpPr>
        <p:spPr>
          <a:xfrm>
            <a:off x="457200" y="1447800"/>
            <a:ext cx="8391525" cy="4038600"/>
          </a:xfrm>
          <a:prstGeom prst="rect">
            <a:avLst/>
          </a:prstGeom>
          <a:noFill/>
        </p:spPr>
        <p:txBody>
          <a:bodyPr wrap="square">
            <a:spAutoFit/>
          </a:bodyPr>
          <a:lstStyle/>
          <a:p>
            <a:pPr>
              <a:buFont typeface="Arial" panose="020B0604020202020204" pitchFamily="34" charset="0"/>
              <a:buChar char="•"/>
            </a:pPr>
            <a:r>
              <a:rPr lang="en-US" sz="1400" b="1" dirty="0"/>
              <a:t>Sales and Marketing</a:t>
            </a:r>
            <a:r>
              <a:rPr lang="en-US" sz="1400" dirty="0"/>
              <a:t> Lead qualification and scoring agents</a:t>
            </a:r>
          </a:p>
          <a:p>
            <a:pPr>
              <a:buFont typeface="Arial" panose="020B0604020202020204" pitchFamily="34" charset="0"/>
              <a:buChar char="•"/>
            </a:pPr>
            <a:r>
              <a:rPr lang="en-US" sz="1400" dirty="0"/>
              <a:t>Personalized product recommendation engines</a:t>
            </a:r>
          </a:p>
          <a:p>
            <a:pPr>
              <a:buFont typeface="Arial" panose="020B0604020202020204" pitchFamily="34" charset="0"/>
              <a:buChar char="•"/>
            </a:pPr>
            <a:r>
              <a:rPr lang="en-US" sz="1400" dirty="0"/>
              <a:t>Marketing automation tools optimizing campaigns</a:t>
            </a:r>
          </a:p>
          <a:p>
            <a:pPr>
              <a:buFont typeface="Arial" panose="020B0604020202020204" pitchFamily="34" charset="0"/>
              <a:buChar char="•"/>
            </a:pPr>
            <a:endParaRPr lang="en-US" sz="1400" dirty="0"/>
          </a:p>
          <a:p>
            <a:pPr>
              <a:buFont typeface="Arial" panose="020B0604020202020204" pitchFamily="34" charset="0"/>
              <a:buChar char="•"/>
            </a:pPr>
            <a:r>
              <a:rPr lang="en-US" sz="1400" b="1" dirty="0"/>
              <a:t>Manufacturing and Supply Chain</a:t>
            </a:r>
            <a:r>
              <a:rPr lang="en-US" sz="1400" dirty="0"/>
              <a:t> Predictive maintenance agents monitoring equipment</a:t>
            </a:r>
          </a:p>
          <a:p>
            <a:pPr>
              <a:buFont typeface="Arial" panose="020B0604020202020204" pitchFamily="34" charset="0"/>
              <a:buChar char="•"/>
            </a:pPr>
            <a:r>
              <a:rPr lang="en-US" sz="1400" dirty="0"/>
              <a:t>Inventory optimization systems</a:t>
            </a:r>
          </a:p>
          <a:p>
            <a:pPr>
              <a:buFont typeface="Arial" panose="020B0604020202020204" pitchFamily="34" charset="0"/>
              <a:buChar char="•"/>
            </a:pPr>
            <a:r>
              <a:rPr lang="en-US" sz="1400" dirty="0"/>
              <a:t>Quality control agents detecting defects</a:t>
            </a:r>
          </a:p>
          <a:p>
            <a:pPr>
              <a:buFont typeface="Arial" panose="020B0604020202020204" pitchFamily="34" charset="0"/>
              <a:buChar char="•"/>
            </a:pPr>
            <a:endParaRPr lang="en-US" sz="1400" b="1" dirty="0"/>
          </a:p>
          <a:p>
            <a:pPr>
              <a:buFont typeface="Arial" panose="020B0604020202020204" pitchFamily="34" charset="0"/>
              <a:buChar char="•"/>
            </a:pPr>
            <a:r>
              <a:rPr lang="en-US" sz="1400" b="1" dirty="0"/>
              <a:t>Education</a:t>
            </a:r>
            <a:r>
              <a:rPr lang="en-US" sz="1400" dirty="0"/>
              <a:t> Tutoring agents providing personalized learning</a:t>
            </a:r>
          </a:p>
          <a:p>
            <a:pPr>
              <a:buFont typeface="Arial" panose="020B0604020202020204" pitchFamily="34" charset="0"/>
              <a:buChar char="•"/>
            </a:pPr>
            <a:r>
              <a:rPr lang="en-US" sz="1400" dirty="0"/>
              <a:t>Grading assistants evaluating assignments</a:t>
            </a:r>
          </a:p>
          <a:p>
            <a:pPr>
              <a:buFont typeface="Arial" panose="020B0604020202020204" pitchFamily="34" charset="0"/>
              <a:buChar char="•"/>
            </a:pPr>
            <a:r>
              <a:rPr lang="en-US" sz="1400" dirty="0"/>
              <a:t>Course recommendation agents suggesting appropriate classes</a:t>
            </a:r>
          </a:p>
          <a:p>
            <a:pPr>
              <a:buFont typeface="Arial" panose="020B0604020202020204" pitchFamily="34" charset="0"/>
              <a:buChar char="•"/>
            </a:pPr>
            <a:endParaRPr lang="en-US" sz="1400" b="1" dirty="0"/>
          </a:p>
          <a:p>
            <a:pPr>
              <a:buFont typeface="Arial" panose="020B0604020202020204" pitchFamily="34" charset="0"/>
              <a:buChar char="•"/>
            </a:pPr>
            <a:r>
              <a:rPr lang="en-US" sz="1400" b="1" dirty="0"/>
              <a:t>Home Automation</a:t>
            </a:r>
            <a:r>
              <a:rPr lang="en-US" sz="1400" dirty="0"/>
              <a:t> Smart home assistants controlling devices and systems</a:t>
            </a:r>
          </a:p>
          <a:p>
            <a:pPr>
              <a:buFont typeface="Arial" panose="020B0604020202020204" pitchFamily="34" charset="0"/>
              <a:buChar char="•"/>
            </a:pPr>
            <a:r>
              <a:rPr lang="en-US" sz="1400" dirty="0"/>
              <a:t>Security monitoring agents detecting unusual activity</a:t>
            </a:r>
          </a:p>
          <a:p>
            <a:pPr>
              <a:buFont typeface="Arial" panose="020B0604020202020204" pitchFamily="34" charset="0"/>
              <a:buChar char="•"/>
            </a:pPr>
            <a:r>
              <a:rPr lang="en-US" sz="1400" dirty="0"/>
              <a:t>Energy optimization agents managing consumption</a:t>
            </a:r>
          </a:p>
        </p:txBody>
      </p:sp>
      <p:sp>
        <p:nvSpPr>
          <p:cNvPr id="5" name="TextBox 4">
            <a:extLst>
              <a:ext uri="{FF2B5EF4-FFF2-40B4-BE49-F238E27FC236}">
                <a16:creationId xmlns:a16="http://schemas.microsoft.com/office/drawing/2014/main" id="{59E85052-F845-427F-7B87-D0CD69CBA346}"/>
              </a:ext>
            </a:extLst>
          </p:cNvPr>
          <p:cNvSpPr txBox="1"/>
          <p:nvPr/>
        </p:nvSpPr>
        <p:spPr>
          <a:xfrm>
            <a:off x="304800" y="228600"/>
            <a:ext cx="10972800" cy="4708981"/>
          </a:xfrm>
          <a:prstGeom prst="rect">
            <a:avLst/>
          </a:prstGeom>
          <a:noFill/>
        </p:spPr>
        <p:txBody>
          <a:bodyPr wrap="square">
            <a:spAutoFit/>
          </a:bodyPr>
          <a:lstStyle/>
          <a:p>
            <a:pPr>
              <a:buFont typeface="Arial" panose="020B0604020202020204" pitchFamily="34" charset="0"/>
              <a:buChar char="•"/>
            </a:pPr>
            <a:r>
              <a:rPr lang="en-US" sz="2000" b="1" dirty="0"/>
              <a:t>Sales and Marketing</a:t>
            </a:r>
            <a:r>
              <a:rPr lang="en-US" sz="2000" dirty="0"/>
              <a:t> Lead qualification and scoring agents</a:t>
            </a:r>
          </a:p>
          <a:p>
            <a:pPr>
              <a:buFont typeface="Arial" panose="020B0604020202020204" pitchFamily="34" charset="0"/>
              <a:buChar char="•"/>
            </a:pPr>
            <a:r>
              <a:rPr lang="en-US" sz="2000" dirty="0"/>
              <a:t>Personalized product recommendation engines</a:t>
            </a:r>
          </a:p>
          <a:p>
            <a:pPr>
              <a:buFont typeface="Arial" panose="020B0604020202020204" pitchFamily="34" charset="0"/>
              <a:buChar char="•"/>
            </a:pPr>
            <a:r>
              <a:rPr lang="en-US" sz="2000" dirty="0"/>
              <a:t>Marketing automation tools optimizing campaigns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Manufacturing and Supply Chain</a:t>
            </a:r>
            <a:r>
              <a:rPr lang="en-US" sz="2000" dirty="0"/>
              <a:t> Predictive maintenance agents monitoring equipment</a:t>
            </a:r>
          </a:p>
          <a:p>
            <a:pPr>
              <a:buFont typeface="Arial" panose="020B0604020202020204" pitchFamily="34" charset="0"/>
              <a:buChar char="•"/>
            </a:pPr>
            <a:r>
              <a:rPr lang="en-US" sz="2000" dirty="0"/>
              <a:t>Inventory optimization systems</a:t>
            </a:r>
          </a:p>
          <a:p>
            <a:pPr>
              <a:buFont typeface="Arial" panose="020B0604020202020204" pitchFamily="34" charset="0"/>
              <a:buChar char="•"/>
            </a:pPr>
            <a:r>
              <a:rPr lang="en-US" sz="2000" dirty="0"/>
              <a:t>Quality control agents detecting defects</a:t>
            </a:r>
          </a:p>
          <a:p>
            <a:pPr>
              <a:buFont typeface="Arial" panose="020B0604020202020204" pitchFamily="34" charset="0"/>
              <a:buChar char="•"/>
            </a:pPr>
            <a:endParaRPr lang="en-US" sz="2000" b="1" dirty="0"/>
          </a:p>
          <a:p>
            <a:pPr>
              <a:buFont typeface="Arial" panose="020B0604020202020204" pitchFamily="34" charset="0"/>
              <a:buChar char="•"/>
            </a:pPr>
            <a:r>
              <a:rPr lang="en-US" sz="2000" b="1" dirty="0"/>
              <a:t>Education</a:t>
            </a:r>
            <a:r>
              <a:rPr lang="en-US" sz="2000" dirty="0"/>
              <a:t> Tutoring agents providing personalized learning</a:t>
            </a:r>
          </a:p>
          <a:p>
            <a:pPr>
              <a:buFont typeface="Arial" panose="020B0604020202020204" pitchFamily="34" charset="0"/>
              <a:buChar char="•"/>
            </a:pPr>
            <a:r>
              <a:rPr lang="en-US" sz="2000" dirty="0"/>
              <a:t>Grading assistants evaluating assignments</a:t>
            </a:r>
          </a:p>
          <a:p>
            <a:pPr>
              <a:buFont typeface="Arial" panose="020B0604020202020204" pitchFamily="34" charset="0"/>
              <a:buChar char="•"/>
            </a:pPr>
            <a:r>
              <a:rPr lang="en-US" sz="2000" dirty="0"/>
              <a:t>Course recommendation agents suggesting appropriate classes</a:t>
            </a:r>
          </a:p>
          <a:p>
            <a:pPr>
              <a:buFont typeface="Arial" panose="020B0604020202020204" pitchFamily="34" charset="0"/>
              <a:buChar char="•"/>
            </a:pPr>
            <a:endParaRPr lang="en-US" sz="2000" b="1" dirty="0"/>
          </a:p>
          <a:p>
            <a:pPr>
              <a:buFont typeface="Arial" panose="020B0604020202020204" pitchFamily="34" charset="0"/>
              <a:buChar char="•"/>
            </a:pPr>
            <a:r>
              <a:rPr lang="en-US" sz="2000" b="1" dirty="0"/>
              <a:t>Home Automation</a:t>
            </a:r>
            <a:r>
              <a:rPr lang="en-US" sz="2000" dirty="0"/>
              <a:t> Smart home assistants controlling devices and systems</a:t>
            </a:r>
          </a:p>
          <a:p>
            <a:pPr>
              <a:buFont typeface="Arial" panose="020B0604020202020204" pitchFamily="34" charset="0"/>
              <a:buChar char="•"/>
            </a:pPr>
            <a:r>
              <a:rPr lang="en-US" sz="2000" dirty="0"/>
              <a:t>Security monitoring agents detecting unusual activity</a:t>
            </a:r>
          </a:p>
          <a:p>
            <a:pPr>
              <a:buFont typeface="Arial" panose="020B0604020202020204" pitchFamily="34" charset="0"/>
              <a:buChar char="•"/>
            </a:pPr>
            <a:r>
              <a:rPr lang="en-US" sz="2000" dirty="0"/>
              <a:t>Energy optimization agents managing consumption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95AC0-6B81-065F-4D3A-9815B8854960}"/>
              </a:ext>
            </a:extLst>
          </p:cNvPr>
          <p:cNvSpPr>
            <a:spLocks noGrp="1"/>
          </p:cNvSpPr>
          <p:nvPr>
            <p:ph type="title"/>
          </p:nvPr>
        </p:nvSpPr>
        <p:spPr>
          <a:xfrm>
            <a:off x="425132" y="147574"/>
            <a:ext cx="11341735" cy="1107996"/>
          </a:xfrm>
        </p:spPr>
        <p:txBody>
          <a:bodyPr/>
          <a:lstStyle/>
          <a:p>
            <a:r>
              <a:rPr lang="en-US" b="1" i="0" dirty="0">
                <a:solidFill>
                  <a:srgbClr val="242424"/>
                </a:solidFill>
                <a:effectLst/>
                <a:latin typeface="sohne"/>
              </a:rPr>
              <a:t>✅ When to use agents / ⛔ When to avoid them</a:t>
            </a:r>
            <a:br>
              <a:rPr lang="en-US" b="1" i="0" dirty="0">
                <a:solidFill>
                  <a:srgbClr val="242424"/>
                </a:solidFill>
                <a:effectLst/>
                <a:latin typeface="sohne"/>
              </a:rPr>
            </a:br>
            <a:endParaRPr lang="en-US" dirty="0"/>
          </a:p>
        </p:txBody>
      </p:sp>
      <p:sp>
        <p:nvSpPr>
          <p:cNvPr id="3" name="TextBox 2">
            <a:extLst>
              <a:ext uri="{FF2B5EF4-FFF2-40B4-BE49-F238E27FC236}">
                <a16:creationId xmlns:a16="http://schemas.microsoft.com/office/drawing/2014/main" id="{D04927F2-4804-037C-C36F-6DFB8FBB863C}"/>
              </a:ext>
            </a:extLst>
          </p:cNvPr>
          <p:cNvSpPr txBox="1"/>
          <p:nvPr/>
        </p:nvSpPr>
        <p:spPr>
          <a:xfrm>
            <a:off x="228599" y="838200"/>
            <a:ext cx="11538268" cy="6186309"/>
          </a:xfrm>
          <a:prstGeom prst="rect">
            <a:avLst/>
          </a:prstGeom>
          <a:noFill/>
        </p:spPr>
        <p:txBody>
          <a:bodyPr wrap="square" rtlCol="0">
            <a:spAutoFit/>
          </a:bodyPr>
          <a:lstStyle/>
          <a:p>
            <a:r>
              <a:rPr lang="en-US" b="1" dirty="0"/>
              <a:t>Task:</a:t>
            </a:r>
            <a:r>
              <a:rPr lang="en-US" dirty="0"/>
              <a:t> You want to build a system that automatically collects product reviews from competitor websites, analyzes sentiment, extracts feature requests, and emails a summary to the product team every Monday.</a:t>
            </a:r>
          </a:p>
          <a:p>
            <a:pPr>
              <a:buNone/>
            </a:pPr>
            <a:r>
              <a:rPr lang="en-US" b="1" dirty="0"/>
              <a:t>Solution Using an AI Agent</a:t>
            </a:r>
          </a:p>
          <a:p>
            <a:pPr>
              <a:buNone/>
            </a:pPr>
            <a:endParaRPr lang="en-US" b="1" dirty="0"/>
          </a:p>
          <a:p>
            <a:pPr>
              <a:buNone/>
            </a:pPr>
            <a:r>
              <a:rPr lang="en-US" dirty="0"/>
              <a:t>An AI Agent is a good fit because the task is:</a:t>
            </a:r>
          </a:p>
          <a:p>
            <a:pPr lvl="2"/>
            <a:r>
              <a:rPr lang="en-US" b="1" dirty="0"/>
              <a:t>        Goal-driven</a:t>
            </a:r>
            <a:r>
              <a:rPr lang="en-US" dirty="0"/>
              <a:t>: "Get weekly insights from competitor reviews"</a:t>
            </a:r>
          </a:p>
          <a:p>
            <a:r>
              <a:rPr lang="en-US" b="1" dirty="0"/>
              <a:t>        Multi-step</a:t>
            </a:r>
            <a:r>
              <a:rPr lang="en-US" dirty="0"/>
              <a:t>: Browse → Scrape → Analyze → Summarize → Email</a:t>
            </a:r>
          </a:p>
          <a:p>
            <a:pPr lvl="2"/>
            <a:r>
              <a:rPr lang="en-US" b="1" dirty="0"/>
              <a:t>      Tool-based</a:t>
            </a:r>
            <a:r>
              <a:rPr lang="en-US" dirty="0"/>
              <a:t>: Needs access to browser tools, NLP libraries, and email API</a:t>
            </a:r>
          </a:p>
          <a:p>
            <a:pPr lvl="1"/>
            <a:r>
              <a:rPr lang="en-US" b="1" dirty="0"/>
              <a:t>        Autonomous</a:t>
            </a:r>
            <a:r>
              <a:rPr lang="en-US" dirty="0"/>
              <a:t>: Should run weekly without manual intervention</a:t>
            </a:r>
          </a:p>
          <a:p>
            <a:pPr lvl="1">
              <a:buFont typeface="Arial" panose="020B0604020202020204" pitchFamily="34" charset="0"/>
              <a:buChar char="•"/>
            </a:pPr>
            <a:endParaRPr lang="en-US" dirty="0"/>
          </a:p>
          <a:p>
            <a:pPr>
              <a:buNone/>
            </a:pPr>
            <a:r>
              <a:rPr lang="en-US" b="1" dirty="0"/>
              <a:t>Example Workflow for the Agent:</a:t>
            </a:r>
          </a:p>
          <a:p>
            <a:pPr>
              <a:buNone/>
            </a:pPr>
            <a:r>
              <a:rPr lang="en-US" b="1" dirty="0"/>
              <a:t>       Web Scraper Tool</a:t>
            </a:r>
            <a:r>
              <a:rPr lang="en-US" dirty="0"/>
              <a:t>: Extracts latest reviews from competitor websites.</a:t>
            </a:r>
          </a:p>
          <a:p>
            <a:r>
              <a:rPr lang="en-US" b="1" dirty="0"/>
              <a:t>       Sentiment Analyzer</a:t>
            </a:r>
            <a:r>
              <a:rPr lang="en-US" dirty="0"/>
              <a:t> (NLP pipeline): Analyzes each review.</a:t>
            </a:r>
          </a:p>
          <a:p>
            <a:r>
              <a:rPr lang="en-US" b="1" dirty="0"/>
              <a:t>       LLM Tool</a:t>
            </a:r>
            <a:r>
              <a:rPr lang="en-US" dirty="0"/>
              <a:t>: Extracts key themes, complaints, and feature requests.</a:t>
            </a:r>
          </a:p>
          <a:p>
            <a:r>
              <a:rPr lang="en-US" b="1" dirty="0"/>
              <a:t>      Summarizer</a:t>
            </a:r>
            <a:r>
              <a:rPr lang="en-US" dirty="0"/>
              <a:t>: Generates a weekly insights report.</a:t>
            </a:r>
          </a:p>
          <a:p>
            <a:r>
              <a:rPr lang="en-US" b="1" dirty="0"/>
              <a:t>       Email Tool</a:t>
            </a:r>
            <a:r>
              <a:rPr lang="en-US" dirty="0"/>
              <a:t>: Sends the report to a Slack channel or email inbox.</a:t>
            </a:r>
          </a:p>
          <a:p>
            <a:endParaRPr lang="en-US" dirty="0"/>
          </a:p>
          <a:p>
            <a:pPr>
              <a:buNone/>
            </a:pPr>
            <a:r>
              <a:rPr lang="en-US" b="1" dirty="0"/>
              <a:t>Agent Advantages</a:t>
            </a:r>
            <a:r>
              <a:rPr lang="en-US" dirty="0"/>
              <a:t>:</a:t>
            </a:r>
          </a:p>
          <a:p>
            <a:pPr>
              <a:buFont typeface="Arial" panose="020B0604020202020204" pitchFamily="34" charset="0"/>
              <a:buChar char="•"/>
            </a:pPr>
            <a:r>
              <a:rPr lang="en-US" dirty="0"/>
              <a:t>Can adapt if some pages fail or URLs change.</a:t>
            </a:r>
          </a:p>
          <a:p>
            <a:pPr>
              <a:buFont typeface="Arial" panose="020B0604020202020204" pitchFamily="34" charset="0"/>
              <a:buChar char="•"/>
            </a:pPr>
            <a:r>
              <a:rPr lang="en-US" dirty="0"/>
              <a:t>Can log errors and retry steps.</a:t>
            </a:r>
          </a:p>
          <a:p>
            <a:pPr>
              <a:buFont typeface="Arial" panose="020B0604020202020204" pitchFamily="34" charset="0"/>
              <a:buChar char="•"/>
            </a:pPr>
            <a:r>
              <a:rPr lang="en-US" dirty="0"/>
              <a:t>Can evolve over time with feedback and memory.</a:t>
            </a:r>
          </a:p>
          <a:p>
            <a:endParaRPr lang="en-US" dirty="0"/>
          </a:p>
        </p:txBody>
      </p:sp>
    </p:spTree>
    <p:extLst>
      <p:ext uri="{BB962C8B-B14F-4D97-AF65-F5344CB8AC3E}">
        <p14:creationId xmlns:p14="http://schemas.microsoft.com/office/powerpoint/2010/main" val="2428904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3F6EF-66F3-4F5F-1782-75B2EED7E1DE}"/>
              </a:ext>
            </a:extLst>
          </p:cNvPr>
          <p:cNvSpPr>
            <a:spLocks noGrp="1"/>
          </p:cNvSpPr>
          <p:nvPr>
            <p:ph type="title"/>
          </p:nvPr>
        </p:nvSpPr>
        <p:spPr>
          <a:xfrm>
            <a:off x="425132" y="147574"/>
            <a:ext cx="11341735" cy="553998"/>
          </a:xfrm>
        </p:spPr>
        <p:txBody>
          <a:bodyPr/>
          <a:lstStyle/>
          <a:p>
            <a:r>
              <a:rPr lang="en-US" dirty="0"/>
              <a:t>⛔ </a:t>
            </a:r>
            <a:r>
              <a:rPr lang="en-US" b="1" dirty="0"/>
              <a:t>When Not to Use an AI Agent</a:t>
            </a:r>
            <a:endParaRPr lang="en-US" dirty="0"/>
          </a:p>
        </p:txBody>
      </p:sp>
      <p:sp>
        <p:nvSpPr>
          <p:cNvPr id="4" name="TextBox 3">
            <a:extLst>
              <a:ext uri="{FF2B5EF4-FFF2-40B4-BE49-F238E27FC236}">
                <a16:creationId xmlns:a16="http://schemas.microsoft.com/office/drawing/2014/main" id="{A0677AFA-E56A-8997-7C4D-0D8DDDAFD807}"/>
              </a:ext>
            </a:extLst>
          </p:cNvPr>
          <p:cNvSpPr txBox="1"/>
          <p:nvPr/>
        </p:nvSpPr>
        <p:spPr>
          <a:xfrm>
            <a:off x="304800" y="1371600"/>
            <a:ext cx="11462067" cy="3693319"/>
          </a:xfrm>
          <a:prstGeom prst="rect">
            <a:avLst/>
          </a:prstGeom>
          <a:noFill/>
        </p:spPr>
        <p:txBody>
          <a:bodyPr wrap="square" rtlCol="0">
            <a:spAutoFit/>
          </a:bodyPr>
          <a:lstStyle/>
          <a:p>
            <a:r>
              <a:rPr lang="en-US" dirty="0"/>
              <a:t>If the task was simpler, like: "Summarize a block of text and send it via email",</a:t>
            </a:r>
          </a:p>
          <a:p>
            <a:endParaRPr lang="en-US" dirty="0"/>
          </a:p>
          <a:p>
            <a:r>
              <a:rPr lang="en-US" dirty="0"/>
              <a:t>a Generative AI prompt + API script would be more efficient. You can:</a:t>
            </a:r>
          </a:p>
          <a:p>
            <a:r>
              <a:rPr lang="en-US" dirty="0"/>
              <a:t>Paste the reviews manually.</a:t>
            </a:r>
          </a:p>
          <a:p>
            <a:r>
              <a:rPr lang="en-US" dirty="0"/>
              <a:t>Use a single GPT prompt to summarize them.</a:t>
            </a:r>
          </a:p>
          <a:p>
            <a:r>
              <a:rPr lang="en-US" dirty="0"/>
              <a:t>Trigger an email function.</a:t>
            </a:r>
          </a:p>
          <a:p>
            <a:endParaRPr lang="en-US" dirty="0"/>
          </a:p>
          <a:p>
            <a:endParaRPr lang="en-US" dirty="0"/>
          </a:p>
          <a:p>
            <a:r>
              <a:rPr lang="en-US" dirty="0"/>
              <a:t>🛑 Why Not an Agent?</a:t>
            </a:r>
          </a:p>
          <a:p>
            <a:endParaRPr lang="en-US" dirty="0"/>
          </a:p>
          <a:p>
            <a:r>
              <a:rPr lang="en-US" dirty="0"/>
              <a:t>No need for autonomy or adaptive planning.</a:t>
            </a:r>
          </a:p>
          <a:p>
            <a:r>
              <a:rPr lang="en-US" dirty="0"/>
              <a:t>Simpler, faster, and cheaper to do in one shot.</a:t>
            </a:r>
          </a:p>
          <a:p>
            <a:r>
              <a:rPr lang="en-US" dirty="0"/>
              <a:t>Easier to debug and deploy.</a:t>
            </a:r>
          </a:p>
        </p:txBody>
      </p:sp>
    </p:spTree>
    <p:extLst>
      <p:ext uri="{BB962C8B-B14F-4D97-AF65-F5344CB8AC3E}">
        <p14:creationId xmlns:p14="http://schemas.microsoft.com/office/powerpoint/2010/main" val="4020367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7E343-1646-369B-5148-6C43223B2755}"/>
              </a:ext>
            </a:extLst>
          </p:cNvPr>
          <p:cNvSpPr>
            <a:spLocks noGrp="1"/>
          </p:cNvSpPr>
          <p:nvPr>
            <p:ph type="title"/>
          </p:nvPr>
        </p:nvSpPr>
        <p:spPr>
          <a:xfrm>
            <a:off x="425132" y="147574"/>
            <a:ext cx="11341735" cy="553998"/>
          </a:xfrm>
        </p:spPr>
        <p:txBody>
          <a:bodyPr/>
          <a:lstStyle/>
          <a:p>
            <a:r>
              <a:rPr lang="en-US" dirty="0"/>
              <a:t>Build An Agent</a:t>
            </a:r>
          </a:p>
        </p:txBody>
      </p:sp>
      <p:pic>
        <p:nvPicPr>
          <p:cNvPr id="2050" name="Picture 2">
            <a:extLst>
              <a:ext uri="{FF2B5EF4-FFF2-40B4-BE49-F238E27FC236}">
                <a16:creationId xmlns:a16="http://schemas.microsoft.com/office/drawing/2014/main" id="{A8B7916D-2EEA-B537-8EF2-8374175FC4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981201"/>
            <a:ext cx="108966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163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3EEAC-3E0A-8987-8E78-ECFF2E9F4873}"/>
              </a:ext>
            </a:extLst>
          </p:cNvPr>
          <p:cNvSpPr>
            <a:spLocks noGrp="1"/>
          </p:cNvSpPr>
          <p:nvPr>
            <p:ph type="title"/>
          </p:nvPr>
        </p:nvSpPr>
        <p:spPr>
          <a:xfrm>
            <a:off x="425132" y="147574"/>
            <a:ext cx="11341735" cy="553998"/>
          </a:xfrm>
        </p:spPr>
        <p:txBody>
          <a:bodyPr/>
          <a:lstStyle/>
          <a:p>
            <a:r>
              <a:rPr lang="en-US" dirty="0"/>
              <a:t>Agentic Framework</a:t>
            </a:r>
          </a:p>
        </p:txBody>
      </p:sp>
      <p:pic>
        <p:nvPicPr>
          <p:cNvPr id="3074" name="Picture 2">
            <a:extLst>
              <a:ext uri="{FF2B5EF4-FFF2-40B4-BE49-F238E27FC236}">
                <a16:creationId xmlns:a16="http://schemas.microsoft.com/office/drawing/2014/main" id="{38CFB595-67F6-9227-B08C-B52FCDDAE4D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1219200"/>
            <a:ext cx="8562474"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0506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954E2-09D3-865B-39A1-30D15DA1E549}"/>
              </a:ext>
            </a:extLst>
          </p:cNvPr>
          <p:cNvSpPr>
            <a:spLocks noGrp="1"/>
          </p:cNvSpPr>
          <p:nvPr>
            <p:ph type="title"/>
          </p:nvPr>
        </p:nvSpPr>
        <p:spPr/>
        <p:txBody>
          <a:bodyPr>
            <a:normAutofit/>
          </a:bodyPr>
          <a:lstStyle/>
          <a:p>
            <a:r>
              <a:rPr lang="x-none" dirty="0"/>
              <a:t>Frameworks</a:t>
            </a:r>
          </a:p>
        </p:txBody>
      </p:sp>
      <p:graphicFrame>
        <p:nvGraphicFramePr>
          <p:cNvPr id="7" name="Table 6">
            <a:extLst>
              <a:ext uri="{FF2B5EF4-FFF2-40B4-BE49-F238E27FC236}">
                <a16:creationId xmlns:a16="http://schemas.microsoft.com/office/drawing/2014/main" id="{68314084-A02C-352A-AADA-11764A8B8D97}"/>
              </a:ext>
            </a:extLst>
          </p:cNvPr>
          <p:cNvGraphicFramePr>
            <a:graphicFrameLocks noGrp="1"/>
          </p:cNvGraphicFramePr>
          <p:nvPr>
            <p:extLst>
              <p:ext uri="{D42A27DB-BD31-4B8C-83A1-F6EECF244321}">
                <p14:modId xmlns:p14="http://schemas.microsoft.com/office/powerpoint/2010/main" val="2693359748"/>
              </p:ext>
            </p:extLst>
          </p:nvPr>
        </p:nvGraphicFramePr>
        <p:xfrm>
          <a:off x="440286" y="1301653"/>
          <a:ext cx="8035124" cy="4640934"/>
        </p:xfrm>
        <a:graphic>
          <a:graphicData uri="http://schemas.openxmlformats.org/drawingml/2006/table">
            <a:tbl>
              <a:tblPr/>
              <a:tblGrid>
                <a:gridCol w="2008781">
                  <a:extLst>
                    <a:ext uri="{9D8B030D-6E8A-4147-A177-3AD203B41FA5}">
                      <a16:colId xmlns:a16="http://schemas.microsoft.com/office/drawing/2014/main" val="2036412408"/>
                    </a:ext>
                  </a:extLst>
                </a:gridCol>
                <a:gridCol w="2008781">
                  <a:extLst>
                    <a:ext uri="{9D8B030D-6E8A-4147-A177-3AD203B41FA5}">
                      <a16:colId xmlns:a16="http://schemas.microsoft.com/office/drawing/2014/main" val="1005039473"/>
                    </a:ext>
                  </a:extLst>
                </a:gridCol>
                <a:gridCol w="2008781">
                  <a:extLst>
                    <a:ext uri="{9D8B030D-6E8A-4147-A177-3AD203B41FA5}">
                      <a16:colId xmlns:a16="http://schemas.microsoft.com/office/drawing/2014/main" val="1381170403"/>
                    </a:ext>
                  </a:extLst>
                </a:gridCol>
                <a:gridCol w="2008781">
                  <a:extLst>
                    <a:ext uri="{9D8B030D-6E8A-4147-A177-3AD203B41FA5}">
                      <a16:colId xmlns:a16="http://schemas.microsoft.com/office/drawing/2014/main" val="240291148"/>
                    </a:ext>
                  </a:extLst>
                </a:gridCol>
              </a:tblGrid>
              <a:tr h="370449">
                <a:tc>
                  <a:txBody>
                    <a:bodyPr/>
                    <a:lstStyle/>
                    <a:p>
                      <a:pPr algn="ctr"/>
                      <a:r>
                        <a:rPr lang="en-US" sz="1600" dirty="0"/>
                        <a:t>Framework</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a:t>Language</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a:t>Description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600" dirty="0"/>
                        <a:t>Best For</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92667740"/>
                  </a:ext>
                </a:extLst>
              </a:tr>
              <a:tr h="654861">
                <a:tc>
                  <a:txBody>
                    <a:bodyPr/>
                    <a:lstStyle/>
                    <a:p>
                      <a:pPr algn="ctr"/>
                      <a:r>
                        <a:rPr lang="en-US" sz="1400" b="1" dirty="0" err="1"/>
                        <a:t>LangGraph</a:t>
                      </a:r>
                      <a:endParaRPr lang="en-US" sz="1400" dirty="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Python, </a:t>
                      </a:r>
                      <a:r>
                        <a:rPr lang="en-US" sz="1400" dirty="0" err="1"/>
                        <a:t>Javascript</a:t>
                      </a:r>
                      <a:endParaRPr lang="en-US" sz="1400" dirty="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dirty="0"/>
                        <a:t>A graph-based framework built on top of </a:t>
                      </a:r>
                      <a:r>
                        <a:rPr lang="en-US" sz="900" dirty="0" err="1"/>
                        <a:t>LangChain</a:t>
                      </a:r>
                      <a:r>
                        <a:rPr lang="en-US" sz="900" dirty="0"/>
                        <a:t>, designed to coordinate multiple agents and tools with memory.</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Structured agent workflows with LLMs.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9887321"/>
                  </a:ext>
                </a:extLst>
              </a:tr>
              <a:tr h="654861">
                <a:tc>
                  <a:txBody>
                    <a:bodyPr/>
                    <a:lstStyle/>
                    <a:p>
                      <a:pPr algn="ctr"/>
                      <a:r>
                        <a:rPr lang="en-US" sz="1400" b="1" dirty="0" err="1"/>
                        <a:t>CrewAI</a:t>
                      </a:r>
                      <a:endParaRPr lang="en-US" sz="1400" dirty="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a:t>Simple and intuitive agent orchestration framework for teams of LLM agents. Uses a “Crew” and “Agent” model with roles and goals.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Task-oriented multi-agent collaboration.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439811"/>
                  </a:ext>
                </a:extLst>
              </a:tr>
              <a:tr h="654861">
                <a:tc>
                  <a:txBody>
                    <a:bodyPr/>
                    <a:lstStyle/>
                    <a:p>
                      <a:pPr algn="ctr"/>
                      <a:r>
                        <a:rPr lang="en-US" sz="1400" b="1" dirty="0" err="1"/>
                        <a:t>AutoGen</a:t>
                      </a:r>
                      <a:endParaRPr lang="en-US" sz="1400" dirty="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dirty="0"/>
                        <a:t>Microsoft’s framework for building LLM-powered agents that communicate via messaging. Supports human-AI and AI-AI collaboration.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Multi-agent chat and complex interactions.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8734370"/>
                  </a:ext>
                </a:extLst>
              </a:tr>
              <a:tr h="498090">
                <a:tc>
                  <a:txBody>
                    <a:bodyPr/>
                    <a:lstStyle/>
                    <a:p>
                      <a:pPr algn="ctr"/>
                      <a:r>
                        <a:rPr lang="en-US" sz="1400" b="1"/>
                        <a:t>AgentVerse</a:t>
                      </a:r>
                      <a:endParaRPr lang="en-US" sz="140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dirty="0"/>
                        <a:t>Designed for simulating and evaluating large numbers of agents. Ideal for research on collective behaviors.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Multi-agent simulations and social dynamics.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298282"/>
                  </a:ext>
                </a:extLst>
              </a:tr>
              <a:tr h="654861">
                <a:tc>
                  <a:txBody>
                    <a:bodyPr/>
                    <a:lstStyle/>
                    <a:p>
                      <a:pPr algn="ctr"/>
                      <a:r>
                        <a:rPr lang="en-US" sz="1400" b="1"/>
                        <a:t>OpenAgents</a:t>
                      </a:r>
                      <a:endParaRPr lang="en-US" sz="140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dirty="0"/>
                        <a:t>Open-source project combining </a:t>
                      </a:r>
                      <a:r>
                        <a:rPr lang="en-US" sz="900" dirty="0" err="1"/>
                        <a:t>LangChain</a:t>
                      </a:r>
                      <a:r>
                        <a:rPr lang="en-US" sz="900" dirty="0"/>
                        <a:t>, </a:t>
                      </a:r>
                      <a:r>
                        <a:rPr lang="en-US" sz="900" dirty="0" err="1"/>
                        <a:t>FastAPI</a:t>
                      </a:r>
                      <a:r>
                        <a:rPr lang="en-US" sz="900" dirty="0"/>
                        <a:t>, and other tools. Allows UI integration and multi-agent task execution.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Developer-friendly agent apps.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778038"/>
                  </a:ext>
                </a:extLst>
              </a:tr>
              <a:tr h="498090">
                <a:tc>
                  <a:txBody>
                    <a:bodyPr/>
                    <a:lstStyle/>
                    <a:p>
                      <a:pPr algn="ctr"/>
                      <a:r>
                        <a:rPr lang="en-US" sz="1400" b="1" dirty="0" err="1"/>
                        <a:t>MiniAGI</a:t>
                      </a:r>
                      <a:endParaRPr lang="en-US" sz="1400" dirty="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a:t>Lightweight framework for building LLM-based agents using memory, tools, and recursive reasoning.</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Quick experimentation with agents.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925519"/>
                  </a:ext>
                </a:extLst>
              </a:tr>
              <a:tr h="654861">
                <a:tc>
                  <a:txBody>
                    <a:bodyPr/>
                    <a:lstStyle/>
                    <a:p>
                      <a:pPr algn="ctr"/>
                      <a:r>
                        <a:rPr lang="en-US" sz="1400" b="1"/>
                        <a:t>MetaGPT</a:t>
                      </a:r>
                      <a:endParaRPr lang="en-US" sz="1400"/>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Python</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900" dirty="0"/>
                        <a:t>Treats AI agents like team members in a software company (e.g., PM, engineer, QA). Modular and production-oriented.</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900" dirty="0"/>
                        <a:t>Building software with agent teams.</a:t>
                      </a:r>
                    </a:p>
                  </a:txBody>
                  <a:tcPr marL="24305" marR="24305" marT="12153" marB="1215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4238776"/>
                  </a:ext>
                </a:extLst>
              </a:tr>
            </a:tbl>
          </a:graphicData>
        </a:graphic>
      </p:graphicFrame>
      <p:pic>
        <p:nvPicPr>
          <p:cNvPr id="2050" name="Picture 2" descr="LangGraph (LangChain) Logo Free Down ...">
            <a:extLst>
              <a:ext uri="{FF2B5EF4-FFF2-40B4-BE49-F238E27FC236}">
                <a16:creationId xmlns:a16="http://schemas.microsoft.com/office/drawing/2014/main" id="{F942AE5A-5E94-0249-10DB-CFFD78810BC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2931" b="21592"/>
          <a:stretch/>
        </p:blipFill>
        <p:spPr bwMode="auto">
          <a:xfrm>
            <a:off x="9339244" y="4897087"/>
            <a:ext cx="2130658" cy="118202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054" name="Picture 6" descr="CREW AI- Building My First Agents crew | by Nitya Sagar | Medium">
            <a:extLst>
              <a:ext uri="{FF2B5EF4-FFF2-40B4-BE49-F238E27FC236}">
                <a16:creationId xmlns:a16="http://schemas.microsoft.com/office/drawing/2014/main" id="{C9D69C0D-84DE-3DE3-0220-079D969FA4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26965" y="2044715"/>
            <a:ext cx="2424749" cy="8366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6" name="Picture 8" descr="AutoGen — AutoGen">
            <a:extLst>
              <a:ext uri="{FF2B5EF4-FFF2-40B4-BE49-F238E27FC236}">
                <a16:creationId xmlns:a16="http://schemas.microsoft.com/office/drawing/2014/main" id="{8C0AEFED-461F-6AEE-21B8-8787A73702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56818" y="3449518"/>
            <a:ext cx="1054210" cy="105421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gentverse - AI Agent Reviews, Features ...">
            <a:extLst>
              <a:ext uri="{FF2B5EF4-FFF2-40B4-BE49-F238E27FC236}">
                <a16:creationId xmlns:a16="http://schemas.microsoft.com/office/drawing/2014/main" id="{8F8F5C22-F542-EE63-A813-23567649750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851881" y="3667612"/>
            <a:ext cx="618021" cy="618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6907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B67D27C4-DE7A-07AE-3246-FA55073C1FF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184275"/>
            <a:ext cx="12192000" cy="4489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654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BC66FA-B05D-9F03-DA97-B332838EE903}"/>
              </a:ext>
            </a:extLst>
          </p:cNvPr>
          <p:cNvSpPr>
            <a:spLocks noGrp="1"/>
          </p:cNvSpPr>
          <p:nvPr>
            <p:ph type="title"/>
          </p:nvPr>
        </p:nvSpPr>
        <p:spPr>
          <a:xfrm>
            <a:off x="3276600" y="2362200"/>
            <a:ext cx="12179935" cy="1231106"/>
          </a:xfrm>
        </p:spPr>
        <p:txBody>
          <a:bodyPr/>
          <a:lstStyle/>
          <a:p>
            <a:r>
              <a:rPr lang="en-US" sz="8000" dirty="0"/>
              <a:t>DEMO</a:t>
            </a:r>
          </a:p>
        </p:txBody>
      </p:sp>
    </p:spTree>
    <p:extLst>
      <p:ext uri="{BB962C8B-B14F-4D97-AF65-F5344CB8AC3E}">
        <p14:creationId xmlns:p14="http://schemas.microsoft.com/office/powerpoint/2010/main" val="33496051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9B7F9-1DB7-2F8C-F2DF-AF3D7E20AB5B}"/>
              </a:ext>
            </a:extLst>
          </p:cNvPr>
          <p:cNvSpPr>
            <a:spLocks noGrp="1"/>
          </p:cNvSpPr>
          <p:nvPr>
            <p:ph type="title"/>
          </p:nvPr>
        </p:nvSpPr>
        <p:spPr>
          <a:xfrm>
            <a:off x="425132" y="147574"/>
            <a:ext cx="11341735" cy="553998"/>
          </a:xfrm>
        </p:spPr>
        <p:txBody>
          <a:bodyPr/>
          <a:lstStyle/>
          <a:p>
            <a:r>
              <a:rPr lang="en-US" dirty="0"/>
              <a:t>AI Agent Pattern</a:t>
            </a:r>
          </a:p>
        </p:txBody>
      </p:sp>
      <p:sp>
        <p:nvSpPr>
          <p:cNvPr id="4" name="TextBox 3">
            <a:extLst>
              <a:ext uri="{FF2B5EF4-FFF2-40B4-BE49-F238E27FC236}">
                <a16:creationId xmlns:a16="http://schemas.microsoft.com/office/drawing/2014/main" id="{C16E40AF-6699-46B1-D03D-9C5C42613409}"/>
              </a:ext>
            </a:extLst>
          </p:cNvPr>
          <p:cNvSpPr txBox="1"/>
          <p:nvPr/>
        </p:nvSpPr>
        <p:spPr>
          <a:xfrm>
            <a:off x="533400" y="2590800"/>
            <a:ext cx="8763000" cy="1631216"/>
          </a:xfrm>
          <a:prstGeom prst="rect">
            <a:avLst/>
          </a:prstGeom>
          <a:noFill/>
        </p:spPr>
        <p:txBody>
          <a:bodyPr wrap="square">
            <a:spAutoFit/>
          </a:bodyPr>
          <a:lstStyle/>
          <a:p>
            <a:pPr algn="l">
              <a:lnSpc>
                <a:spcPts val="2400"/>
              </a:lnSpc>
              <a:buNone/>
            </a:pPr>
            <a:r>
              <a:rPr lang="en-US" dirty="0"/>
              <a:t>Agent patterns in AI refer to design approaches that enable AI systems to act more autonomously and intelligently. These patterns, like Reflection, Tool Use, Planning, and Multi-Agent Collaboration, empower AI to reason, plan, execute tasks, and learn from their actions, mimicking human-like problem-solving capabilities.</a:t>
            </a:r>
          </a:p>
          <a:p>
            <a:pPr algn="l">
              <a:lnSpc>
                <a:spcPts val="2400"/>
              </a:lnSpc>
              <a:buNone/>
            </a:pPr>
            <a:endParaRPr lang="en-US" b="0" i="0" dirty="0">
              <a:solidFill>
                <a:srgbClr val="242424"/>
              </a:solidFill>
              <a:effectLst/>
              <a:latin typeface="source-serif-pro"/>
            </a:endParaRPr>
          </a:p>
        </p:txBody>
      </p:sp>
    </p:spTree>
    <p:extLst>
      <p:ext uri="{BB962C8B-B14F-4D97-AF65-F5344CB8AC3E}">
        <p14:creationId xmlns:p14="http://schemas.microsoft.com/office/powerpoint/2010/main" val="3242961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8" name="Picture 8" descr="Agentic Design Patterns  - Relection Pattern">
            <a:extLst>
              <a:ext uri="{FF2B5EF4-FFF2-40B4-BE49-F238E27FC236}">
                <a16:creationId xmlns:a16="http://schemas.microsoft.com/office/drawing/2014/main" id="{46D07741-3E5B-35FE-E274-78BB573E6B4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42798" y="2231205"/>
            <a:ext cx="6608916" cy="358488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70BD73F-54CF-070E-BC19-498E01AB9D5D}"/>
              </a:ext>
            </a:extLst>
          </p:cNvPr>
          <p:cNvSpPr>
            <a:spLocks noGrp="1"/>
          </p:cNvSpPr>
          <p:nvPr>
            <p:ph type="title"/>
          </p:nvPr>
        </p:nvSpPr>
        <p:spPr/>
        <p:txBody>
          <a:bodyPr>
            <a:normAutofit/>
          </a:bodyPr>
          <a:lstStyle/>
          <a:p>
            <a:r>
              <a:rPr lang="x-none" dirty="0"/>
              <a:t>Reflection pattern</a:t>
            </a:r>
          </a:p>
        </p:txBody>
      </p:sp>
      <p:sp>
        <p:nvSpPr>
          <p:cNvPr id="3" name="Content Placeholder 2">
            <a:extLst>
              <a:ext uri="{FF2B5EF4-FFF2-40B4-BE49-F238E27FC236}">
                <a16:creationId xmlns:a16="http://schemas.microsoft.com/office/drawing/2014/main" id="{78C6F44C-03C4-797F-FA78-5705FFF202BE}"/>
              </a:ext>
            </a:extLst>
          </p:cNvPr>
          <p:cNvSpPr>
            <a:spLocks noGrp="1"/>
          </p:cNvSpPr>
          <p:nvPr>
            <p:ph idx="1"/>
          </p:nvPr>
        </p:nvSpPr>
        <p:spPr>
          <a:xfrm>
            <a:off x="440286" y="2740935"/>
            <a:ext cx="6704511" cy="3678303"/>
          </a:xfrm>
        </p:spPr>
        <p:txBody>
          <a:bodyPr/>
          <a:lstStyle/>
          <a:p>
            <a:pPr>
              <a:buFont typeface="Arial" panose="020B0604020202020204" pitchFamily="34" charset="0"/>
              <a:buChar char="•"/>
            </a:pPr>
            <a:r>
              <a:rPr lang="en-US" dirty="0"/>
              <a:t>Encourages introspection and self-evaluation.</a:t>
            </a:r>
          </a:p>
          <a:p>
            <a:pPr>
              <a:buFont typeface="Arial" panose="020B0604020202020204" pitchFamily="34" charset="0"/>
              <a:buChar char="•"/>
            </a:pPr>
            <a:r>
              <a:rPr lang="en-US" dirty="0"/>
              <a:t>Useful for complex or multi-step tasks.</a:t>
            </a:r>
          </a:p>
          <a:p>
            <a:pPr>
              <a:buFont typeface="Arial" panose="020B0604020202020204" pitchFamily="34" charset="0"/>
              <a:buChar char="•"/>
            </a:pPr>
            <a:r>
              <a:rPr lang="en-US" dirty="0"/>
              <a:t>Helps identify errors and improve reasoning.</a:t>
            </a:r>
          </a:p>
          <a:p>
            <a:pPr>
              <a:buFont typeface="Arial" panose="020B0604020202020204" pitchFamily="34" charset="0"/>
              <a:buChar char="•"/>
            </a:pPr>
            <a:r>
              <a:rPr lang="en-US" dirty="0"/>
              <a:t>Often implemented via checkpoints or "thought loops".</a:t>
            </a:r>
          </a:p>
          <a:p>
            <a:pPr>
              <a:buFont typeface="Arial" panose="020B0604020202020204" pitchFamily="34" charset="0"/>
              <a:buChar char="•"/>
            </a:pPr>
            <a:r>
              <a:rPr lang="en-US" dirty="0"/>
              <a:t>Can be combined with memory modules for deeper reasoning.</a:t>
            </a:r>
          </a:p>
        </p:txBody>
      </p:sp>
      <p:sp>
        <p:nvSpPr>
          <p:cNvPr id="5" name="TextBox 4">
            <a:extLst>
              <a:ext uri="{FF2B5EF4-FFF2-40B4-BE49-F238E27FC236}">
                <a16:creationId xmlns:a16="http://schemas.microsoft.com/office/drawing/2014/main" id="{F7FB7805-2C3B-149B-24B5-E96BBEFE3FF7}"/>
              </a:ext>
            </a:extLst>
          </p:cNvPr>
          <p:cNvSpPr txBox="1"/>
          <p:nvPr/>
        </p:nvSpPr>
        <p:spPr>
          <a:xfrm>
            <a:off x="440286" y="1857053"/>
            <a:ext cx="6096000" cy="1477328"/>
          </a:xfrm>
          <a:prstGeom prst="rect">
            <a:avLst/>
          </a:prstGeom>
          <a:noFill/>
        </p:spPr>
        <p:txBody>
          <a:bodyPr wrap="square">
            <a:spAutoFit/>
          </a:bodyPr>
          <a:lstStyle/>
          <a:p>
            <a:r>
              <a:rPr lang="en-US" dirty="0"/>
              <a:t>The Reflection Pattern enables an AI agent to pause and evaluate its current progress, strategy, and understanding. It often involves meta-cognition—thinking about what has been done and what needs to be adjusted to reach a goal more efficiently.</a:t>
            </a:r>
          </a:p>
        </p:txBody>
      </p:sp>
    </p:spTree>
    <p:extLst>
      <p:ext uri="{BB962C8B-B14F-4D97-AF65-F5344CB8AC3E}">
        <p14:creationId xmlns:p14="http://schemas.microsoft.com/office/powerpoint/2010/main" val="1500862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Toll Use Pattern">
            <a:extLst>
              <a:ext uri="{FF2B5EF4-FFF2-40B4-BE49-F238E27FC236}">
                <a16:creationId xmlns:a16="http://schemas.microsoft.com/office/drawing/2014/main" id="{29A9BB01-1DA5-18E9-CCD8-2BA640D917B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819" y="1833049"/>
            <a:ext cx="6611181" cy="358611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99C7AC6-1DCC-89C3-4042-A01B8E24505A}"/>
              </a:ext>
            </a:extLst>
          </p:cNvPr>
          <p:cNvSpPr>
            <a:spLocks noGrp="1"/>
          </p:cNvSpPr>
          <p:nvPr>
            <p:ph type="title"/>
          </p:nvPr>
        </p:nvSpPr>
        <p:spPr/>
        <p:txBody>
          <a:bodyPr>
            <a:normAutofit/>
          </a:bodyPr>
          <a:lstStyle/>
          <a:p>
            <a:r>
              <a:rPr lang="en-US" dirty="0"/>
              <a:t>Tool Use Pattern</a:t>
            </a:r>
            <a:endParaRPr lang="x-none" dirty="0"/>
          </a:p>
        </p:txBody>
      </p:sp>
      <p:sp>
        <p:nvSpPr>
          <p:cNvPr id="3" name="Content Placeholder 2">
            <a:extLst>
              <a:ext uri="{FF2B5EF4-FFF2-40B4-BE49-F238E27FC236}">
                <a16:creationId xmlns:a16="http://schemas.microsoft.com/office/drawing/2014/main" id="{65A867A9-5EC8-536D-704A-77F0BA8DAEDA}"/>
              </a:ext>
            </a:extLst>
          </p:cNvPr>
          <p:cNvSpPr>
            <a:spLocks noGrp="1"/>
          </p:cNvSpPr>
          <p:nvPr>
            <p:ph idx="1"/>
          </p:nvPr>
        </p:nvSpPr>
        <p:spPr>
          <a:xfrm>
            <a:off x="440286" y="2780264"/>
            <a:ext cx="5908098" cy="3678303"/>
          </a:xfrm>
        </p:spPr>
        <p:txBody>
          <a:bodyPr/>
          <a:lstStyle/>
          <a:p>
            <a:r>
              <a:rPr lang="en-US" dirty="0"/>
              <a:t>Agent invokes tools like search engines, calculators, or code interpreters.</a:t>
            </a:r>
          </a:p>
          <a:p>
            <a:r>
              <a:rPr lang="en-US" dirty="0"/>
              <a:t>Enables solving tasks beyond language-only capabilities.</a:t>
            </a:r>
          </a:p>
          <a:p>
            <a:r>
              <a:rPr lang="en-US" dirty="0"/>
              <a:t>Often implemented in frameworks like </a:t>
            </a:r>
            <a:r>
              <a:rPr lang="en-US" dirty="0" err="1"/>
              <a:t>LangChain</a:t>
            </a:r>
            <a:r>
              <a:rPr lang="en-US" dirty="0"/>
              <a:t> or </a:t>
            </a:r>
            <a:r>
              <a:rPr lang="en-US" dirty="0" err="1"/>
              <a:t>ReAct</a:t>
            </a:r>
            <a:r>
              <a:rPr lang="en-US" dirty="0"/>
              <a:t>.</a:t>
            </a:r>
          </a:p>
          <a:p>
            <a:r>
              <a:rPr lang="en-US" dirty="0"/>
              <a:t>Requires mechanisms for selecting and invoking tools dynamically.</a:t>
            </a:r>
          </a:p>
          <a:p>
            <a:r>
              <a:rPr lang="en-US" dirty="0"/>
              <a:t>Important for real-world applications like retrieval-augmented generation (RAG).</a:t>
            </a:r>
          </a:p>
          <a:p>
            <a:endParaRPr lang="x-none" dirty="0"/>
          </a:p>
        </p:txBody>
      </p:sp>
      <p:sp>
        <p:nvSpPr>
          <p:cNvPr id="5" name="TextBox 4">
            <a:extLst>
              <a:ext uri="{FF2B5EF4-FFF2-40B4-BE49-F238E27FC236}">
                <a16:creationId xmlns:a16="http://schemas.microsoft.com/office/drawing/2014/main" id="{2B1CA23B-C5AB-195E-A6E5-DEAD4E68FB97}"/>
              </a:ext>
            </a:extLst>
          </p:cNvPr>
          <p:cNvSpPr txBox="1"/>
          <p:nvPr/>
        </p:nvSpPr>
        <p:spPr>
          <a:xfrm>
            <a:off x="521110" y="1558005"/>
            <a:ext cx="6096000" cy="1200329"/>
          </a:xfrm>
          <a:prstGeom prst="rect">
            <a:avLst/>
          </a:prstGeom>
          <a:noFill/>
        </p:spPr>
        <p:txBody>
          <a:bodyPr wrap="square">
            <a:spAutoFit/>
          </a:bodyPr>
          <a:lstStyle/>
          <a:p>
            <a:r>
              <a:rPr lang="en-US" dirty="0"/>
              <a:t>The Tool Use Pattern allows agents to call upon external APIs, databases, calculators, or plugins to extend their capabilities beyond native reasoning. This empowers agents to handle a wider range of tasks effectively.</a:t>
            </a:r>
            <a:endParaRPr lang="x-none" dirty="0"/>
          </a:p>
        </p:txBody>
      </p:sp>
    </p:spTree>
    <p:extLst>
      <p:ext uri="{BB962C8B-B14F-4D97-AF65-F5344CB8AC3E}">
        <p14:creationId xmlns:p14="http://schemas.microsoft.com/office/powerpoint/2010/main" val="29201486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6" descr="Planning Pattern">
            <a:extLst>
              <a:ext uri="{FF2B5EF4-FFF2-40B4-BE49-F238E27FC236}">
                <a16:creationId xmlns:a16="http://schemas.microsoft.com/office/drawing/2014/main" id="{E38FBF8F-C933-1E89-CB54-B619B116723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1173"/>
          <a:stretch/>
        </p:blipFill>
        <p:spPr bwMode="auto">
          <a:xfrm>
            <a:off x="5083279" y="1725108"/>
            <a:ext cx="7020232" cy="42869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6208264-3346-46AD-AEEB-296A2B358327}"/>
              </a:ext>
            </a:extLst>
          </p:cNvPr>
          <p:cNvSpPr>
            <a:spLocks noGrp="1"/>
          </p:cNvSpPr>
          <p:nvPr>
            <p:ph type="title"/>
          </p:nvPr>
        </p:nvSpPr>
        <p:spPr/>
        <p:txBody>
          <a:bodyPr>
            <a:normAutofit/>
          </a:bodyPr>
          <a:lstStyle/>
          <a:p>
            <a:r>
              <a:rPr lang="en-US" dirty="0"/>
              <a:t>P</a:t>
            </a:r>
            <a:r>
              <a:rPr lang="x-none" dirty="0"/>
              <a:t>lanning pattern</a:t>
            </a:r>
          </a:p>
        </p:txBody>
      </p:sp>
      <p:sp>
        <p:nvSpPr>
          <p:cNvPr id="3" name="Content Placeholder 2">
            <a:extLst>
              <a:ext uri="{FF2B5EF4-FFF2-40B4-BE49-F238E27FC236}">
                <a16:creationId xmlns:a16="http://schemas.microsoft.com/office/drawing/2014/main" id="{35ED0522-67D6-A3D5-3BBD-1F8F27CDDA7C}"/>
              </a:ext>
            </a:extLst>
          </p:cNvPr>
          <p:cNvSpPr>
            <a:spLocks noGrp="1"/>
          </p:cNvSpPr>
          <p:nvPr>
            <p:ph idx="1"/>
          </p:nvPr>
        </p:nvSpPr>
        <p:spPr>
          <a:xfrm>
            <a:off x="581192" y="2750767"/>
            <a:ext cx="6222731" cy="3678303"/>
          </a:xfrm>
        </p:spPr>
        <p:txBody>
          <a:bodyPr/>
          <a:lstStyle/>
          <a:p>
            <a:r>
              <a:rPr lang="en-US" dirty="0"/>
              <a:t>Agent outlines goals and subgoals in advance.</a:t>
            </a:r>
          </a:p>
          <a:p>
            <a:r>
              <a:rPr lang="en-US" dirty="0"/>
              <a:t>Reduces trial-and-error and improves efficiency.</a:t>
            </a:r>
          </a:p>
          <a:p>
            <a:r>
              <a:rPr lang="en-US" dirty="0"/>
              <a:t>Useful for code generation, reasoning, and long documents.</a:t>
            </a:r>
          </a:p>
          <a:p>
            <a:r>
              <a:rPr lang="en-US" dirty="0"/>
              <a:t>Often uses a planner-executor model.</a:t>
            </a:r>
          </a:p>
          <a:p>
            <a:r>
              <a:rPr lang="en-US" dirty="0"/>
              <a:t>Enhances transparency and traceability in agent behavior.</a:t>
            </a:r>
          </a:p>
        </p:txBody>
      </p:sp>
      <p:sp>
        <p:nvSpPr>
          <p:cNvPr id="5" name="TextBox 4">
            <a:extLst>
              <a:ext uri="{FF2B5EF4-FFF2-40B4-BE49-F238E27FC236}">
                <a16:creationId xmlns:a16="http://schemas.microsoft.com/office/drawing/2014/main" id="{C0E39B4A-CA40-A7DA-A266-97F793CDADA0}"/>
              </a:ext>
            </a:extLst>
          </p:cNvPr>
          <p:cNvSpPr txBox="1"/>
          <p:nvPr/>
        </p:nvSpPr>
        <p:spPr>
          <a:xfrm>
            <a:off x="581192" y="1789074"/>
            <a:ext cx="6096000" cy="1200329"/>
          </a:xfrm>
          <a:prstGeom prst="rect">
            <a:avLst/>
          </a:prstGeom>
          <a:noFill/>
        </p:spPr>
        <p:txBody>
          <a:bodyPr wrap="square">
            <a:spAutoFit/>
          </a:bodyPr>
          <a:lstStyle/>
          <a:p>
            <a:r>
              <a:rPr lang="en-US" dirty="0"/>
              <a:t>The Planning Pattern involves creating a step-by-step plan before executing actions. This structure ensures logical task progression, especially for multi-step or high-stakes tasks requiring accuracy.</a:t>
            </a:r>
            <a:endParaRPr lang="x-none" dirty="0"/>
          </a:p>
        </p:txBody>
      </p:sp>
    </p:spTree>
    <p:extLst>
      <p:ext uri="{BB962C8B-B14F-4D97-AF65-F5344CB8AC3E}">
        <p14:creationId xmlns:p14="http://schemas.microsoft.com/office/powerpoint/2010/main" val="28509034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MultiAgent Pattern">
            <a:extLst>
              <a:ext uri="{FF2B5EF4-FFF2-40B4-BE49-F238E27FC236}">
                <a16:creationId xmlns:a16="http://schemas.microsoft.com/office/drawing/2014/main" id="{9272CB4D-4B5B-E3F7-A3EC-7B9A204294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01305" y="1915433"/>
            <a:ext cx="7090695" cy="38462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4E7F8B0-4182-AC21-E12B-578764450F78}"/>
              </a:ext>
            </a:extLst>
          </p:cNvPr>
          <p:cNvSpPr>
            <a:spLocks noGrp="1"/>
          </p:cNvSpPr>
          <p:nvPr>
            <p:ph type="title"/>
          </p:nvPr>
        </p:nvSpPr>
        <p:spPr/>
        <p:txBody>
          <a:bodyPr>
            <a:normAutofit/>
          </a:bodyPr>
          <a:lstStyle/>
          <a:p>
            <a:r>
              <a:rPr lang="x-none" dirty="0"/>
              <a:t>Multi-agent pattern</a:t>
            </a:r>
          </a:p>
        </p:txBody>
      </p:sp>
      <p:sp>
        <p:nvSpPr>
          <p:cNvPr id="3" name="Content Placeholder 2">
            <a:extLst>
              <a:ext uri="{FF2B5EF4-FFF2-40B4-BE49-F238E27FC236}">
                <a16:creationId xmlns:a16="http://schemas.microsoft.com/office/drawing/2014/main" id="{F46DAE6C-5D13-0D11-836E-37642306DCC5}"/>
              </a:ext>
            </a:extLst>
          </p:cNvPr>
          <p:cNvSpPr>
            <a:spLocks noGrp="1"/>
          </p:cNvSpPr>
          <p:nvPr>
            <p:ph idx="1"/>
          </p:nvPr>
        </p:nvSpPr>
        <p:spPr>
          <a:xfrm>
            <a:off x="562616" y="2878586"/>
            <a:ext cx="9063165" cy="3678303"/>
          </a:xfrm>
        </p:spPr>
        <p:txBody>
          <a:bodyPr/>
          <a:lstStyle/>
          <a:p>
            <a:pPr>
              <a:buFont typeface="Arial" panose="020B0604020202020204" pitchFamily="34" charset="0"/>
              <a:buChar char="•"/>
            </a:pPr>
            <a:r>
              <a:rPr lang="en-US" dirty="0"/>
              <a:t>Supports parallelism and specialization.</a:t>
            </a:r>
          </a:p>
          <a:p>
            <a:pPr>
              <a:buFont typeface="Arial" panose="020B0604020202020204" pitchFamily="34" charset="0"/>
              <a:buChar char="•"/>
            </a:pPr>
            <a:r>
              <a:rPr lang="en-US" dirty="0"/>
              <a:t>Agents can be role-based (e.g., writer, reviewer, executor).</a:t>
            </a:r>
          </a:p>
          <a:p>
            <a:pPr>
              <a:buFont typeface="Arial" panose="020B0604020202020204" pitchFamily="34" charset="0"/>
              <a:buChar char="•"/>
            </a:pPr>
            <a:r>
              <a:rPr lang="en-US" dirty="0"/>
              <a:t>Encourages emergent behavior and coordination.</a:t>
            </a:r>
          </a:p>
          <a:p>
            <a:pPr>
              <a:buFont typeface="Arial" panose="020B0604020202020204" pitchFamily="34" charset="0"/>
              <a:buChar char="•"/>
            </a:pPr>
            <a:r>
              <a:rPr lang="en-US" dirty="0"/>
              <a:t>Ideal for complex tasks like research, code review, or game playing.</a:t>
            </a:r>
          </a:p>
          <a:p>
            <a:pPr>
              <a:buFont typeface="Arial" panose="020B0604020202020204" pitchFamily="34" charset="0"/>
              <a:buChar char="•"/>
            </a:pPr>
            <a:r>
              <a:rPr lang="en-US" dirty="0"/>
              <a:t>Can integrate with human feedback or supervisor agents.</a:t>
            </a:r>
          </a:p>
        </p:txBody>
      </p:sp>
      <p:sp>
        <p:nvSpPr>
          <p:cNvPr id="5" name="TextBox 4">
            <a:extLst>
              <a:ext uri="{FF2B5EF4-FFF2-40B4-BE49-F238E27FC236}">
                <a16:creationId xmlns:a16="http://schemas.microsoft.com/office/drawing/2014/main" id="{74355163-273F-463E-3EC3-DC12B55F0971}"/>
              </a:ext>
            </a:extLst>
          </p:cNvPr>
          <p:cNvSpPr txBox="1"/>
          <p:nvPr/>
        </p:nvSpPr>
        <p:spPr>
          <a:xfrm>
            <a:off x="773495" y="1680920"/>
            <a:ext cx="5181599" cy="1477328"/>
          </a:xfrm>
          <a:prstGeom prst="rect">
            <a:avLst/>
          </a:prstGeom>
          <a:noFill/>
        </p:spPr>
        <p:txBody>
          <a:bodyPr wrap="square">
            <a:spAutoFit/>
          </a:bodyPr>
          <a:lstStyle/>
          <a:p>
            <a:r>
              <a:rPr lang="en-US" dirty="0"/>
              <a:t>The Multi-Agent Pattern distributes a task across multiple specialized agents, each responsible for a specific role. These agents can collaborate, compete, or coordinate, enabling more scalable and modular solutions.</a:t>
            </a:r>
            <a:endParaRPr lang="x-none" dirty="0"/>
          </a:p>
        </p:txBody>
      </p:sp>
    </p:spTree>
    <p:extLst>
      <p:ext uri="{BB962C8B-B14F-4D97-AF65-F5344CB8AC3E}">
        <p14:creationId xmlns:p14="http://schemas.microsoft.com/office/powerpoint/2010/main" val="1937449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A11C2-BCD5-FBCB-26BC-FE899B3C0A81}"/>
              </a:ext>
            </a:extLst>
          </p:cNvPr>
          <p:cNvSpPr>
            <a:spLocks noGrp="1"/>
          </p:cNvSpPr>
          <p:nvPr>
            <p:ph type="title"/>
          </p:nvPr>
        </p:nvSpPr>
        <p:spPr/>
        <p:txBody>
          <a:bodyPr>
            <a:normAutofit/>
          </a:bodyPr>
          <a:lstStyle/>
          <a:p>
            <a:r>
              <a:rPr lang="en-US" dirty="0"/>
              <a:t>P</a:t>
            </a:r>
            <a:r>
              <a:rPr lang="x-none" dirty="0"/>
              <a:t>atterns </a:t>
            </a:r>
          </a:p>
        </p:txBody>
      </p:sp>
      <p:graphicFrame>
        <p:nvGraphicFramePr>
          <p:cNvPr id="4" name="Table 3">
            <a:extLst>
              <a:ext uri="{FF2B5EF4-FFF2-40B4-BE49-F238E27FC236}">
                <a16:creationId xmlns:a16="http://schemas.microsoft.com/office/drawing/2014/main" id="{11315CD7-9697-CFF6-251F-922820943929}"/>
              </a:ext>
            </a:extLst>
          </p:cNvPr>
          <p:cNvGraphicFramePr>
            <a:graphicFrameLocks noGrp="1"/>
          </p:cNvGraphicFramePr>
          <p:nvPr>
            <p:extLst>
              <p:ext uri="{D42A27DB-BD31-4B8C-83A1-F6EECF244321}">
                <p14:modId xmlns:p14="http://schemas.microsoft.com/office/powerpoint/2010/main" val="269399622"/>
              </p:ext>
            </p:extLst>
          </p:nvPr>
        </p:nvGraphicFramePr>
        <p:xfrm>
          <a:off x="580691" y="4127090"/>
          <a:ext cx="11029950" cy="2651760"/>
        </p:xfrm>
        <a:graphic>
          <a:graphicData uri="http://schemas.openxmlformats.org/drawingml/2006/table">
            <a:tbl>
              <a:tblPr/>
              <a:tblGrid>
                <a:gridCol w="3676650">
                  <a:extLst>
                    <a:ext uri="{9D8B030D-6E8A-4147-A177-3AD203B41FA5}">
                      <a16:colId xmlns:a16="http://schemas.microsoft.com/office/drawing/2014/main" val="2523676016"/>
                    </a:ext>
                  </a:extLst>
                </a:gridCol>
                <a:gridCol w="3676650">
                  <a:extLst>
                    <a:ext uri="{9D8B030D-6E8A-4147-A177-3AD203B41FA5}">
                      <a16:colId xmlns:a16="http://schemas.microsoft.com/office/drawing/2014/main" val="2083819712"/>
                    </a:ext>
                  </a:extLst>
                </a:gridCol>
                <a:gridCol w="3676650">
                  <a:extLst>
                    <a:ext uri="{9D8B030D-6E8A-4147-A177-3AD203B41FA5}">
                      <a16:colId xmlns:a16="http://schemas.microsoft.com/office/drawing/2014/main" val="231638229"/>
                    </a:ext>
                  </a:extLst>
                </a:gridCol>
              </a:tblGrid>
              <a:tr h="0">
                <a:tc>
                  <a:txBody>
                    <a:bodyPr/>
                    <a:lstStyle/>
                    <a:p>
                      <a:r>
                        <a:rPr lang="en-US"/>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Strengths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Best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9344503"/>
                  </a:ext>
                </a:extLst>
              </a:tr>
              <a:tr h="0">
                <a:tc>
                  <a:txBody>
                    <a:bodyPr/>
                    <a:lstStyle/>
                    <a:p>
                      <a:r>
                        <a:rPr lang="en-US"/>
                        <a:t>Reflection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Improves self-awareness and adaptability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Debugging, strategy adjustment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5507172"/>
                  </a:ext>
                </a:extLst>
              </a:tr>
              <a:tr h="0">
                <a:tc>
                  <a:txBody>
                    <a:bodyPr/>
                    <a:lstStyle/>
                    <a:p>
                      <a:r>
                        <a:rPr lang="en-US"/>
                        <a:t>Tool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Extends capabilities via external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Math, retrieval, real-world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3908544"/>
                  </a:ext>
                </a:extLst>
              </a:tr>
              <a:tr h="0">
                <a:tc>
                  <a:txBody>
                    <a:bodyPr/>
                    <a:lstStyle/>
                    <a:p>
                      <a:r>
                        <a:rPr lang="en-US"/>
                        <a:t>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Provides structure and foresight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Multi-step reasoning, code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7991338"/>
                  </a:ext>
                </a:extLst>
              </a:tr>
              <a:tr h="0">
                <a:tc>
                  <a:txBody>
                    <a:bodyPr/>
                    <a:lstStyle/>
                    <a:p>
                      <a:r>
                        <a:rPr lang="en-US" dirty="0"/>
                        <a:t>Multi-Agent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Enables collaboration and modularity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Complex, distributed task environments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2310159"/>
                  </a:ext>
                </a:extLst>
              </a:tr>
            </a:tbl>
          </a:graphicData>
        </a:graphic>
      </p:graphicFrame>
      <p:sp>
        <p:nvSpPr>
          <p:cNvPr id="6" name="TextBox 5">
            <a:extLst>
              <a:ext uri="{FF2B5EF4-FFF2-40B4-BE49-F238E27FC236}">
                <a16:creationId xmlns:a16="http://schemas.microsoft.com/office/drawing/2014/main" id="{063B5D3A-9730-EC8C-CAD0-B56B8561F83D}"/>
              </a:ext>
            </a:extLst>
          </p:cNvPr>
          <p:cNvSpPr txBox="1"/>
          <p:nvPr/>
        </p:nvSpPr>
        <p:spPr>
          <a:xfrm>
            <a:off x="581025" y="1698229"/>
            <a:ext cx="6096000" cy="1200329"/>
          </a:xfrm>
          <a:prstGeom prst="rect">
            <a:avLst/>
          </a:prstGeom>
          <a:noFill/>
        </p:spPr>
        <p:txBody>
          <a:bodyPr wrap="square">
            <a:spAutoFit/>
          </a:bodyPr>
          <a:lstStyle/>
          <a:p>
            <a:r>
              <a:rPr lang="en-US" dirty="0"/>
              <a:t>Each pattern offers unique strengths for building intelligent systems. Depending on task complexity, environment, and goals, one or more patterns can be combined for optimal performance.</a:t>
            </a:r>
          </a:p>
        </p:txBody>
      </p:sp>
    </p:spTree>
    <p:extLst>
      <p:ext uri="{BB962C8B-B14F-4D97-AF65-F5344CB8AC3E}">
        <p14:creationId xmlns:p14="http://schemas.microsoft.com/office/powerpoint/2010/main" val="122141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6A44-1B89-A79D-6CAF-2A08EE14FD52}"/>
              </a:ext>
            </a:extLst>
          </p:cNvPr>
          <p:cNvSpPr>
            <a:spLocks noGrp="1"/>
          </p:cNvSpPr>
          <p:nvPr>
            <p:ph type="title"/>
          </p:nvPr>
        </p:nvSpPr>
        <p:spPr/>
        <p:txBody>
          <a:bodyPr/>
          <a:lstStyle/>
          <a:p>
            <a:r>
              <a:rPr lang="en-US" b="0" i="0" dirty="0">
                <a:solidFill>
                  <a:srgbClr val="161616"/>
                </a:solidFill>
                <a:effectLst/>
                <a:latin typeface="IBM Plex Sans" panose="020F0502020204030204" pitchFamily="34" charset="0"/>
              </a:rPr>
              <a:t>What is agentic AI?</a:t>
            </a:r>
            <a:br>
              <a:rPr lang="en-US" b="0" i="0" dirty="0">
                <a:solidFill>
                  <a:srgbClr val="161616"/>
                </a:solidFill>
                <a:effectLst/>
                <a:latin typeface="IBM Plex Sans" panose="020F0502020204030204" pitchFamily="34" charset="0"/>
              </a:rPr>
            </a:br>
            <a:endParaRPr lang="en-US" dirty="0"/>
          </a:p>
        </p:txBody>
      </p:sp>
      <p:sp>
        <p:nvSpPr>
          <p:cNvPr id="4" name="TextBox 3">
            <a:extLst>
              <a:ext uri="{FF2B5EF4-FFF2-40B4-BE49-F238E27FC236}">
                <a16:creationId xmlns:a16="http://schemas.microsoft.com/office/drawing/2014/main" id="{D0A0D39B-D3A9-27B9-8970-69C1371673CD}"/>
              </a:ext>
            </a:extLst>
          </p:cNvPr>
          <p:cNvSpPr txBox="1"/>
          <p:nvPr/>
        </p:nvSpPr>
        <p:spPr>
          <a:xfrm>
            <a:off x="533399" y="838198"/>
            <a:ext cx="11233467" cy="5632311"/>
          </a:xfrm>
          <a:prstGeom prst="rect">
            <a:avLst/>
          </a:prstGeom>
          <a:noFill/>
        </p:spPr>
        <p:txBody>
          <a:bodyPr wrap="square">
            <a:spAutoFit/>
          </a:bodyPr>
          <a:lstStyle/>
          <a:p>
            <a:pPr algn="l" fontAlgn="base">
              <a:buNone/>
            </a:pPr>
            <a:r>
              <a:rPr lang="en-US" b="0" i="0" dirty="0">
                <a:solidFill>
                  <a:srgbClr val="161616"/>
                </a:solidFill>
                <a:effectLst/>
                <a:latin typeface="inherit"/>
              </a:rPr>
              <a:t>Agentic AI is an </a:t>
            </a:r>
            <a:r>
              <a:rPr lang="en-US" b="0" i="0" u="none" strike="noStrike" dirty="0">
                <a:solidFill>
                  <a:srgbClr val="0F62FE"/>
                </a:solidFill>
                <a:effectLst/>
                <a:latin typeface="IBM Plex Sans" panose="020B0503050203000203" pitchFamily="34" charset="0"/>
                <a:hlinkClick r:id="rId2"/>
              </a:rPr>
              <a:t>artificial intelligence</a:t>
            </a:r>
            <a:r>
              <a:rPr lang="en-US" b="0" i="0" dirty="0">
                <a:solidFill>
                  <a:srgbClr val="161616"/>
                </a:solidFill>
                <a:effectLst/>
                <a:latin typeface="inherit"/>
              </a:rPr>
              <a:t> system that can accomplish a specific goal with limited supervision. It consists of AI agents—machine learning models that mimic human decision-making to solve problems in real time. In a multiagent system, each agent performs a specific subtask required to reach the goal and their efforts are coordinated through </a:t>
            </a:r>
            <a:r>
              <a:rPr lang="en-US" b="0" i="0" u="none" strike="noStrike" dirty="0">
                <a:solidFill>
                  <a:srgbClr val="0F62FE"/>
                </a:solidFill>
                <a:effectLst/>
                <a:latin typeface="IBM Plex Sans" panose="020B0503050203000203" pitchFamily="34" charset="0"/>
                <a:hlinkClick r:id="rId3"/>
              </a:rPr>
              <a:t>AI orchestration</a:t>
            </a:r>
            <a:r>
              <a:rPr lang="en-US" b="0" i="0" dirty="0">
                <a:solidFill>
                  <a:srgbClr val="161616"/>
                </a:solidFill>
                <a:effectLst/>
                <a:latin typeface="inherit"/>
              </a:rPr>
              <a:t>.</a:t>
            </a:r>
          </a:p>
          <a:p>
            <a:pPr algn="l" fontAlgn="base">
              <a:buNone/>
            </a:pPr>
            <a:endParaRPr lang="en-US" dirty="0">
              <a:solidFill>
                <a:srgbClr val="161616"/>
              </a:solidFill>
              <a:latin typeface="inherit"/>
            </a:endParaRPr>
          </a:p>
          <a:p>
            <a:pPr algn="l" fontAlgn="base">
              <a:buNone/>
            </a:pPr>
            <a:endParaRPr lang="en-US" b="0" i="0" dirty="0">
              <a:solidFill>
                <a:srgbClr val="161616"/>
              </a:solidFill>
              <a:effectLst/>
              <a:latin typeface="inherit"/>
            </a:endParaRPr>
          </a:p>
          <a:p>
            <a:pPr algn="l" fontAlgn="base">
              <a:buNone/>
            </a:pPr>
            <a:endParaRPr lang="en-US" b="0" i="0" dirty="0">
              <a:solidFill>
                <a:srgbClr val="161616"/>
              </a:solidFill>
              <a:effectLst/>
              <a:latin typeface="inherit"/>
            </a:endParaRPr>
          </a:p>
          <a:p>
            <a:pPr algn="l" fontAlgn="base">
              <a:buNone/>
            </a:pPr>
            <a:r>
              <a:rPr lang="en-US" b="0" i="0" dirty="0">
                <a:solidFill>
                  <a:srgbClr val="161616"/>
                </a:solidFill>
                <a:effectLst/>
                <a:latin typeface="inherit"/>
              </a:rPr>
              <a:t>Unlike traditional </a:t>
            </a:r>
            <a:r>
              <a:rPr lang="en-US" b="0" i="0" u="none" strike="noStrike" dirty="0">
                <a:solidFill>
                  <a:srgbClr val="0F62FE"/>
                </a:solidFill>
                <a:effectLst/>
                <a:latin typeface="IBM Plex Sans" panose="020B0503050203000203" pitchFamily="34" charset="0"/>
                <a:hlinkClick r:id="rId4"/>
              </a:rPr>
              <a:t>AI models</a:t>
            </a:r>
            <a:r>
              <a:rPr lang="en-US" b="0" i="0" dirty="0">
                <a:solidFill>
                  <a:srgbClr val="161616"/>
                </a:solidFill>
                <a:effectLst/>
                <a:latin typeface="inherit"/>
              </a:rPr>
              <a:t>, which operate within predefined constraints and require human intervention, agentic AI exhibits autonomy, goal-driven behavior and adaptability. The term “agentic” refers to these models’ agency, or, their capacity to act independently and purposefully.</a:t>
            </a:r>
          </a:p>
          <a:p>
            <a:pPr algn="l" fontAlgn="base">
              <a:buNone/>
            </a:pPr>
            <a:endParaRPr lang="en-US" dirty="0">
              <a:solidFill>
                <a:srgbClr val="161616"/>
              </a:solidFill>
              <a:latin typeface="inherit"/>
            </a:endParaRPr>
          </a:p>
          <a:p>
            <a:pPr algn="l" fontAlgn="base">
              <a:buNone/>
            </a:pPr>
            <a:endParaRPr lang="en-US" b="0" i="0" dirty="0">
              <a:solidFill>
                <a:srgbClr val="161616"/>
              </a:solidFill>
              <a:effectLst/>
              <a:latin typeface="inherit"/>
            </a:endParaRPr>
          </a:p>
          <a:p>
            <a:pPr algn="l" fontAlgn="base">
              <a:buNone/>
            </a:pPr>
            <a:endParaRPr lang="en-US" dirty="0">
              <a:solidFill>
                <a:srgbClr val="161616"/>
              </a:solidFill>
              <a:latin typeface="inherit"/>
            </a:endParaRPr>
          </a:p>
          <a:p>
            <a:pPr algn="l" fontAlgn="base">
              <a:buNone/>
            </a:pPr>
            <a:endParaRPr lang="en-US" b="0" i="0" dirty="0">
              <a:solidFill>
                <a:srgbClr val="161616"/>
              </a:solidFill>
              <a:effectLst/>
              <a:latin typeface="inherit"/>
            </a:endParaRPr>
          </a:p>
          <a:p>
            <a:pPr algn="l" fontAlgn="base"/>
            <a:r>
              <a:rPr lang="en-US" b="0" i="0" u="none" strike="noStrike" dirty="0">
                <a:solidFill>
                  <a:srgbClr val="0F62FE"/>
                </a:solidFill>
                <a:effectLst/>
                <a:latin typeface="IBM Plex Sans" panose="020B0503050203000203" pitchFamily="34" charset="0"/>
                <a:hlinkClick r:id="rId5"/>
              </a:rPr>
              <a:t>Agentic AI</a:t>
            </a:r>
            <a:r>
              <a:rPr lang="en-US" b="0" i="0" dirty="0">
                <a:solidFill>
                  <a:srgbClr val="161616"/>
                </a:solidFill>
                <a:effectLst/>
                <a:latin typeface="inherit"/>
              </a:rPr>
              <a:t> builds on </a:t>
            </a:r>
            <a:r>
              <a:rPr lang="en-US" b="0" i="0" u="none" strike="noStrike" dirty="0">
                <a:solidFill>
                  <a:srgbClr val="0F62FE"/>
                </a:solidFill>
                <a:effectLst/>
                <a:latin typeface="IBM Plex Sans" panose="020B0503050203000203" pitchFamily="34" charset="0"/>
                <a:hlinkClick r:id="rId6"/>
              </a:rPr>
              <a:t>generative AI</a:t>
            </a:r>
            <a:r>
              <a:rPr lang="en-US" b="0" i="0" dirty="0">
                <a:solidFill>
                  <a:srgbClr val="161616"/>
                </a:solidFill>
                <a:effectLst/>
                <a:latin typeface="inherit"/>
              </a:rPr>
              <a:t> (gen AI) techniques by using </a:t>
            </a:r>
            <a:r>
              <a:rPr lang="en-US" b="0" i="0" u="none" strike="noStrike" dirty="0">
                <a:solidFill>
                  <a:srgbClr val="0F62FE"/>
                </a:solidFill>
                <a:effectLst/>
                <a:latin typeface="IBM Plex Sans" panose="020B0503050203000203" pitchFamily="34" charset="0"/>
                <a:hlinkClick r:id="rId7"/>
              </a:rPr>
              <a:t>large language models</a:t>
            </a:r>
            <a:r>
              <a:rPr lang="en-US" b="0" i="0" dirty="0">
                <a:solidFill>
                  <a:srgbClr val="161616"/>
                </a:solidFill>
                <a:effectLst/>
                <a:latin typeface="inherit"/>
              </a:rPr>
              <a:t> (LLMs) to function in dynamic environments. While generative models focus on </a:t>
            </a:r>
            <a:r>
              <a:rPr lang="en-US" b="0" i="1" dirty="0">
                <a:solidFill>
                  <a:srgbClr val="161616"/>
                </a:solidFill>
                <a:effectLst/>
                <a:latin typeface="inherit"/>
              </a:rPr>
              <a:t>creating </a:t>
            </a:r>
            <a:r>
              <a:rPr lang="en-US" b="0" i="0" dirty="0">
                <a:solidFill>
                  <a:srgbClr val="161616"/>
                </a:solidFill>
                <a:effectLst/>
                <a:latin typeface="inherit"/>
              </a:rPr>
              <a:t>content based on learned patterns, agentic AI extends this capability by applying generative outputs toward specific goals. A </a:t>
            </a:r>
            <a:r>
              <a:rPr lang="en-US" b="0" i="0" u="none" strike="noStrike" dirty="0">
                <a:solidFill>
                  <a:srgbClr val="0F62FE"/>
                </a:solidFill>
                <a:effectLst/>
                <a:latin typeface="IBM Plex Sans" panose="020B0503050203000203" pitchFamily="34" charset="0"/>
                <a:hlinkClick r:id="rId8"/>
              </a:rPr>
              <a:t>generative AI</a:t>
            </a:r>
            <a:r>
              <a:rPr lang="en-US" b="0" i="0" dirty="0">
                <a:solidFill>
                  <a:srgbClr val="161616"/>
                </a:solidFill>
                <a:effectLst/>
                <a:latin typeface="inherit"/>
              </a:rPr>
              <a:t> model like OpenAI’s </a:t>
            </a:r>
            <a:r>
              <a:rPr lang="en-US" b="0" i="0" u="none" strike="noStrike" dirty="0">
                <a:solidFill>
                  <a:srgbClr val="0F62FE"/>
                </a:solidFill>
                <a:effectLst/>
                <a:latin typeface="IBM Plex Sans" panose="020B0503050203000203" pitchFamily="34" charset="0"/>
                <a:hlinkClick r:id="rId9"/>
              </a:rPr>
              <a:t>ChatGPT</a:t>
            </a:r>
            <a:r>
              <a:rPr lang="en-US" b="0" i="0" dirty="0">
                <a:solidFill>
                  <a:srgbClr val="161616"/>
                </a:solidFill>
                <a:effectLst/>
                <a:latin typeface="inherit"/>
              </a:rPr>
              <a:t> might produce text, images or code, but an agentic AI system can use that generated content to complete complex tasks autonomously by calling external tools. Agents can, for example, not only tell you the best time to climb Mt. Everest given your work schedule, it can also book you a flight and a hotel.</a:t>
            </a:r>
          </a:p>
        </p:txBody>
      </p:sp>
    </p:spTree>
    <p:extLst>
      <p:ext uri="{BB962C8B-B14F-4D97-AF65-F5344CB8AC3E}">
        <p14:creationId xmlns:p14="http://schemas.microsoft.com/office/powerpoint/2010/main" val="745902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Agentic</a:t>
            </a:r>
            <a:r>
              <a:rPr sz="3950" spc="55" dirty="0"/>
              <a:t> </a:t>
            </a:r>
            <a:r>
              <a:rPr sz="3950" dirty="0"/>
              <a:t>AI</a:t>
            </a:r>
            <a:r>
              <a:rPr sz="3950" spc="35" dirty="0"/>
              <a:t> </a:t>
            </a:r>
            <a:r>
              <a:rPr sz="3950" dirty="0"/>
              <a:t>in</a:t>
            </a:r>
            <a:r>
              <a:rPr sz="3950" spc="-15" dirty="0"/>
              <a:t> </a:t>
            </a:r>
            <a:r>
              <a:rPr sz="3950" dirty="0"/>
              <a:t>the</a:t>
            </a:r>
            <a:r>
              <a:rPr sz="3950" spc="-10" dirty="0"/>
              <a:t> </a:t>
            </a:r>
            <a:r>
              <a:rPr sz="3950" spc="-20" dirty="0"/>
              <a:t>News</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752475" y="1291039"/>
            <a:ext cx="10687050" cy="428252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Agentic</a:t>
            </a:r>
            <a:r>
              <a:rPr sz="3950" spc="20" dirty="0"/>
              <a:t> </a:t>
            </a:r>
            <a:r>
              <a:rPr sz="3950" dirty="0"/>
              <a:t>AI</a:t>
            </a:r>
            <a:r>
              <a:rPr sz="3950" spc="20" dirty="0"/>
              <a:t> </a:t>
            </a:r>
            <a:r>
              <a:rPr sz="3950" spc="-10" dirty="0"/>
              <a:t>Evolution</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1381125" y="1314450"/>
            <a:ext cx="9734550" cy="44767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Agentic</a:t>
            </a:r>
            <a:r>
              <a:rPr sz="3950" spc="50" dirty="0"/>
              <a:t> </a:t>
            </a:r>
            <a:r>
              <a:rPr sz="3950" dirty="0"/>
              <a:t>AI</a:t>
            </a:r>
            <a:r>
              <a:rPr sz="3950" spc="40" dirty="0"/>
              <a:t> </a:t>
            </a:r>
            <a:r>
              <a:rPr sz="3950" dirty="0"/>
              <a:t>capabilities</a:t>
            </a:r>
            <a:r>
              <a:rPr sz="3950" spc="130" dirty="0"/>
              <a:t> </a:t>
            </a:r>
            <a:r>
              <a:rPr sz="3950" dirty="0"/>
              <a:t>–</a:t>
            </a:r>
            <a:r>
              <a:rPr sz="3950" spc="30" dirty="0"/>
              <a:t> </a:t>
            </a:r>
            <a:r>
              <a:rPr sz="3950" dirty="0"/>
              <a:t>Task</a:t>
            </a:r>
            <a:r>
              <a:rPr sz="3950" spc="-10" dirty="0"/>
              <a:t> Decomposition</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2105001" y="1136650"/>
            <a:ext cx="7458130" cy="4673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Agentic</a:t>
            </a:r>
            <a:r>
              <a:rPr sz="3950" spc="60" dirty="0"/>
              <a:t> </a:t>
            </a:r>
            <a:r>
              <a:rPr sz="3950" dirty="0"/>
              <a:t>AI</a:t>
            </a:r>
            <a:r>
              <a:rPr sz="3950" spc="40" dirty="0"/>
              <a:t> </a:t>
            </a:r>
            <a:r>
              <a:rPr sz="3950" dirty="0"/>
              <a:t>capabilities</a:t>
            </a:r>
            <a:r>
              <a:rPr sz="3950" spc="140" dirty="0"/>
              <a:t> </a:t>
            </a:r>
            <a:r>
              <a:rPr sz="3950" dirty="0"/>
              <a:t>–</a:t>
            </a:r>
            <a:r>
              <a:rPr sz="3950" spc="40" dirty="0"/>
              <a:t> </a:t>
            </a:r>
            <a:r>
              <a:rPr sz="3950" dirty="0"/>
              <a:t>Memory</a:t>
            </a:r>
            <a:r>
              <a:rPr sz="3950" spc="60" dirty="0"/>
              <a:t> </a:t>
            </a:r>
            <a:r>
              <a:rPr sz="3950" spc="-10" dirty="0"/>
              <a:t>Management</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2289621" y="1057275"/>
            <a:ext cx="7533269" cy="471421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Agentic</a:t>
            </a:r>
            <a:r>
              <a:rPr sz="3950" spc="50" dirty="0"/>
              <a:t> </a:t>
            </a:r>
            <a:r>
              <a:rPr sz="3950" dirty="0"/>
              <a:t>AI</a:t>
            </a:r>
            <a:r>
              <a:rPr sz="3950" spc="40" dirty="0"/>
              <a:t> </a:t>
            </a:r>
            <a:r>
              <a:rPr sz="3950" dirty="0"/>
              <a:t>capabilities</a:t>
            </a:r>
            <a:r>
              <a:rPr sz="3950" spc="130" dirty="0"/>
              <a:t> </a:t>
            </a:r>
            <a:r>
              <a:rPr sz="3950" dirty="0"/>
              <a:t>–</a:t>
            </a:r>
            <a:r>
              <a:rPr sz="3950" spc="30" dirty="0"/>
              <a:t> </a:t>
            </a:r>
            <a:r>
              <a:rPr sz="3950" dirty="0"/>
              <a:t>Reflect</a:t>
            </a:r>
            <a:r>
              <a:rPr sz="3950" spc="35" dirty="0"/>
              <a:t> </a:t>
            </a:r>
            <a:r>
              <a:rPr sz="3950" dirty="0"/>
              <a:t>&amp;</a:t>
            </a:r>
            <a:r>
              <a:rPr sz="3950" spc="-5" dirty="0"/>
              <a:t> </a:t>
            </a:r>
            <a:r>
              <a:rPr sz="3950" spc="-10" dirty="0"/>
              <a:t>Adapt</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3366808" y="1256016"/>
            <a:ext cx="5491441" cy="451482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812" y="173355"/>
            <a:ext cx="11309350" cy="575310"/>
          </a:xfrm>
          <a:prstGeom prst="rect">
            <a:avLst/>
          </a:prstGeom>
        </p:spPr>
        <p:txBody>
          <a:bodyPr vert="horz" wrap="square" lIns="0" tIns="13335" rIns="0" bIns="0" rtlCol="0">
            <a:spAutoFit/>
          </a:bodyPr>
          <a:lstStyle/>
          <a:p>
            <a:pPr marL="12700">
              <a:lnSpc>
                <a:spcPct val="100000"/>
              </a:lnSpc>
              <a:spcBef>
                <a:spcPts val="105"/>
              </a:spcBef>
            </a:pPr>
            <a:r>
              <a:rPr dirty="0"/>
              <a:t>Agentic</a:t>
            </a:r>
            <a:r>
              <a:rPr spc="-80" dirty="0"/>
              <a:t> </a:t>
            </a:r>
            <a:r>
              <a:rPr dirty="0"/>
              <a:t>AI</a:t>
            </a:r>
            <a:r>
              <a:rPr spc="-25" dirty="0"/>
              <a:t> </a:t>
            </a:r>
            <a:r>
              <a:rPr dirty="0"/>
              <a:t>Use-case:</a:t>
            </a:r>
            <a:r>
              <a:rPr spc="-20" dirty="0"/>
              <a:t> </a:t>
            </a:r>
            <a:r>
              <a:rPr dirty="0"/>
              <a:t>Funds</a:t>
            </a:r>
            <a:r>
              <a:rPr spc="5" dirty="0"/>
              <a:t> </a:t>
            </a:r>
            <a:r>
              <a:rPr dirty="0"/>
              <a:t>Email</a:t>
            </a:r>
            <a:r>
              <a:rPr spc="-40" dirty="0"/>
              <a:t> </a:t>
            </a:r>
            <a:r>
              <a:rPr dirty="0"/>
              <a:t>Marketing</a:t>
            </a:r>
            <a:r>
              <a:rPr spc="-45" dirty="0"/>
              <a:t> </a:t>
            </a:r>
            <a:r>
              <a:rPr spc="-10" dirty="0"/>
              <a:t>Campaign</a:t>
            </a:r>
          </a:p>
        </p:txBody>
      </p:sp>
      <p:pic>
        <p:nvPicPr>
          <p:cNvPr id="3" name="object 3"/>
          <p:cNvPicPr/>
          <p:nvPr/>
        </p:nvPicPr>
        <p:blipFill>
          <a:blip r:embed="rId2" cstate="print"/>
          <a:stretch>
            <a:fillRect/>
          </a:stretch>
        </p:blipFill>
        <p:spPr>
          <a:xfrm>
            <a:off x="863682" y="896424"/>
            <a:ext cx="10650803" cy="58165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9F582-D582-E64B-6013-CBFD7756FAF7}"/>
              </a:ext>
            </a:extLst>
          </p:cNvPr>
          <p:cNvSpPr>
            <a:spLocks noGrp="1"/>
          </p:cNvSpPr>
          <p:nvPr>
            <p:ph type="title"/>
          </p:nvPr>
        </p:nvSpPr>
        <p:spPr>
          <a:xfrm>
            <a:off x="425132" y="147574"/>
            <a:ext cx="11341735" cy="553998"/>
          </a:xfrm>
        </p:spPr>
        <p:txBody>
          <a:bodyPr/>
          <a:lstStyle/>
          <a:p>
            <a:r>
              <a:rPr lang="en-US" dirty="0"/>
              <a:t>Agentic AI Pattern</a:t>
            </a:r>
          </a:p>
        </p:txBody>
      </p:sp>
      <p:pic>
        <p:nvPicPr>
          <p:cNvPr id="4" name="Picture 3">
            <a:extLst>
              <a:ext uri="{FF2B5EF4-FFF2-40B4-BE49-F238E27FC236}">
                <a16:creationId xmlns:a16="http://schemas.microsoft.com/office/drawing/2014/main" id="{CC82882F-0FC7-B3EB-AA58-A24A828A7F3A}"/>
              </a:ext>
            </a:extLst>
          </p:cNvPr>
          <p:cNvPicPr>
            <a:picLocks noChangeAspect="1"/>
          </p:cNvPicPr>
          <p:nvPr/>
        </p:nvPicPr>
        <p:blipFill>
          <a:blip r:embed="rId2" cstate="print"/>
          <a:stretch>
            <a:fillRect/>
          </a:stretch>
        </p:blipFill>
        <p:spPr>
          <a:xfrm>
            <a:off x="1370940" y="1357023"/>
            <a:ext cx="9450119" cy="4143953"/>
          </a:xfrm>
          <a:prstGeom prst="rect">
            <a:avLst/>
          </a:prstGeom>
        </p:spPr>
      </p:pic>
    </p:spTree>
    <p:extLst>
      <p:ext uri="{BB962C8B-B14F-4D97-AF65-F5344CB8AC3E}">
        <p14:creationId xmlns:p14="http://schemas.microsoft.com/office/powerpoint/2010/main" val="20330112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0" y="19048"/>
              <a:ext cx="12192000" cy="6838950"/>
            </a:xfrm>
            <a:custGeom>
              <a:avLst/>
              <a:gdLst/>
              <a:ahLst/>
              <a:cxnLst/>
              <a:rect l="l" t="t" r="r" b="b"/>
              <a:pathLst>
                <a:path w="12192000" h="6838950">
                  <a:moveTo>
                    <a:pt x="12192000" y="0"/>
                  </a:moveTo>
                  <a:lnTo>
                    <a:pt x="0" y="0"/>
                  </a:lnTo>
                  <a:lnTo>
                    <a:pt x="0" y="6838951"/>
                  </a:lnTo>
                  <a:lnTo>
                    <a:pt x="12192000" y="6838951"/>
                  </a:lnTo>
                  <a:lnTo>
                    <a:pt x="12192000" y="0"/>
                  </a:lnTo>
                  <a:close/>
                </a:path>
              </a:pathLst>
            </a:custGeom>
            <a:solidFill>
              <a:srgbClr val="002384">
                <a:alpha val="39999"/>
              </a:srgbClr>
            </a:solidFill>
          </p:spPr>
          <p:txBody>
            <a:bodyPr wrap="square" lIns="0" tIns="0" rIns="0" bIns="0" rtlCol="0"/>
            <a:lstStyle/>
            <a:p>
              <a:endParaRPr/>
            </a:p>
          </p:txBody>
        </p:sp>
      </p:grpSp>
      <p:sp>
        <p:nvSpPr>
          <p:cNvPr id="5" name="object 5"/>
          <p:cNvSpPr txBox="1">
            <a:spLocks noGrp="1"/>
          </p:cNvSpPr>
          <p:nvPr>
            <p:ph type="title"/>
          </p:nvPr>
        </p:nvSpPr>
        <p:spPr>
          <a:xfrm>
            <a:off x="334962" y="672718"/>
            <a:ext cx="3319145" cy="2045970"/>
          </a:xfrm>
          <a:prstGeom prst="rect">
            <a:avLst/>
          </a:prstGeom>
        </p:spPr>
        <p:txBody>
          <a:bodyPr vert="horz" wrap="square" lIns="0" tIns="14605" rIns="0" bIns="0" rtlCol="0">
            <a:spAutoFit/>
          </a:bodyPr>
          <a:lstStyle/>
          <a:p>
            <a:pPr marL="12700" marR="5080">
              <a:lnSpc>
                <a:spcPct val="100299"/>
              </a:lnSpc>
              <a:spcBef>
                <a:spcPts val="115"/>
              </a:spcBef>
            </a:pPr>
            <a:r>
              <a:rPr sz="4400" b="1" dirty="0">
                <a:solidFill>
                  <a:srgbClr val="FFFFFF"/>
                </a:solidFill>
                <a:latin typeface="Arial"/>
                <a:cs typeface="Arial"/>
              </a:rPr>
              <a:t>Agentic</a:t>
            </a:r>
            <a:r>
              <a:rPr sz="4400" b="1" spc="-80" dirty="0">
                <a:solidFill>
                  <a:srgbClr val="FFFFFF"/>
                </a:solidFill>
                <a:latin typeface="Arial"/>
                <a:cs typeface="Arial"/>
              </a:rPr>
              <a:t> </a:t>
            </a:r>
            <a:r>
              <a:rPr sz="4400" b="1" spc="-25" dirty="0">
                <a:solidFill>
                  <a:srgbClr val="FFFFFF"/>
                </a:solidFill>
                <a:latin typeface="Arial"/>
                <a:cs typeface="Arial"/>
              </a:rPr>
              <a:t>AI </a:t>
            </a:r>
            <a:r>
              <a:rPr sz="4400" b="1" spc="-10" dirty="0">
                <a:solidFill>
                  <a:srgbClr val="FFFFFF"/>
                </a:solidFill>
                <a:latin typeface="Arial"/>
                <a:cs typeface="Arial"/>
              </a:rPr>
              <a:t>Reference Architecture</a:t>
            </a:r>
            <a:endParaRPr sz="440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07454" rIns="0" bIns="0" rtlCol="0">
            <a:spAutoFit/>
          </a:bodyPr>
          <a:lstStyle/>
          <a:p>
            <a:pPr marL="516890">
              <a:lnSpc>
                <a:spcPct val="100000"/>
              </a:lnSpc>
              <a:spcBef>
                <a:spcPts val="130"/>
              </a:spcBef>
            </a:pPr>
            <a:r>
              <a:rPr sz="3950" dirty="0"/>
              <a:t>Generative</a:t>
            </a:r>
            <a:r>
              <a:rPr sz="3950" spc="55" dirty="0"/>
              <a:t> </a:t>
            </a:r>
            <a:r>
              <a:rPr sz="3950" dirty="0"/>
              <a:t>AI</a:t>
            </a:r>
            <a:r>
              <a:rPr sz="3950" spc="30" dirty="0"/>
              <a:t> </a:t>
            </a:r>
            <a:r>
              <a:rPr sz="3950" spc="-10" dirty="0"/>
              <a:t>Lifecycle</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pic>
        <p:nvPicPr>
          <p:cNvPr id="4" name="object 4"/>
          <p:cNvPicPr/>
          <p:nvPr/>
        </p:nvPicPr>
        <p:blipFill>
          <a:blip r:embed="rId3" cstate="print"/>
          <a:stretch>
            <a:fillRect/>
          </a:stretch>
        </p:blipFill>
        <p:spPr>
          <a:xfrm>
            <a:off x="66675" y="1419225"/>
            <a:ext cx="11997485" cy="397192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6217" y="322580"/>
            <a:ext cx="11636375" cy="575310"/>
          </a:xfrm>
          <a:prstGeom prst="rect">
            <a:avLst/>
          </a:prstGeom>
        </p:spPr>
        <p:txBody>
          <a:bodyPr vert="horz" wrap="square" lIns="0" tIns="13335" rIns="0" bIns="0" rtlCol="0">
            <a:spAutoFit/>
          </a:bodyPr>
          <a:lstStyle/>
          <a:p>
            <a:pPr marL="12700">
              <a:lnSpc>
                <a:spcPct val="100000"/>
              </a:lnSpc>
              <a:spcBef>
                <a:spcPts val="105"/>
              </a:spcBef>
            </a:pPr>
            <a:r>
              <a:rPr dirty="0"/>
              <a:t>Gen</a:t>
            </a:r>
            <a:r>
              <a:rPr spc="-40" dirty="0"/>
              <a:t> </a:t>
            </a:r>
            <a:r>
              <a:rPr dirty="0"/>
              <a:t>AI</a:t>
            </a:r>
            <a:r>
              <a:rPr spc="-15" dirty="0"/>
              <a:t> </a:t>
            </a:r>
            <a:r>
              <a:rPr dirty="0"/>
              <a:t>Architecture</a:t>
            </a:r>
            <a:r>
              <a:rPr spc="-40" dirty="0"/>
              <a:t> </a:t>
            </a:r>
            <a:r>
              <a:rPr dirty="0"/>
              <a:t>Patterns</a:t>
            </a:r>
            <a:r>
              <a:rPr spc="5" dirty="0"/>
              <a:t> </a:t>
            </a:r>
            <a:r>
              <a:rPr dirty="0"/>
              <a:t>–</a:t>
            </a:r>
            <a:r>
              <a:rPr spc="-30" dirty="0"/>
              <a:t> </a:t>
            </a:r>
            <a:r>
              <a:rPr dirty="0"/>
              <a:t>APIs</a:t>
            </a:r>
            <a:r>
              <a:rPr spc="15" dirty="0"/>
              <a:t> </a:t>
            </a:r>
            <a:r>
              <a:rPr dirty="0"/>
              <a:t>&amp;</a:t>
            </a:r>
            <a:r>
              <a:rPr spc="-60" dirty="0"/>
              <a:t> </a:t>
            </a:r>
            <a:r>
              <a:rPr dirty="0"/>
              <a:t>Embedded</a:t>
            </a:r>
            <a:r>
              <a:rPr spc="-40" dirty="0"/>
              <a:t> </a:t>
            </a:r>
            <a:r>
              <a:rPr dirty="0"/>
              <a:t>Gen</a:t>
            </a:r>
            <a:r>
              <a:rPr spc="-35" dirty="0"/>
              <a:t> </a:t>
            </a:r>
            <a:r>
              <a:rPr spc="-25" dirty="0"/>
              <a:t>AI</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742950" y="3267075"/>
            <a:ext cx="4572000" cy="2171700"/>
          </a:xfrm>
          <a:custGeom>
            <a:avLst/>
            <a:gdLst/>
            <a:ahLst/>
            <a:cxnLst/>
            <a:rect l="l" t="t" r="r" b="b"/>
            <a:pathLst>
              <a:path w="4572000" h="2171700">
                <a:moveTo>
                  <a:pt x="4572000" y="0"/>
                </a:moveTo>
                <a:lnTo>
                  <a:pt x="0" y="0"/>
                </a:lnTo>
                <a:lnTo>
                  <a:pt x="0" y="2171700"/>
                </a:lnTo>
                <a:lnTo>
                  <a:pt x="4264025" y="2151888"/>
                </a:lnTo>
                <a:lnTo>
                  <a:pt x="4572000" y="0"/>
                </a:lnTo>
                <a:close/>
              </a:path>
            </a:pathLst>
          </a:custGeom>
          <a:solidFill>
            <a:srgbClr val="002384"/>
          </a:solidFill>
        </p:spPr>
        <p:txBody>
          <a:bodyPr wrap="square" lIns="0" tIns="0" rIns="0" bIns="0" rtlCol="0"/>
          <a:lstStyle/>
          <a:p>
            <a:endParaRPr/>
          </a:p>
        </p:txBody>
      </p:sp>
      <p:sp>
        <p:nvSpPr>
          <p:cNvPr id="5" name="object 5"/>
          <p:cNvSpPr/>
          <p:nvPr/>
        </p:nvSpPr>
        <p:spPr>
          <a:xfrm>
            <a:off x="762000" y="1476375"/>
            <a:ext cx="4648200" cy="1476375"/>
          </a:xfrm>
          <a:custGeom>
            <a:avLst/>
            <a:gdLst/>
            <a:ahLst/>
            <a:cxnLst/>
            <a:rect l="l" t="t" r="r" b="b"/>
            <a:pathLst>
              <a:path w="4648200" h="1476375">
                <a:moveTo>
                  <a:pt x="4648200" y="0"/>
                </a:moveTo>
                <a:lnTo>
                  <a:pt x="0" y="0"/>
                </a:lnTo>
                <a:lnTo>
                  <a:pt x="0" y="1476375"/>
                </a:lnTo>
                <a:lnTo>
                  <a:pt x="4335018" y="1462913"/>
                </a:lnTo>
                <a:lnTo>
                  <a:pt x="4648200" y="0"/>
                </a:lnTo>
                <a:close/>
              </a:path>
            </a:pathLst>
          </a:custGeom>
          <a:solidFill>
            <a:srgbClr val="002384"/>
          </a:solidFill>
        </p:spPr>
        <p:txBody>
          <a:bodyPr wrap="square" lIns="0" tIns="0" rIns="0" bIns="0" rtlCol="0"/>
          <a:lstStyle/>
          <a:p>
            <a:endParaRPr/>
          </a:p>
        </p:txBody>
      </p:sp>
      <p:sp>
        <p:nvSpPr>
          <p:cNvPr id="6" name="object 6"/>
          <p:cNvSpPr txBox="1"/>
          <p:nvPr/>
        </p:nvSpPr>
        <p:spPr>
          <a:xfrm>
            <a:off x="805815" y="1492186"/>
            <a:ext cx="4174490" cy="3759835"/>
          </a:xfrm>
          <a:prstGeom prst="rect">
            <a:avLst/>
          </a:prstGeom>
        </p:spPr>
        <p:txBody>
          <a:bodyPr vert="horz" wrap="square" lIns="0" tIns="10795" rIns="0" bIns="0" rtlCol="0">
            <a:spAutoFit/>
          </a:bodyPr>
          <a:lstStyle/>
          <a:p>
            <a:pPr marL="69215" marR="17780">
              <a:lnSpc>
                <a:spcPct val="100800"/>
              </a:lnSpc>
              <a:spcBef>
                <a:spcPts val="85"/>
              </a:spcBef>
            </a:pPr>
            <a:r>
              <a:rPr sz="1800" b="1" spc="-10" dirty="0">
                <a:solidFill>
                  <a:srgbClr val="FFD966"/>
                </a:solidFill>
                <a:latin typeface="Calibri"/>
                <a:cs typeface="Calibri"/>
              </a:rPr>
              <a:t>Black-</a:t>
            </a:r>
            <a:r>
              <a:rPr sz="1800" b="1" dirty="0">
                <a:solidFill>
                  <a:srgbClr val="FFD966"/>
                </a:solidFill>
                <a:latin typeface="Calibri"/>
                <a:cs typeface="Calibri"/>
              </a:rPr>
              <a:t>box</a:t>
            </a:r>
            <a:r>
              <a:rPr sz="1800" b="1" spc="-35" dirty="0">
                <a:solidFill>
                  <a:srgbClr val="FFD966"/>
                </a:solidFill>
                <a:latin typeface="Calibri"/>
                <a:cs typeface="Calibri"/>
              </a:rPr>
              <a:t> </a:t>
            </a:r>
            <a:r>
              <a:rPr sz="1800" b="1" dirty="0">
                <a:solidFill>
                  <a:srgbClr val="FFD966"/>
                </a:solidFill>
                <a:latin typeface="Calibri"/>
                <a:cs typeface="Calibri"/>
              </a:rPr>
              <a:t>LLM</a:t>
            </a:r>
            <a:r>
              <a:rPr sz="1800" b="1" spc="-35" dirty="0">
                <a:solidFill>
                  <a:srgbClr val="FFD966"/>
                </a:solidFill>
                <a:latin typeface="Calibri"/>
                <a:cs typeface="Calibri"/>
              </a:rPr>
              <a:t> </a:t>
            </a:r>
            <a:r>
              <a:rPr sz="1800" b="1" dirty="0">
                <a:solidFill>
                  <a:srgbClr val="FFD966"/>
                </a:solidFill>
                <a:latin typeface="Calibri"/>
                <a:cs typeface="Calibri"/>
              </a:rPr>
              <a:t>APIs:</a:t>
            </a:r>
            <a:r>
              <a:rPr sz="1800" b="1" spc="30" dirty="0">
                <a:solidFill>
                  <a:srgbClr val="FFD966"/>
                </a:solidFill>
                <a:latin typeface="Calibri"/>
                <a:cs typeface="Calibri"/>
              </a:rPr>
              <a:t> </a:t>
            </a:r>
            <a:r>
              <a:rPr sz="1800" dirty="0">
                <a:solidFill>
                  <a:srgbClr val="FFFFFF"/>
                </a:solidFill>
                <a:latin typeface="Calibri"/>
                <a:cs typeface="Calibri"/>
              </a:rPr>
              <a:t>This</a:t>
            </a:r>
            <a:r>
              <a:rPr sz="1800" spc="15" dirty="0">
                <a:solidFill>
                  <a:srgbClr val="FFFFFF"/>
                </a:solidFill>
                <a:latin typeface="Calibri"/>
                <a:cs typeface="Calibri"/>
              </a:rPr>
              <a:t> </a:t>
            </a:r>
            <a:r>
              <a:rPr sz="1800" dirty="0">
                <a:solidFill>
                  <a:srgbClr val="FFFFFF"/>
                </a:solidFill>
                <a:latin typeface="Calibri"/>
                <a:cs typeface="Calibri"/>
              </a:rPr>
              <a:t>is</a:t>
            </a:r>
            <a:r>
              <a:rPr sz="1800" spc="5" dirty="0">
                <a:solidFill>
                  <a:srgbClr val="FFFFFF"/>
                </a:solidFill>
                <a:latin typeface="Calibri"/>
                <a:cs typeface="Calibri"/>
              </a:rPr>
              <a:t> </a:t>
            </a:r>
            <a:r>
              <a:rPr sz="1800" dirty="0">
                <a:solidFill>
                  <a:srgbClr val="FFFFFF"/>
                </a:solidFill>
                <a:latin typeface="Calibri"/>
                <a:cs typeface="Calibri"/>
              </a:rPr>
              <a:t>the</a:t>
            </a:r>
            <a:r>
              <a:rPr sz="1800" spc="-25" dirty="0">
                <a:solidFill>
                  <a:srgbClr val="FFFFFF"/>
                </a:solidFill>
                <a:latin typeface="Calibri"/>
                <a:cs typeface="Calibri"/>
              </a:rPr>
              <a:t> </a:t>
            </a:r>
            <a:r>
              <a:rPr sz="1800" spc="-10" dirty="0">
                <a:solidFill>
                  <a:srgbClr val="FFFFFF"/>
                </a:solidFill>
                <a:latin typeface="Calibri"/>
                <a:cs typeface="Calibri"/>
              </a:rPr>
              <a:t>classic </a:t>
            </a:r>
            <a:r>
              <a:rPr sz="1800" dirty="0">
                <a:solidFill>
                  <a:srgbClr val="FFFFFF"/>
                </a:solidFill>
                <a:latin typeface="Calibri"/>
                <a:cs typeface="Calibri"/>
              </a:rPr>
              <a:t>ChatGPT</a:t>
            </a:r>
            <a:r>
              <a:rPr sz="1800" spc="-35" dirty="0">
                <a:solidFill>
                  <a:srgbClr val="FFFFFF"/>
                </a:solidFill>
                <a:latin typeface="Calibri"/>
                <a:cs typeface="Calibri"/>
              </a:rPr>
              <a:t> </a:t>
            </a:r>
            <a:r>
              <a:rPr sz="1800" dirty="0">
                <a:solidFill>
                  <a:srgbClr val="FFFFFF"/>
                </a:solidFill>
                <a:latin typeface="Calibri"/>
                <a:cs typeface="Calibri"/>
              </a:rPr>
              <a:t>example,</a:t>
            </a:r>
            <a:r>
              <a:rPr sz="1800" spc="-45" dirty="0">
                <a:solidFill>
                  <a:srgbClr val="FFFFFF"/>
                </a:solidFill>
                <a:latin typeface="Calibri"/>
                <a:cs typeface="Calibri"/>
              </a:rPr>
              <a:t> </a:t>
            </a:r>
            <a:r>
              <a:rPr sz="1800" dirty="0">
                <a:solidFill>
                  <a:srgbClr val="FFFFFF"/>
                </a:solidFill>
                <a:latin typeface="Calibri"/>
                <a:cs typeface="Calibri"/>
              </a:rPr>
              <a:t>where</a:t>
            </a:r>
            <a:r>
              <a:rPr sz="1800" spc="-50" dirty="0">
                <a:solidFill>
                  <a:srgbClr val="FFFFFF"/>
                </a:solidFill>
                <a:latin typeface="Calibri"/>
                <a:cs typeface="Calibri"/>
              </a:rPr>
              <a:t> </a:t>
            </a:r>
            <a:r>
              <a:rPr sz="1800" dirty="0">
                <a:solidFill>
                  <a:srgbClr val="FFFFFF"/>
                </a:solidFill>
                <a:latin typeface="Calibri"/>
                <a:cs typeface="Calibri"/>
              </a:rPr>
              <a:t>we</a:t>
            </a:r>
            <a:r>
              <a:rPr sz="1800" spc="20" dirty="0">
                <a:solidFill>
                  <a:srgbClr val="FFFFFF"/>
                </a:solidFill>
                <a:latin typeface="Calibri"/>
                <a:cs typeface="Calibri"/>
              </a:rPr>
              <a:t> </a:t>
            </a:r>
            <a:r>
              <a:rPr sz="1800" dirty="0">
                <a:solidFill>
                  <a:srgbClr val="FFFFFF"/>
                </a:solidFill>
                <a:latin typeface="Calibri"/>
                <a:cs typeface="Calibri"/>
              </a:rPr>
              <a:t>have</a:t>
            </a:r>
            <a:r>
              <a:rPr sz="1800" spc="-45" dirty="0">
                <a:solidFill>
                  <a:srgbClr val="FFFFFF"/>
                </a:solidFill>
                <a:latin typeface="Calibri"/>
                <a:cs typeface="Calibri"/>
              </a:rPr>
              <a:t> </a:t>
            </a:r>
            <a:r>
              <a:rPr sz="1800" spc="-10" dirty="0">
                <a:solidFill>
                  <a:srgbClr val="FFFFFF"/>
                </a:solidFill>
                <a:latin typeface="Calibri"/>
                <a:cs typeface="Calibri"/>
              </a:rPr>
              <a:t>black- </a:t>
            </a:r>
            <a:r>
              <a:rPr sz="1800" dirty="0">
                <a:solidFill>
                  <a:srgbClr val="FFFFFF"/>
                </a:solidFill>
                <a:latin typeface="Calibri"/>
                <a:cs typeface="Calibri"/>
              </a:rPr>
              <a:t>box</a:t>
            </a:r>
            <a:r>
              <a:rPr sz="1800" spc="-10" dirty="0">
                <a:solidFill>
                  <a:srgbClr val="FFFFFF"/>
                </a:solidFill>
                <a:latin typeface="Calibri"/>
                <a:cs typeface="Calibri"/>
              </a:rPr>
              <a:t> </a:t>
            </a:r>
            <a:r>
              <a:rPr sz="1800" dirty="0">
                <a:solidFill>
                  <a:srgbClr val="FFFFFF"/>
                </a:solidFill>
                <a:latin typeface="Calibri"/>
                <a:cs typeface="Calibri"/>
              </a:rPr>
              <a:t>access</a:t>
            </a:r>
            <a:r>
              <a:rPr sz="1800" spc="-5" dirty="0">
                <a:solidFill>
                  <a:srgbClr val="FFFFFF"/>
                </a:solidFill>
                <a:latin typeface="Calibri"/>
                <a:cs typeface="Calibri"/>
              </a:rPr>
              <a:t> </a:t>
            </a:r>
            <a:r>
              <a:rPr sz="1800" dirty="0">
                <a:solidFill>
                  <a:srgbClr val="FFFFFF"/>
                </a:solidFill>
                <a:latin typeface="Calibri"/>
                <a:cs typeface="Calibri"/>
              </a:rPr>
              <a:t>to</a:t>
            </a:r>
            <a:r>
              <a:rPr sz="1800" spc="-35" dirty="0">
                <a:solidFill>
                  <a:srgbClr val="FFFFFF"/>
                </a:solidFill>
                <a:latin typeface="Calibri"/>
                <a:cs typeface="Calibri"/>
              </a:rPr>
              <a:t> </a:t>
            </a:r>
            <a:r>
              <a:rPr sz="1800" dirty="0">
                <a:solidFill>
                  <a:srgbClr val="FFFFFF"/>
                </a:solidFill>
                <a:latin typeface="Calibri"/>
                <a:cs typeface="Calibri"/>
              </a:rPr>
              <a:t>a</a:t>
            </a:r>
            <a:r>
              <a:rPr sz="1800" spc="-15" dirty="0">
                <a:solidFill>
                  <a:srgbClr val="FFFFFF"/>
                </a:solidFill>
                <a:latin typeface="Calibri"/>
                <a:cs typeface="Calibri"/>
              </a:rPr>
              <a:t> </a:t>
            </a:r>
            <a:r>
              <a:rPr sz="1800" dirty="0">
                <a:solidFill>
                  <a:srgbClr val="FFFFFF"/>
                </a:solidFill>
                <a:latin typeface="Calibri"/>
                <a:cs typeface="Calibri"/>
              </a:rPr>
              <a:t>LLM</a:t>
            </a:r>
            <a:r>
              <a:rPr sz="1800" spc="-15" dirty="0">
                <a:solidFill>
                  <a:srgbClr val="FFFFFF"/>
                </a:solidFill>
                <a:latin typeface="Calibri"/>
                <a:cs typeface="Calibri"/>
              </a:rPr>
              <a:t> </a:t>
            </a:r>
            <a:r>
              <a:rPr sz="1800" dirty="0">
                <a:solidFill>
                  <a:srgbClr val="FFFFFF"/>
                </a:solidFill>
                <a:latin typeface="Calibri"/>
                <a:cs typeface="Calibri"/>
              </a:rPr>
              <a:t>API/UI.</a:t>
            </a:r>
            <a:r>
              <a:rPr sz="1800" spc="-30" dirty="0">
                <a:solidFill>
                  <a:srgbClr val="FFFFFF"/>
                </a:solidFill>
                <a:latin typeface="Calibri"/>
                <a:cs typeface="Calibri"/>
              </a:rPr>
              <a:t> </a:t>
            </a:r>
            <a:r>
              <a:rPr sz="1800" b="1" dirty="0">
                <a:solidFill>
                  <a:srgbClr val="FFD966"/>
                </a:solidFill>
                <a:latin typeface="Calibri"/>
                <a:cs typeface="Calibri"/>
              </a:rPr>
              <a:t>Prompts</a:t>
            </a:r>
            <a:r>
              <a:rPr sz="1800" b="1" spc="-20" dirty="0">
                <a:solidFill>
                  <a:srgbClr val="FFD966"/>
                </a:solidFill>
                <a:latin typeface="Calibri"/>
                <a:cs typeface="Calibri"/>
              </a:rPr>
              <a:t> </a:t>
            </a:r>
            <a:r>
              <a:rPr sz="1800" spc="-25" dirty="0">
                <a:solidFill>
                  <a:srgbClr val="FFFFFF"/>
                </a:solidFill>
                <a:latin typeface="Calibri"/>
                <a:cs typeface="Calibri"/>
              </a:rPr>
              <a:t>are</a:t>
            </a:r>
            <a:r>
              <a:rPr sz="1800" spc="500" dirty="0">
                <a:solidFill>
                  <a:srgbClr val="FFFFFF"/>
                </a:solidFill>
                <a:latin typeface="Calibri"/>
                <a:cs typeface="Calibri"/>
              </a:rPr>
              <a:t> </a:t>
            </a:r>
            <a:r>
              <a:rPr sz="1800" dirty="0">
                <a:solidFill>
                  <a:srgbClr val="FFFFFF"/>
                </a:solidFill>
                <a:latin typeface="Calibri"/>
                <a:cs typeface="Calibri"/>
              </a:rPr>
              <a:t>the</a:t>
            </a:r>
            <a:r>
              <a:rPr sz="1800" spc="-40" dirty="0">
                <a:solidFill>
                  <a:srgbClr val="FFFFFF"/>
                </a:solidFill>
                <a:latin typeface="Calibri"/>
                <a:cs typeface="Calibri"/>
              </a:rPr>
              <a:t> </a:t>
            </a:r>
            <a:r>
              <a:rPr sz="1800" dirty="0">
                <a:solidFill>
                  <a:srgbClr val="FFFFFF"/>
                </a:solidFill>
                <a:latin typeface="Calibri"/>
                <a:cs typeface="Calibri"/>
              </a:rPr>
              <a:t>primary</a:t>
            </a:r>
            <a:r>
              <a:rPr sz="1800" spc="-35" dirty="0">
                <a:solidFill>
                  <a:srgbClr val="FFFFFF"/>
                </a:solidFill>
                <a:latin typeface="Calibri"/>
                <a:cs typeface="Calibri"/>
              </a:rPr>
              <a:t> </a:t>
            </a:r>
            <a:r>
              <a:rPr sz="1800" dirty="0">
                <a:solidFill>
                  <a:srgbClr val="FFFFFF"/>
                </a:solidFill>
                <a:latin typeface="Calibri"/>
                <a:cs typeface="Calibri"/>
              </a:rPr>
              <a:t>interaction</a:t>
            </a:r>
            <a:r>
              <a:rPr sz="1800" spc="55" dirty="0">
                <a:solidFill>
                  <a:srgbClr val="FFFFFF"/>
                </a:solidFill>
                <a:latin typeface="Calibri"/>
                <a:cs typeface="Calibri"/>
              </a:rPr>
              <a:t> </a:t>
            </a:r>
            <a:r>
              <a:rPr sz="1800" spc="-10" dirty="0">
                <a:solidFill>
                  <a:srgbClr val="FFFFFF"/>
                </a:solidFill>
                <a:latin typeface="Calibri"/>
                <a:cs typeface="Calibri"/>
              </a:rPr>
              <a:t>mechanism</a:t>
            </a:r>
            <a:r>
              <a:rPr sz="1800" spc="-60" dirty="0">
                <a:solidFill>
                  <a:srgbClr val="FFFFFF"/>
                </a:solidFill>
                <a:latin typeface="Calibri"/>
                <a:cs typeface="Calibri"/>
              </a:rPr>
              <a:t> </a:t>
            </a:r>
            <a:r>
              <a:rPr sz="1800" dirty="0">
                <a:solidFill>
                  <a:srgbClr val="FFFFFF"/>
                </a:solidFill>
                <a:latin typeface="Calibri"/>
                <a:cs typeface="Calibri"/>
              </a:rPr>
              <a:t>for </a:t>
            </a:r>
            <a:r>
              <a:rPr sz="1800" spc="-20" dirty="0">
                <a:solidFill>
                  <a:srgbClr val="FFFFFF"/>
                </a:solidFill>
                <a:latin typeface="Calibri"/>
                <a:cs typeface="Calibri"/>
              </a:rPr>
              <a:t>such </a:t>
            </a:r>
            <a:r>
              <a:rPr sz="1800" spc="-10" dirty="0">
                <a:solidFill>
                  <a:srgbClr val="FFFFFF"/>
                </a:solidFill>
                <a:latin typeface="Calibri"/>
                <a:cs typeface="Calibri"/>
              </a:rPr>
              <a:t>scenarios.</a:t>
            </a:r>
            <a:endParaRPr sz="1800">
              <a:latin typeface="Calibri"/>
              <a:cs typeface="Calibri"/>
            </a:endParaRPr>
          </a:p>
          <a:p>
            <a:pPr>
              <a:lnSpc>
                <a:spcPct val="100000"/>
              </a:lnSpc>
              <a:spcBef>
                <a:spcPts val="1165"/>
              </a:spcBef>
            </a:pPr>
            <a:endParaRPr sz="1800">
              <a:latin typeface="Calibri"/>
              <a:cs typeface="Calibri"/>
            </a:endParaRPr>
          </a:p>
          <a:p>
            <a:pPr marL="50800" marR="127000">
              <a:lnSpc>
                <a:spcPct val="100299"/>
              </a:lnSpc>
              <a:spcBef>
                <a:spcPts val="5"/>
              </a:spcBef>
            </a:pPr>
            <a:r>
              <a:rPr sz="1800" dirty="0">
                <a:solidFill>
                  <a:srgbClr val="FFFFFF"/>
                </a:solidFill>
                <a:latin typeface="Calibri"/>
                <a:cs typeface="Calibri"/>
              </a:rPr>
              <a:t>While</a:t>
            </a:r>
            <a:r>
              <a:rPr sz="1800" spc="-15" dirty="0">
                <a:solidFill>
                  <a:srgbClr val="FFFFFF"/>
                </a:solidFill>
                <a:latin typeface="Calibri"/>
                <a:cs typeface="Calibri"/>
              </a:rPr>
              <a:t> </a:t>
            </a:r>
            <a:r>
              <a:rPr sz="1800" b="1" dirty="0">
                <a:solidFill>
                  <a:srgbClr val="FFD966"/>
                </a:solidFill>
                <a:latin typeface="Calibri"/>
                <a:cs typeface="Calibri"/>
              </a:rPr>
              <a:t>Enterprise LLM</a:t>
            </a:r>
            <a:r>
              <a:rPr sz="1800" b="1" spc="-55" dirty="0">
                <a:solidFill>
                  <a:srgbClr val="FFD966"/>
                </a:solidFill>
                <a:latin typeface="Calibri"/>
                <a:cs typeface="Calibri"/>
              </a:rPr>
              <a:t> </a:t>
            </a:r>
            <a:r>
              <a:rPr sz="1800" b="1" dirty="0">
                <a:solidFill>
                  <a:srgbClr val="FFD966"/>
                </a:solidFill>
                <a:latin typeface="Calibri"/>
                <a:cs typeface="Calibri"/>
              </a:rPr>
              <a:t>Apps</a:t>
            </a:r>
            <a:r>
              <a:rPr sz="1800" b="1" spc="-40" dirty="0">
                <a:solidFill>
                  <a:srgbClr val="FFD966"/>
                </a:solidFill>
                <a:latin typeface="Calibri"/>
                <a:cs typeface="Calibri"/>
              </a:rPr>
              <a:t> </a:t>
            </a:r>
            <a:r>
              <a:rPr sz="1800" dirty="0">
                <a:solidFill>
                  <a:srgbClr val="FFFFFF"/>
                </a:solidFill>
                <a:latin typeface="Calibri"/>
                <a:cs typeface="Calibri"/>
              </a:rPr>
              <a:t>have</a:t>
            </a:r>
            <a:r>
              <a:rPr sz="1800" spc="20" dirty="0">
                <a:solidFill>
                  <a:srgbClr val="FFFFFF"/>
                </a:solidFill>
                <a:latin typeface="Calibri"/>
                <a:cs typeface="Calibri"/>
              </a:rPr>
              <a:t> </a:t>
            </a:r>
            <a:r>
              <a:rPr sz="1800" spc="-25" dirty="0">
                <a:solidFill>
                  <a:srgbClr val="FFFFFF"/>
                </a:solidFill>
                <a:latin typeface="Calibri"/>
                <a:cs typeface="Calibri"/>
              </a:rPr>
              <a:t>the </a:t>
            </a:r>
            <a:r>
              <a:rPr sz="1800" dirty="0">
                <a:solidFill>
                  <a:srgbClr val="FFFFFF"/>
                </a:solidFill>
                <a:latin typeface="Calibri"/>
                <a:cs typeface="Calibri"/>
              </a:rPr>
              <a:t>potential</a:t>
            </a:r>
            <a:r>
              <a:rPr sz="1800" spc="-40" dirty="0">
                <a:solidFill>
                  <a:srgbClr val="FFFFFF"/>
                </a:solidFill>
                <a:latin typeface="Calibri"/>
                <a:cs typeface="Calibri"/>
              </a:rPr>
              <a:t> </a:t>
            </a:r>
            <a:r>
              <a:rPr sz="1800" dirty="0">
                <a:solidFill>
                  <a:srgbClr val="FFFFFF"/>
                </a:solidFill>
                <a:latin typeface="Calibri"/>
                <a:cs typeface="Calibri"/>
              </a:rPr>
              <a:t>to</a:t>
            </a:r>
            <a:r>
              <a:rPr sz="1800" spc="-55" dirty="0">
                <a:solidFill>
                  <a:srgbClr val="FFFFFF"/>
                </a:solidFill>
                <a:latin typeface="Calibri"/>
                <a:cs typeface="Calibri"/>
              </a:rPr>
              <a:t> </a:t>
            </a:r>
            <a:r>
              <a:rPr sz="1800" dirty="0">
                <a:solidFill>
                  <a:srgbClr val="FFFFFF"/>
                </a:solidFill>
                <a:latin typeface="Calibri"/>
                <a:cs typeface="Calibri"/>
              </a:rPr>
              <a:t>accelerate LLM</a:t>
            </a:r>
            <a:r>
              <a:rPr sz="1800" spc="-40" dirty="0">
                <a:solidFill>
                  <a:srgbClr val="FFFFFF"/>
                </a:solidFill>
                <a:latin typeface="Calibri"/>
                <a:cs typeface="Calibri"/>
              </a:rPr>
              <a:t> </a:t>
            </a:r>
            <a:r>
              <a:rPr sz="1800" dirty="0">
                <a:solidFill>
                  <a:srgbClr val="FFFFFF"/>
                </a:solidFill>
                <a:latin typeface="Calibri"/>
                <a:cs typeface="Calibri"/>
              </a:rPr>
              <a:t>adoption</a:t>
            </a:r>
            <a:r>
              <a:rPr sz="1800" spc="-50" dirty="0">
                <a:solidFill>
                  <a:srgbClr val="FFFFFF"/>
                </a:solidFill>
                <a:latin typeface="Calibri"/>
                <a:cs typeface="Calibri"/>
              </a:rPr>
              <a:t> </a:t>
            </a:r>
            <a:r>
              <a:rPr sz="1800" spc="-25" dirty="0">
                <a:solidFill>
                  <a:srgbClr val="FFFFFF"/>
                </a:solidFill>
                <a:latin typeface="Calibri"/>
                <a:cs typeface="Calibri"/>
              </a:rPr>
              <a:t>by </a:t>
            </a:r>
            <a:r>
              <a:rPr sz="1800" dirty="0">
                <a:solidFill>
                  <a:srgbClr val="FFFFFF"/>
                </a:solidFill>
                <a:latin typeface="Calibri"/>
                <a:cs typeface="Calibri"/>
              </a:rPr>
              <a:t>providing</a:t>
            </a:r>
            <a:r>
              <a:rPr sz="1800" spc="-40" dirty="0">
                <a:solidFill>
                  <a:srgbClr val="FFFFFF"/>
                </a:solidFill>
                <a:latin typeface="Calibri"/>
                <a:cs typeface="Calibri"/>
              </a:rPr>
              <a:t> </a:t>
            </a:r>
            <a:r>
              <a:rPr sz="1800" dirty="0">
                <a:solidFill>
                  <a:srgbClr val="FFFFFF"/>
                </a:solidFill>
                <a:latin typeface="Calibri"/>
                <a:cs typeface="Calibri"/>
              </a:rPr>
              <a:t>an</a:t>
            </a:r>
            <a:r>
              <a:rPr sz="1800" spc="-65" dirty="0">
                <a:solidFill>
                  <a:srgbClr val="FFFFFF"/>
                </a:solidFill>
                <a:latin typeface="Calibri"/>
                <a:cs typeface="Calibri"/>
              </a:rPr>
              <a:t> </a:t>
            </a:r>
            <a:r>
              <a:rPr sz="1800" dirty="0">
                <a:solidFill>
                  <a:srgbClr val="FFFFFF"/>
                </a:solidFill>
                <a:latin typeface="Calibri"/>
                <a:cs typeface="Calibri"/>
              </a:rPr>
              <a:t>enterprise</a:t>
            </a:r>
            <a:r>
              <a:rPr sz="1800" spc="-15" dirty="0">
                <a:solidFill>
                  <a:srgbClr val="FFFFFF"/>
                </a:solidFill>
                <a:latin typeface="Calibri"/>
                <a:cs typeface="Calibri"/>
              </a:rPr>
              <a:t> </a:t>
            </a:r>
            <a:r>
              <a:rPr sz="1800" dirty="0">
                <a:solidFill>
                  <a:srgbClr val="FFFFFF"/>
                </a:solidFill>
                <a:latin typeface="Calibri"/>
                <a:cs typeface="Calibri"/>
              </a:rPr>
              <a:t>ready</a:t>
            </a:r>
            <a:r>
              <a:rPr sz="1800" spc="-15" dirty="0">
                <a:solidFill>
                  <a:srgbClr val="FFFFFF"/>
                </a:solidFill>
                <a:latin typeface="Calibri"/>
                <a:cs typeface="Calibri"/>
              </a:rPr>
              <a:t> </a:t>
            </a:r>
            <a:r>
              <a:rPr sz="1800" dirty="0">
                <a:solidFill>
                  <a:srgbClr val="FFFFFF"/>
                </a:solidFill>
                <a:latin typeface="Calibri"/>
                <a:cs typeface="Calibri"/>
              </a:rPr>
              <a:t>solution;</a:t>
            </a:r>
            <a:r>
              <a:rPr sz="1800" spc="-30" dirty="0">
                <a:solidFill>
                  <a:srgbClr val="FFFFFF"/>
                </a:solidFill>
                <a:latin typeface="Calibri"/>
                <a:cs typeface="Calibri"/>
              </a:rPr>
              <a:t> </a:t>
            </a:r>
            <a:r>
              <a:rPr sz="1800" spc="-25" dirty="0">
                <a:solidFill>
                  <a:srgbClr val="FFFFFF"/>
                </a:solidFill>
                <a:latin typeface="Calibri"/>
                <a:cs typeface="Calibri"/>
              </a:rPr>
              <a:t>the </a:t>
            </a:r>
            <a:r>
              <a:rPr sz="1800" dirty="0">
                <a:solidFill>
                  <a:srgbClr val="FFFFFF"/>
                </a:solidFill>
                <a:latin typeface="Calibri"/>
                <a:cs typeface="Calibri"/>
              </a:rPr>
              <a:t>same</a:t>
            </a:r>
            <a:r>
              <a:rPr sz="1800" spc="-10" dirty="0">
                <a:solidFill>
                  <a:srgbClr val="FFFFFF"/>
                </a:solidFill>
                <a:latin typeface="Calibri"/>
                <a:cs typeface="Calibri"/>
              </a:rPr>
              <a:t> </a:t>
            </a:r>
            <a:r>
              <a:rPr sz="1800" dirty="0">
                <a:solidFill>
                  <a:srgbClr val="FFFFFF"/>
                </a:solidFill>
                <a:latin typeface="Calibri"/>
                <a:cs typeface="Calibri"/>
              </a:rPr>
              <a:t>caution</a:t>
            </a:r>
            <a:r>
              <a:rPr sz="1800" spc="-55" dirty="0">
                <a:solidFill>
                  <a:srgbClr val="FFFFFF"/>
                </a:solidFill>
                <a:latin typeface="Calibri"/>
                <a:cs typeface="Calibri"/>
              </a:rPr>
              <a:t> </a:t>
            </a:r>
            <a:r>
              <a:rPr sz="1800" dirty="0">
                <a:solidFill>
                  <a:srgbClr val="FFFFFF"/>
                </a:solidFill>
                <a:latin typeface="Calibri"/>
                <a:cs typeface="Calibri"/>
              </a:rPr>
              <a:t>needs</a:t>
            </a:r>
            <a:r>
              <a:rPr sz="1800" spc="-100" dirty="0">
                <a:solidFill>
                  <a:srgbClr val="FFFFFF"/>
                </a:solidFill>
                <a:latin typeface="Calibri"/>
                <a:cs typeface="Calibri"/>
              </a:rPr>
              <a:t> </a:t>
            </a:r>
            <a:r>
              <a:rPr sz="1800" dirty="0">
                <a:solidFill>
                  <a:srgbClr val="FFFFFF"/>
                </a:solidFill>
                <a:latin typeface="Calibri"/>
                <a:cs typeface="Calibri"/>
              </a:rPr>
              <a:t>to</a:t>
            </a:r>
            <a:r>
              <a:rPr sz="1800" spc="5" dirty="0">
                <a:solidFill>
                  <a:srgbClr val="FFFFFF"/>
                </a:solidFill>
                <a:latin typeface="Calibri"/>
                <a:cs typeface="Calibri"/>
              </a:rPr>
              <a:t> </a:t>
            </a:r>
            <a:r>
              <a:rPr sz="1800" dirty="0">
                <a:solidFill>
                  <a:srgbClr val="FFFFFF"/>
                </a:solidFill>
                <a:latin typeface="Calibri"/>
                <a:cs typeface="Calibri"/>
              </a:rPr>
              <a:t>be</a:t>
            </a:r>
            <a:r>
              <a:rPr sz="1800" spc="-5" dirty="0">
                <a:solidFill>
                  <a:srgbClr val="FFFFFF"/>
                </a:solidFill>
                <a:latin typeface="Calibri"/>
                <a:cs typeface="Calibri"/>
              </a:rPr>
              <a:t> </a:t>
            </a:r>
            <a:r>
              <a:rPr sz="1800" dirty="0">
                <a:solidFill>
                  <a:srgbClr val="FFFFFF"/>
                </a:solidFill>
                <a:latin typeface="Calibri"/>
                <a:cs typeface="Calibri"/>
              </a:rPr>
              <a:t>exercised</a:t>
            </a:r>
            <a:r>
              <a:rPr sz="1800" spc="15" dirty="0">
                <a:solidFill>
                  <a:srgbClr val="FFFFFF"/>
                </a:solidFill>
                <a:latin typeface="Calibri"/>
                <a:cs typeface="Calibri"/>
              </a:rPr>
              <a:t> </a:t>
            </a:r>
            <a:r>
              <a:rPr sz="1800" dirty="0">
                <a:solidFill>
                  <a:srgbClr val="FFFFFF"/>
                </a:solidFill>
                <a:latin typeface="Calibri"/>
                <a:cs typeface="Calibri"/>
              </a:rPr>
              <a:t>as</a:t>
            </a:r>
            <a:r>
              <a:rPr sz="1800" spc="-35" dirty="0">
                <a:solidFill>
                  <a:srgbClr val="FFFFFF"/>
                </a:solidFill>
                <a:latin typeface="Calibri"/>
                <a:cs typeface="Calibri"/>
              </a:rPr>
              <a:t> </a:t>
            </a:r>
            <a:r>
              <a:rPr sz="1800" spc="-25" dirty="0">
                <a:solidFill>
                  <a:srgbClr val="FFFFFF"/>
                </a:solidFill>
                <a:latin typeface="Calibri"/>
                <a:cs typeface="Calibri"/>
              </a:rPr>
              <a:t>you </a:t>
            </a:r>
            <a:r>
              <a:rPr sz="1800" dirty="0">
                <a:solidFill>
                  <a:srgbClr val="FFFFFF"/>
                </a:solidFill>
                <a:latin typeface="Calibri"/>
                <a:cs typeface="Calibri"/>
              </a:rPr>
              <a:t>would</a:t>
            </a:r>
            <a:r>
              <a:rPr sz="1800" spc="-20" dirty="0">
                <a:solidFill>
                  <a:srgbClr val="FFFFFF"/>
                </a:solidFill>
                <a:latin typeface="Calibri"/>
                <a:cs typeface="Calibri"/>
              </a:rPr>
              <a:t> </a:t>
            </a:r>
            <a:r>
              <a:rPr sz="1800" dirty="0">
                <a:solidFill>
                  <a:srgbClr val="FFFFFF"/>
                </a:solidFill>
                <a:latin typeface="Calibri"/>
                <a:cs typeface="Calibri"/>
              </a:rPr>
              <a:t>do</a:t>
            </a:r>
            <a:r>
              <a:rPr sz="1800" spc="-20" dirty="0">
                <a:solidFill>
                  <a:srgbClr val="FFFFFF"/>
                </a:solidFill>
                <a:latin typeface="Calibri"/>
                <a:cs typeface="Calibri"/>
              </a:rPr>
              <a:t> </a:t>
            </a:r>
            <a:r>
              <a:rPr sz="1800" dirty="0">
                <a:solidFill>
                  <a:srgbClr val="FFFFFF"/>
                </a:solidFill>
                <a:latin typeface="Calibri"/>
                <a:cs typeface="Calibri"/>
              </a:rPr>
              <a:t>before</a:t>
            </a:r>
            <a:r>
              <a:rPr sz="1800" spc="30" dirty="0">
                <a:solidFill>
                  <a:srgbClr val="FFFFFF"/>
                </a:solidFill>
                <a:latin typeface="Calibri"/>
                <a:cs typeface="Calibri"/>
              </a:rPr>
              <a:t> </a:t>
            </a:r>
            <a:r>
              <a:rPr sz="1800" dirty="0">
                <a:solidFill>
                  <a:srgbClr val="FFFFFF"/>
                </a:solidFill>
                <a:latin typeface="Calibri"/>
                <a:cs typeface="Calibri"/>
              </a:rPr>
              <a:t>using a</a:t>
            </a:r>
            <a:r>
              <a:rPr sz="1800" spc="-5" dirty="0">
                <a:solidFill>
                  <a:srgbClr val="FFFFFF"/>
                </a:solidFill>
                <a:latin typeface="Calibri"/>
                <a:cs typeface="Calibri"/>
              </a:rPr>
              <a:t> </a:t>
            </a:r>
            <a:r>
              <a:rPr sz="1800" dirty="0">
                <a:solidFill>
                  <a:srgbClr val="FFFFFF"/>
                </a:solidFill>
                <a:latin typeface="Calibri"/>
                <a:cs typeface="Calibri"/>
              </a:rPr>
              <a:t>3</a:t>
            </a:r>
            <a:r>
              <a:rPr sz="1800" baseline="23148" dirty="0">
                <a:solidFill>
                  <a:srgbClr val="FFFFFF"/>
                </a:solidFill>
                <a:latin typeface="Calibri"/>
                <a:cs typeface="Calibri"/>
              </a:rPr>
              <a:t>rd</a:t>
            </a:r>
            <a:r>
              <a:rPr sz="1800" spc="127" baseline="23148" dirty="0">
                <a:solidFill>
                  <a:srgbClr val="FFFFFF"/>
                </a:solidFill>
                <a:latin typeface="Calibri"/>
                <a:cs typeface="Calibri"/>
              </a:rPr>
              <a:t> </a:t>
            </a:r>
            <a:r>
              <a:rPr sz="1800" dirty="0">
                <a:solidFill>
                  <a:srgbClr val="FFFFFF"/>
                </a:solidFill>
                <a:latin typeface="Calibri"/>
                <a:cs typeface="Calibri"/>
              </a:rPr>
              <a:t>party</a:t>
            </a:r>
            <a:r>
              <a:rPr sz="1800" spc="-35" dirty="0">
                <a:solidFill>
                  <a:srgbClr val="FFFFFF"/>
                </a:solidFill>
                <a:latin typeface="Calibri"/>
                <a:cs typeface="Calibri"/>
              </a:rPr>
              <a:t> </a:t>
            </a:r>
            <a:r>
              <a:rPr sz="1800" spc="-25" dirty="0">
                <a:solidFill>
                  <a:srgbClr val="FFFFFF"/>
                </a:solidFill>
                <a:latin typeface="Calibri"/>
                <a:cs typeface="Calibri"/>
              </a:rPr>
              <a:t>ML </a:t>
            </a:r>
            <a:r>
              <a:rPr sz="1800" dirty="0">
                <a:solidFill>
                  <a:srgbClr val="FFFFFF"/>
                </a:solidFill>
                <a:latin typeface="Calibri"/>
                <a:cs typeface="Calibri"/>
              </a:rPr>
              <a:t>model</a:t>
            </a:r>
            <a:r>
              <a:rPr sz="1800" spc="-45" dirty="0">
                <a:solidFill>
                  <a:srgbClr val="FFFFFF"/>
                </a:solidFill>
                <a:latin typeface="Calibri"/>
                <a:cs typeface="Calibri"/>
              </a:rPr>
              <a:t> </a:t>
            </a:r>
            <a:r>
              <a:rPr sz="1800" dirty="0">
                <a:solidFill>
                  <a:srgbClr val="FFFFFF"/>
                </a:solidFill>
                <a:latin typeface="Calibri"/>
                <a:cs typeface="Calibri"/>
              </a:rPr>
              <a:t>—</a:t>
            </a:r>
            <a:r>
              <a:rPr sz="1800" spc="-20" dirty="0">
                <a:solidFill>
                  <a:srgbClr val="FFFFFF"/>
                </a:solidFill>
                <a:latin typeface="Calibri"/>
                <a:cs typeface="Calibri"/>
              </a:rPr>
              <a:t> </a:t>
            </a:r>
            <a:r>
              <a:rPr sz="1800" b="1" dirty="0">
                <a:solidFill>
                  <a:srgbClr val="FFD966"/>
                </a:solidFill>
                <a:latin typeface="Calibri"/>
                <a:cs typeface="Calibri"/>
              </a:rPr>
              <a:t>validate</a:t>
            </a:r>
            <a:r>
              <a:rPr sz="1800" b="1" spc="-50" dirty="0">
                <a:solidFill>
                  <a:srgbClr val="FFD966"/>
                </a:solidFill>
                <a:latin typeface="Calibri"/>
                <a:cs typeface="Calibri"/>
              </a:rPr>
              <a:t> </a:t>
            </a:r>
            <a:r>
              <a:rPr sz="1800" b="1" dirty="0">
                <a:solidFill>
                  <a:srgbClr val="FFD966"/>
                </a:solidFill>
                <a:latin typeface="Calibri"/>
                <a:cs typeface="Calibri"/>
              </a:rPr>
              <a:t>LLM/training</a:t>
            </a:r>
            <a:r>
              <a:rPr sz="1800" b="1" spc="-5" dirty="0">
                <a:solidFill>
                  <a:srgbClr val="FFD966"/>
                </a:solidFill>
                <a:latin typeface="Calibri"/>
                <a:cs typeface="Calibri"/>
              </a:rPr>
              <a:t> </a:t>
            </a:r>
            <a:r>
              <a:rPr sz="1800" b="1" spc="-20" dirty="0">
                <a:solidFill>
                  <a:srgbClr val="FFD966"/>
                </a:solidFill>
                <a:latin typeface="Calibri"/>
                <a:cs typeface="Calibri"/>
              </a:rPr>
              <a:t>data </a:t>
            </a:r>
            <a:r>
              <a:rPr sz="1800" b="1" dirty="0">
                <a:solidFill>
                  <a:srgbClr val="FFD966"/>
                </a:solidFill>
                <a:latin typeface="Calibri"/>
                <a:cs typeface="Calibri"/>
              </a:rPr>
              <a:t>ownership,</a:t>
            </a:r>
            <a:r>
              <a:rPr sz="1800" b="1" spc="-30" dirty="0">
                <a:solidFill>
                  <a:srgbClr val="FFD966"/>
                </a:solidFill>
                <a:latin typeface="Calibri"/>
                <a:cs typeface="Calibri"/>
              </a:rPr>
              <a:t> </a:t>
            </a:r>
            <a:r>
              <a:rPr sz="1800" b="1" dirty="0">
                <a:solidFill>
                  <a:srgbClr val="FFD966"/>
                </a:solidFill>
                <a:latin typeface="Calibri"/>
                <a:cs typeface="Calibri"/>
              </a:rPr>
              <a:t>IP,</a:t>
            </a:r>
            <a:r>
              <a:rPr sz="1800" b="1" spc="-25" dirty="0">
                <a:solidFill>
                  <a:srgbClr val="FFD966"/>
                </a:solidFill>
                <a:latin typeface="Calibri"/>
                <a:cs typeface="Calibri"/>
              </a:rPr>
              <a:t> </a:t>
            </a:r>
            <a:r>
              <a:rPr sz="1800" b="1" dirty="0">
                <a:solidFill>
                  <a:srgbClr val="FFD966"/>
                </a:solidFill>
                <a:latin typeface="Calibri"/>
                <a:cs typeface="Calibri"/>
              </a:rPr>
              <a:t>liability</a:t>
            </a:r>
            <a:r>
              <a:rPr sz="1800" b="1" spc="-40" dirty="0">
                <a:solidFill>
                  <a:srgbClr val="FFD966"/>
                </a:solidFill>
                <a:latin typeface="Calibri"/>
                <a:cs typeface="Calibri"/>
              </a:rPr>
              <a:t> </a:t>
            </a:r>
            <a:r>
              <a:rPr sz="1800" b="1" spc="-10" dirty="0">
                <a:solidFill>
                  <a:srgbClr val="FFD966"/>
                </a:solidFill>
                <a:latin typeface="Calibri"/>
                <a:cs typeface="Calibri"/>
              </a:rPr>
              <a:t>clauses</a:t>
            </a:r>
            <a:r>
              <a:rPr sz="1800" spc="-10" dirty="0">
                <a:solidFill>
                  <a:srgbClr val="FFFFFF"/>
                </a:solidFill>
                <a:latin typeface="Calibri"/>
                <a:cs typeface="Calibri"/>
              </a:rPr>
              <a:t>.</a:t>
            </a:r>
            <a:endParaRPr sz="1800">
              <a:latin typeface="Calibri"/>
              <a:cs typeface="Calibri"/>
            </a:endParaRPr>
          </a:p>
        </p:txBody>
      </p:sp>
      <p:sp>
        <p:nvSpPr>
          <p:cNvPr id="7" name="object 7"/>
          <p:cNvSpPr txBox="1"/>
          <p:nvPr/>
        </p:nvSpPr>
        <p:spPr>
          <a:xfrm>
            <a:off x="8314690" y="5418137"/>
            <a:ext cx="3417570" cy="389890"/>
          </a:xfrm>
          <a:prstGeom prst="rect">
            <a:avLst/>
          </a:prstGeom>
        </p:spPr>
        <p:txBody>
          <a:bodyPr vert="horz" wrap="square" lIns="0" tIns="12700" rIns="0" bIns="0" rtlCol="0">
            <a:spAutoFit/>
          </a:bodyPr>
          <a:lstStyle/>
          <a:p>
            <a:pPr marL="12700">
              <a:lnSpc>
                <a:spcPts val="1435"/>
              </a:lnSpc>
              <a:spcBef>
                <a:spcPts val="100"/>
              </a:spcBef>
            </a:pPr>
            <a:r>
              <a:rPr sz="1200" dirty="0">
                <a:latin typeface="Arial MT"/>
                <a:cs typeface="Arial MT"/>
                <a:hlinkClick r:id="rId3"/>
              </a:rPr>
              <a:t>*</a:t>
            </a:r>
            <a:r>
              <a:rPr sz="1200" spc="-40" dirty="0">
                <a:latin typeface="Arial MT"/>
                <a:cs typeface="Arial MT"/>
                <a:hlinkClick r:id="rId3"/>
              </a:rPr>
              <a:t> </a:t>
            </a:r>
            <a:r>
              <a:rPr sz="1200" dirty="0">
                <a:latin typeface="Arial MT"/>
                <a:cs typeface="Arial MT"/>
                <a:hlinkClick r:id="rId3"/>
              </a:rPr>
              <a:t>D.</a:t>
            </a:r>
            <a:r>
              <a:rPr sz="1200" spc="-30" dirty="0">
                <a:latin typeface="Arial MT"/>
                <a:cs typeface="Arial MT"/>
                <a:hlinkClick r:id="rId3"/>
              </a:rPr>
              <a:t> </a:t>
            </a:r>
            <a:r>
              <a:rPr sz="1200" dirty="0">
                <a:latin typeface="Arial MT"/>
                <a:cs typeface="Arial MT"/>
                <a:hlinkClick r:id="rId3"/>
              </a:rPr>
              <a:t>Biswas.</a:t>
            </a:r>
            <a:r>
              <a:rPr sz="1200" spc="-25" dirty="0">
                <a:latin typeface="Arial MT"/>
                <a:cs typeface="Arial MT"/>
                <a:hlinkClick r:id="rId3"/>
              </a:rPr>
              <a:t> </a:t>
            </a:r>
            <a:r>
              <a:rPr sz="1200" dirty="0">
                <a:latin typeface="Arial MT"/>
                <a:cs typeface="Arial MT"/>
                <a:hlinkClick r:id="rId3"/>
              </a:rPr>
              <a:t>Generative</a:t>
            </a:r>
            <a:r>
              <a:rPr sz="1200" spc="5" dirty="0">
                <a:latin typeface="Arial MT"/>
                <a:cs typeface="Arial MT"/>
                <a:hlinkClick r:id="rId3"/>
              </a:rPr>
              <a:t> </a:t>
            </a:r>
            <a:r>
              <a:rPr sz="1200" dirty="0">
                <a:latin typeface="Arial MT"/>
                <a:cs typeface="Arial MT"/>
                <a:hlinkClick r:id="rId3"/>
              </a:rPr>
              <a:t>AI</a:t>
            </a:r>
            <a:r>
              <a:rPr sz="1200" spc="-20" dirty="0">
                <a:latin typeface="Arial MT"/>
                <a:cs typeface="Arial MT"/>
                <a:hlinkClick r:id="rId3"/>
              </a:rPr>
              <a:t> </a:t>
            </a:r>
            <a:r>
              <a:rPr sz="1200" dirty="0">
                <a:latin typeface="Arial MT"/>
                <a:cs typeface="Arial MT"/>
                <a:hlinkClick r:id="rId3"/>
              </a:rPr>
              <a:t>–</a:t>
            </a:r>
            <a:r>
              <a:rPr sz="1200" spc="-40" dirty="0">
                <a:latin typeface="Arial MT"/>
                <a:cs typeface="Arial MT"/>
                <a:hlinkClick r:id="rId3"/>
              </a:rPr>
              <a:t> </a:t>
            </a:r>
            <a:r>
              <a:rPr sz="1200" dirty="0">
                <a:latin typeface="Arial MT"/>
                <a:cs typeface="Arial MT"/>
                <a:hlinkClick r:id="rId3"/>
              </a:rPr>
              <a:t>LLMOps </a:t>
            </a:r>
            <a:r>
              <a:rPr sz="1200" spc="-10" dirty="0">
                <a:latin typeface="Arial MT"/>
                <a:cs typeface="Arial MT"/>
                <a:hlinkClick r:id="rId3"/>
              </a:rPr>
              <a:t>Architecture</a:t>
            </a:r>
            <a:endParaRPr sz="1200">
              <a:latin typeface="Arial MT"/>
              <a:cs typeface="Arial MT"/>
            </a:endParaRPr>
          </a:p>
          <a:p>
            <a:pPr marL="12700">
              <a:lnSpc>
                <a:spcPts val="1435"/>
              </a:lnSpc>
            </a:pPr>
            <a:r>
              <a:rPr sz="1200" dirty="0">
                <a:latin typeface="Arial MT"/>
                <a:cs typeface="Arial MT"/>
                <a:hlinkClick r:id="rId3"/>
              </a:rPr>
              <a:t>Patterns.</a:t>
            </a:r>
            <a:r>
              <a:rPr sz="1200" spc="-35" dirty="0">
                <a:latin typeface="Arial MT"/>
                <a:cs typeface="Arial MT"/>
                <a:hlinkClick r:id="rId3"/>
              </a:rPr>
              <a:t> </a:t>
            </a:r>
            <a:r>
              <a:rPr sz="1200" dirty="0">
                <a:latin typeface="Arial MT"/>
                <a:cs typeface="Arial MT"/>
                <a:hlinkClick r:id="rId3"/>
              </a:rPr>
              <a:t>Data</a:t>
            </a:r>
            <a:r>
              <a:rPr sz="1200" spc="10" dirty="0">
                <a:latin typeface="Arial MT"/>
                <a:cs typeface="Arial MT"/>
                <a:hlinkClick r:id="rId3"/>
              </a:rPr>
              <a:t> </a:t>
            </a:r>
            <a:r>
              <a:rPr sz="1200" dirty="0">
                <a:latin typeface="Arial MT"/>
                <a:cs typeface="Arial MT"/>
                <a:hlinkClick r:id="rId3"/>
              </a:rPr>
              <a:t>Driven</a:t>
            </a:r>
            <a:r>
              <a:rPr sz="1200" spc="-60" dirty="0">
                <a:latin typeface="Arial MT"/>
                <a:cs typeface="Arial MT"/>
                <a:hlinkClick r:id="rId3"/>
              </a:rPr>
              <a:t> </a:t>
            </a:r>
            <a:r>
              <a:rPr sz="1200" dirty="0">
                <a:latin typeface="Arial MT"/>
                <a:cs typeface="Arial MT"/>
                <a:hlinkClick r:id="rId3"/>
              </a:rPr>
              <a:t>Investor,</a:t>
            </a:r>
            <a:r>
              <a:rPr sz="1200" spc="-25" dirty="0">
                <a:latin typeface="Arial MT"/>
                <a:cs typeface="Arial MT"/>
                <a:hlinkClick r:id="rId3"/>
              </a:rPr>
              <a:t> </a:t>
            </a:r>
            <a:r>
              <a:rPr sz="1200" dirty="0">
                <a:latin typeface="Arial MT"/>
                <a:cs typeface="Arial MT"/>
                <a:hlinkClick r:id="rId3"/>
              </a:rPr>
              <a:t>2023</a:t>
            </a:r>
            <a:r>
              <a:rPr sz="1200" spc="-60" dirty="0">
                <a:latin typeface="Arial MT"/>
                <a:cs typeface="Arial MT"/>
                <a:hlinkClick r:id="rId3"/>
              </a:rPr>
              <a:t> </a:t>
            </a:r>
            <a:r>
              <a:rPr sz="1200" spc="-70" dirty="0">
                <a:latin typeface="Arial MT"/>
                <a:cs typeface="Arial MT"/>
                <a:hlinkClick r:id="rId3"/>
              </a:rPr>
              <a:t>(</a:t>
            </a:r>
            <a:r>
              <a:rPr sz="1200" u="sng" spc="-270" dirty="0">
                <a:solidFill>
                  <a:srgbClr val="0462C1"/>
                </a:solidFill>
                <a:uFill>
                  <a:solidFill>
                    <a:srgbClr val="0462C1"/>
                  </a:solidFill>
                </a:uFill>
                <a:latin typeface="Arial MT"/>
                <a:cs typeface="Arial MT"/>
                <a:hlinkClick r:id="rId3"/>
              </a:rPr>
              <a:t> </a:t>
            </a:r>
            <a:r>
              <a:rPr sz="1200" u="sng" spc="-20" dirty="0">
                <a:solidFill>
                  <a:srgbClr val="0462C1"/>
                </a:solidFill>
                <a:uFill>
                  <a:solidFill>
                    <a:srgbClr val="0462C1"/>
                  </a:solidFill>
                </a:uFill>
                <a:latin typeface="Arial MT"/>
                <a:cs typeface="Arial MT"/>
                <a:hlinkClick r:id="rId3"/>
              </a:rPr>
              <a:t>link</a:t>
            </a:r>
            <a:r>
              <a:rPr sz="1200" spc="-20" dirty="0">
                <a:latin typeface="Arial MT"/>
                <a:cs typeface="Arial MT"/>
                <a:hlinkClick r:id="rId3"/>
              </a:rPr>
              <a:t>)</a:t>
            </a:r>
            <a:endParaRPr sz="1200">
              <a:latin typeface="Arial MT"/>
              <a:cs typeface="Arial MT"/>
            </a:endParaRPr>
          </a:p>
        </p:txBody>
      </p:sp>
      <p:pic>
        <p:nvPicPr>
          <p:cNvPr id="8" name="object 8"/>
          <p:cNvPicPr/>
          <p:nvPr/>
        </p:nvPicPr>
        <p:blipFill>
          <a:blip r:embed="rId4" cstate="print"/>
          <a:stretch>
            <a:fillRect/>
          </a:stretch>
        </p:blipFill>
        <p:spPr>
          <a:xfrm>
            <a:off x="5841474" y="1275327"/>
            <a:ext cx="6146724" cy="376339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9379" rIns="0" bIns="0" rtlCol="0">
            <a:spAutoFit/>
          </a:bodyPr>
          <a:lstStyle/>
          <a:p>
            <a:pPr marL="180340">
              <a:lnSpc>
                <a:spcPct val="100000"/>
              </a:lnSpc>
              <a:spcBef>
                <a:spcPts val="105"/>
              </a:spcBef>
            </a:pPr>
            <a:r>
              <a:rPr dirty="0"/>
              <a:t>Gen</a:t>
            </a:r>
            <a:r>
              <a:rPr spc="-40" dirty="0"/>
              <a:t> </a:t>
            </a:r>
            <a:r>
              <a:rPr dirty="0"/>
              <a:t>AI</a:t>
            </a:r>
            <a:r>
              <a:rPr spc="-5" dirty="0"/>
              <a:t> </a:t>
            </a:r>
            <a:r>
              <a:rPr dirty="0"/>
              <a:t>Architecture</a:t>
            </a:r>
            <a:r>
              <a:rPr spc="-30" dirty="0"/>
              <a:t> </a:t>
            </a:r>
            <a:r>
              <a:rPr dirty="0"/>
              <a:t>Patterns –</a:t>
            </a:r>
            <a:r>
              <a:rPr spc="-20" dirty="0"/>
              <a:t> </a:t>
            </a:r>
            <a:r>
              <a:rPr spc="-10" dirty="0"/>
              <a:t>Fine-tuning</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409575" y="1714500"/>
            <a:ext cx="3876675" cy="2066925"/>
          </a:xfrm>
          <a:custGeom>
            <a:avLst/>
            <a:gdLst/>
            <a:ahLst/>
            <a:cxnLst/>
            <a:rect l="l" t="t" r="r" b="b"/>
            <a:pathLst>
              <a:path w="3876675" h="2066925">
                <a:moveTo>
                  <a:pt x="3876675" y="0"/>
                </a:moveTo>
                <a:lnTo>
                  <a:pt x="0" y="0"/>
                </a:lnTo>
                <a:lnTo>
                  <a:pt x="0" y="2066925"/>
                </a:lnTo>
                <a:lnTo>
                  <a:pt x="3615563" y="2048002"/>
                </a:lnTo>
                <a:lnTo>
                  <a:pt x="3876675" y="0"/>
                </a:lnTo>
                <a:close/>
              </a:path>
            </a:pathLst>
          </a:custGeom>
          <a:solidFill>
            <a:srgbClr val="002384"/>
          </a:solidFill>
        </p:spPr>
        <p:txBody>
          <a:bodyPr wrap="square" lIns="0" tIns="0" rIns="0" bIns="0" rtlCol="0"/>
          <a:lstStyle/>
          <a:p>
            <a:endParaRPr/>
          </a:p>
        </p:txBody>
      </p:sp>
      <p:sp>
        <p:nvSpPr>
          <p:cNvPr id="5" name="object 5"/>
          <p:cNvSpPr/>
          <p:nvPr/>
        </p:nvSpPr>
        <p:spPr>
          <a:xfrm>
            <a:off x="409575" y="3990975"/>
            <a:ext cx="3743325" cy="1257300"/>
          </a:xfrm>
          <a:custGeom>
            <a:avLst/>
            <a:gdLst/>
            <a:ahLst/>
            <a:cxnLst/>
            <a:rect l="l" t="t" r="r" b="b"/>
            <a:pathLst>
              <a:path w="3743325" h="1257300">
                <a:moveTo>
                  <a:pt x="3743325" y="0"/>
                </a:moveTo>
                <a:lnTo>
                  <a:pt x="0" y="0"/>
                </a:lnTo>
                <a:lnTo>
                  <a:pt x="0" y="1257300"/>
                </a:lnTo>
                <a:lnTo>
                  <a:pt x="3491103" y="1245870"/>
                </a:lnTo>
                <a:lnTo>
                  <a:pt x="3743325" y="0"/>
                </a:lnTo>
                <a:close/>
              </a:path>
            </a:pathLst>
          </a:custGeom>
          <a:solidFill>
            <a:srgbClr val="002384"/>
          </a:solidFill>
        </p:spPr>
        <p:txBody>
          <a:bodyPr wrap="square" lIns="0" tIns="0" rIns="0" bIns="0" rtlCol="0"/>
          <a:lstStyle/>
          <a:p>
            <a:endParaRPr/>
          </a:p>
        </p:txBody>
      </p:sp>
      <p:sp>
        <p:nvSpPr>
          <p:cNvPr id="6" name="object 6"/>
          <p:cNvSpPr txBox="1"/>
          <p:nvPr/>
        </p:nvSpPr>
        <p:spPr>
          <a:xfrm>
            <a:off x="506412" y="1777682"/>
            <a:ext cx="3460750" cy="3365500"/>
          </a:xfrm>
          <a:prstGeom prst="rect">
            <a:avLst/>
          </a:prstGeom>
        </p:spPr>
        <p:txBody>
          <a:bodyPr vert="horz" wrap="square" lIns="0" tIns="12065" rIns="0" bIns="0" rtlCol="0">
            <a:spAutoFit/>
          </a:bodyPr>
          <a:lstStyle/>
          <a:p>
            <a:pPr marL="12700" marR="125095">
              <a:lnSpc>
                <a:spcPct val="100299"/>
              </a:lnSpc>
              <a:spcBef>
                <a:spcPts val="95"/>
              </a:spcBef>
            </a:pPr>
            <a:r>
              <a:rPr sz="1800" dirty="0">
                <a:solidFill>
                  <a:srgbClr val="FFFFFF"/>
                </a:solidFill>
                <a:latin typeface="Calibri"/>
                <a:cs typeface="Calibri"/>
              </a:rPr>
              <a:t>LLMs</a:t>
            </a:r>
            <a:r>
              <a:rPr sz="1800" spc="-20" dirty="0">
                <a:solidFill>
                  <a:srgbClr val="FFFFFF"/>
                </a:solidFill>
                <a:latin typeface="Calibri"/>
                <a:cs typeface="Calibri"/>
              </a:rPr>
              <a:t> </a:t>
            </a:r>
            <a:r>
              <a:rPr sz="1800" dirty="0">
                <a:solidFill>
                  <a:srgbClr val="FFFFFF"/>
                </a:solidFill>
                <a:latin typeface="Calibri"/>
                <a:cs typeface="Calibri"/>
              </a:rPr>
              <a:t>are</a:t>
            </a:r>
            <a:r>
              <a:rPr sz="1800" spc="-55" dirty="0">
                <a:solidFill>
                  <a:srgbClr val="FFFFFF"/>
                </a:solidFill>
                <a:latin typeface="Calibri"/>
                <a:cs typeface="Calibri"/>
              </a:rPr>
              <a:t> </a:t>
            </a:r>
            <a:r>
              <a:rPr sz="1800" dirty="0">
                <a:solidFill>
                  <a:srgbClr val="FFFFFF"/>
                </a:solidFill>
                <a:latin typeface="Calibri"/>
                <a:cs typeface="Calibri"/>
              </a:rPr>
              <a:t>generic</a:t>
            </a:r>
            <a:r>
              <a:rPr sz="1800" spc="-5" dirty="0">
                <a:solidFill>
                  <a:srgbClr val="FFFFFF"/>
                </a:solidFill>
                <a:latin typeface="Calibri"/>
                <a:cs typeface="Calibri"/>
              </a:rPr>
              <a:t> </a:t>
            </a:r>
            <a:r>
              <a:rPr sz="1800" dirty="0">
                <a:solidFill>
                  <a:srgbClr val="FFFFFF"/>
                </a:solidFill>
                <a:latin typeface="Calibri"/>
                <a:cs typeface="Calibri"/>
              </a:rPr>
              <a:t>in</a:t>
            </a:r>
            <a:r>
              <a:rPr sz="1800" spc="-40" dirty="0">
                <a:solidFill>
                  <a:srgbClr val="FFFFFF"/>
                </a:solidFill>
                <a:latin typeface="Calibri"/>
                <a:cs typeface="Calibri"/>
              </a:rPr>
              <a:t> </a:t>
            </a:r>
            <a:r>
              <a:rPr sz="1800" dirty="0">
                <a:solidFill>
                  <a:srgbClr val="FFFFFF"/>
                </a:solidFill>
                <a:latin typeface="Calibri"/>
                <a:cs typeface="Calibri"/>
              </a:rPr>
              <a:t>nature.</a:t>
            </a:r>
            <a:r>
              <a:rPr sz="1800" spc="5" dirty="0">
                <a:solidFill>
                  <a:srgbClr val="FFFFFF"/>
                </a:solidFill>
                <a:latin typeface="Calibri"/>
                <a:cs typeface="Calibri"/>
              </a:rPr>
              <a:t> </a:t>
            </a:r>
            <a:r>
              <a:rPr sz="1800" spc="-25" dirty="0">
                <a:solidFill>
                  <a:srgbClr val="FFFFFF"/>
                </a:solidFill>
                <a:latin typeface="Calibri"/>
                <a:cs typeface="Calibri"/>
              </a:rPr>
              <a:t>To </a:t>
            </a:r>
            <a:r>
              <a:rPr sz="1800" dirty="0">
                <a:solidFill>
                  <a:srgbClr val="FFFFFF"/>
                </a:solidFill>
                <a:latin typeface="Calibri"/>
                <a:cs typeface="Calibri"/>
              </a:rPr>
              <a:t>realize</a:t>
            </a:r>
            <a:r>
              <a:rPr sz="1800" spc="5" dirty="0">
                <a:solidFill>
                  <a:srgbClr val="FFFFFF"/>
                </a:solidFill>
                <a:latin typeface="Calibri"/>
                <a:cs typeface="Calibri"/>
              </a:rPr>
              <a:t> </a:t>
            </a:r>
            <a:r>
              <a:rPr sz="1800" dirty="0">
                <a:solidFill>
                  <a:srgbClr val="FFFFFF"/>
                </a:solidFill>
                <a:latin typeface="Calibri"/>
                <a:cs typeface="Calibri"/>
              </a:rPr>
              <a:t>the</a:t>
            </a:r>
            <a:r>
              <a:rPr sz="1800" spc="-55" dirty="0">
                <a:solidFill>
                  <a:srgbClr val="FFFFFF"/>
                </a:solidFill>
                <a:latin typeface="Calibri"/>
                <a:cs typeface="Calibri"/>
              </a:rPr>
              <a:t> </a:t>
            </a:r>
            <a:r>
              <a:rPr sz="1800" dirty="0">
                <a:solidFill>
                  <a:srgbClr val="FFFFFF"/>
                </a:solidFill>
                <a:latin typeface="Calibri"/>
                <a:cs typeface="Calibri"/>
              </a:rPr>
              <a:t>full</a:t>
            </a:r>
            <a:r>
              <a:rPr sz="1800" spc="-30" dirty="0">
                <a:solidFill>
                  <a:srgbClr val="FFFFFF"/>
                </a:solidFill>
                <a:latin typeface="Calibri"/>
                <a:cs typeface="Calibri"/>
              </a:rPr>
              <a:t> </a:t>
            </a:r>
            <a:r>
              <a:rPr sz="1800" dirty="0">
                <a:solidFill>
                  <a:srgbClr val="FFFFFF"/>
                </a:solidFill>
                <a:latin typeface="Calibri"/>
                <a:cs typeface="Calibri"/>
              </a:rPr>
              <a:t>potential</a:t>
            </a:r>
            <a:r>
              <a:rPr sz="1800" spc="-30" dirty="0">
                <a:solidFill>
                  <a:srgbClr val="FFFFFF"/>
                </a:solidFill>
                <a:latin typeface="Calibri"/>
                <a:cs typeface="Calibri"/>
              </a:rPr>
              <a:t> </a:t>
            </a:r>
            <a:r>
              <a:rPr sz="1800" dirty="0">
                <a:solidFill>
                  <a:srgbClr val="FFFFFF"/>
                </a:solidFill>
                <a:latin typeface="Calibri"/>
                <a:cs typeface="Calibri"/>
              </a:rPr>
              <a:t>of</a:t>
            </a:r>
            <a:r>
              <a:rPr sz="1800" spc="-15" dirty="0">
                <a:solidFill>
                  <a:srgbClr val="FFFFFF"/>
                </a:solidFill>
                <a:latin typeface="Calibri"/>
                <a:cs typeface="Calibri"/>
              </a:rPr>
              <a:t> </a:t>
            </a:r>
            <a:r>
              <a:rPr sz="1800" dirty="0">
                <a:solidFill>
                  <a:srgbClr val="FFFFFF"/>
                </a:solidFill>
                <a:latin typeface="Calibri"/>
                <a:cs typeface="Calibri"/>
              </a:rPr>
              <a:t>LLMs</a:t>
            </a:r>
            <a:r>
              <a:rPr sz="1800" spc="-20" dirty="0">
                <a:solidFill>
                  <a:srgbClr val="FFFFFF"/>
                </a:solidFill>
                <a:latin typeface="Calibri"/>
                <a:cs typeface="Calibri"/>
              </a:rPr>
              <a:t> </a:t>
            </a:r>
            <a:r>
              <a:rPr sz="1800" spc="-25" dirty="0">
                <a:solidFill>
                  <a:srgbClr val="FFFFFF"/>
                </a:solidFill>
                <a:latin typeface="Calibri"/>
                <a:cs typeface="Calibri"/>
              </a:rPr>
              <a:t>for </a:t>
            </a:r>
            <a:r>
              <a:rPr sz="1800" dirty="0">
                <a:solidFill>
                  <a:srgbClr val="FFFFFF"/>
                </a:solidFill>
                <a:latin typeface="Calibri"/>
                <a:cs typeface="Calibri"/>
              </a:rPr>
              <a:t>Enterprises,</a:t>
            </a:r>
            <a:r>
              <a:rPr sz="1800" spc="-55" dirty="0">
                <a:solidFill>
                  <a:srgbClr val="FFFFFF"/>
                </a:solidFill>
                <a:latin typeface="Calibri"/>
                <a:cs typeface="Calibri"/>
              </a:rPr>
              <a:t> </a:t>
            </a:r>
            <a:r>
              <a:rPr sz="1800" dirty="0">
                <a:solidFill>
                  <a:srgbClr val="FFFFFF"/>
                </a:solidFill>
                <a:latin typeface="Calibri"/>
                <a:cs typeface="Calibri"/>
              </a:rPr>
              <a:t>they</a:t>
            </a:r>
            <a:r>
              <a:rPr sz="1800" spc="-45" dirty="0">
                <a:solidFill>
                  <a:srgbClr val="FFFFFF"/>
                </a:solidFill>
                <a:latin typeface="Calibri"/>
                <a:cs typeface="Calibri"/>
              </a:rPr>
              <a:t> </a:t>
            </a:r>
            <a:r>
              <a:rPr sz="1800" dirty="0">
                <a:solidFill>
                  <a:srgbClr val="FFFFFF"/>
                </a:solidFill>
                <a:latin typeface="Calibri"/>
                <a:cs typeface="Calibri"/>
              </a:rPr>
              <a:t>need</a:t>
            </a:r>
            <a:r>
              <a:rPr sz="1800" spc="-25" dirty="0">
                <a:solidFill>
                  <a:srgbClr val="FFFFFF"/>
                </a:solidFill>
                <a:latin typeface="Calibri"/>
                <a:cs typeface="Calibri"/>
              </a:rPr>
              <a:t> </a:t>
            </a:r>
            <a:r>
              <a:rPr sz="1800" dirty="0">
                <a:solidFill>
                  <a:srgbClr val="FFFFFF"/>
                </a:solidFill>
                <a:latin typeface="Calibri"/>
                <a:cs typeface="Calibri"/>
              </a:rPr>
              <a:t>to</a:t>
            </a:r>
            <a:r>
              <a:rPr sz="1800" spc="-35" dirty="0">
                <a:solidFill>
                  <a:srgbClr val="FFFFFF"/>
                </a:solidFill>
                <a:latin typeface="Calibri"/>
                <a:cs typeface="Calibri"/>
              </a:rPr>
              <a:t> </a:t>
            </a:r>
            <a:r>
              <a:rPr sz="1800" spc="-25" dirty="0">
                <a:solidFill>
                  <a:srgbClr val="FFFFFF"/>
                </a:solidFill>
                <a:latin typeface="Calibri"/>
                <a:cs typeface="Calibri"/>
              </a:rPr>
              <a:t>be </a:t>
            </a:r>
            <a:r>
              <a:rPr sz="1800" b="1" dirty="0">
                <a:solidFill>
                  <a:srgbClr val="FFD966"/>
                </a:solidFill>
                <a:latin typeface="Calibri"/>
                <a:cs typeface="Calibri"/>
              </a:rPr>
              <a:t>contextualized</a:t>
            </a:r>
            <a:r>
              <a:rPr sz="1800" b="1" spc="-20" dirty="0">
                <a:solidFill>
                  <a:srgbClr val="FFD966"/>
                </a:solidFill>
                <a:latin typeface="Calibri"/>
                <a:cs typeface="Calibri"/>
              </a:rPr>
              <a:t> </a:t>
            </a:r>
            <a:r>
              <a:rPr sz="1800" dirty="0">
                <a:solidFill>
                  <a:srgbClr val="FFFFFF"/>
                </a:solidFill>
                <a:latin typeface="Calibri"/>
                <a:cs typeface="Calibri"/>
              </a:rPr>
              <a:t>with</a:t>
            </a:r>
            <a:r>
              <a:rPr sz="1800" spc="-45" dirty="0">
                <a:solidFill>
                  <a:srgbClr val="FFFFFF"/>
                </a:solidFill>
                <a:latin typeface="Calibri"/>
                <a:cs typeface="Calibri"/>
              </a:rPr>
              <a:t> </a:t>
            </a:r>
            <a:r>
              <a:rPr sz="1800" spc="-10" dirty="0">
                <a:solidFill>
                  <a:srgbClr val="FFFFFF"/>
                </a:solidFill>
                <a:latin typeface="Calibri"/>
                <a:cs typeface="Calibri"/>
              </a:rPr>
              <a:t>enterprise </a:t>
            </a:r>
            <a:r>
              <a:rPr sz="1800" dirty="0">
                <a:solidFill>
                  <a:srgbClr val="FFFFFF"/>
                </a:solidFill>
                <a:latin typeface="Calibri"/>
                <a:cs typeface="Calibri"/>
              </a:rPr>
              <a:t>knowledge</a:t>
            </a:r>
            <a:r>
              <a:rPr sz="1800" spc="-70" dirty="0">
                <a:solidFill>
                  <a:srgbClr val="FFFFFF"/>
                </a:solidFill>
                <a:latin typeface="Calibri"/>
                <a:cs typeface="Calibri"/>
              </a:rPr>
              <a:t> </a:t>
            </a:r>
            <a:r>
              <a:rPr sz="1800" dirty="0">
                <a:solidFill>
                  <a:srgbClr val="FFFFFF"/>
                </a:solidFill>
                <a:latin typeface="Calibri"/>
                <a:cs typeface="Calibri"/>
              </a:rPr>
              <a:t>captured</a:t>
            </a:r>
            <a:r>
              <a:rPr sz="1800" spc="-45" dirty="0">
                <a:solidFill>
                  <a:srgbClr val="FFFFFF"/>
                </a:solidFill>
                <a:latin typeface="Calibri"/>
                <a:cs typeface="Calibri"/>
              </a:rPr>
              <a:t> </a:t>
            </a:r>
            <a:r>
              <a:rPr sz="1800" dirty="0">
                <a:solidFill>
                  <a:srgbClr val="FFFFFF"/>
                </a:solidFill>
                <a:latin typeface="Calibri"/>
                <a:cs typeface="Calibri"/>
              </a:rPr>
              <a:t>in</a:t>
            </a:r>
            <a:r>
              <a:rPr sz="1800" spc="20" dirty="0">
                <a:solidFill>
                  <a:srgbClr val="FFFFFF"/>
                </a:solidFill>
                <a:latin typeface="Calibri"/>
                <a:cs typeface="Calibri"/>
              </a:rPr>
              <a:t> </a:t>
            </a:r>
            <a:r>
              <a:rPr sz="1800" dirty="0">
                <a:solidFill>
                  <a:srgbClr val="FFFFFF"/>
                </a:solidFill>
                <a:latin typeface="Calibri"/>
                <a:cs typeface="Calibri"/>
              </a:rPr>
              <a:t>terms</a:t>
            </a:r>
            <a:r>
              <a:rPr sz="1800" spc="-30" dirty="0">
                <a:solidFill>
                  <a:srgbClr val="FFFFFF"/>
                </a:solidFill>
                <a:latin typeface="Calibri"/>
                <a:cs typeface="Calibri"/>
              </a:rPr>
              <a:t> </a:t>
            </a:r>
            <a:r>
              <a:rPr sz="1800" spc="-25" dirty="0">
                <a:solidFill>
                  <a:srgbClr val="FFFFFF"/>
                </a:solidFill>
                <a:latin typeface="Calibri"/>
                <a:cs typeface="Calibri"/>
              </a:rPr>
              <a:t>of </a:t>
            </a:r>
            <a:r>
              <a:rPr sz="1800" dirty="0">
                <a:solidFill>
                  <a:srgbClr val="FFFFFF"/>
                </a:solidFill>
                <a:latin typeface="Calibri"/>
                <a:cs typeface="Calibri"/>
              </a:rPr>
              <a:t>documents,</a:t>
            </a:r>
            <a:r>
              <a:rPr sz="1800" spc="-40" dirty="0">
                <a:solidFill>
                  <a:srgbClr val="FFFFFF"/>
                </a:solidFill>
                <a:latin typeface="Calibri"/>
                <a:cs typeface="Calibri"/>
              </a:rPr>
              <a:t> </a:t>
            </a:r>
            <a:r>
              <a:rPr sz="1800" dirty="0">
                <a:solidFill>
                  <a:srgbClr val="FFFFFF"/>
                </a:solidFill>
                <a:latin typeface="Calibri"/>
                <a:cs typeface="Calibri"/>
              </a:rPr>
              <a:t>wikis,</a:t>
            </a:r>
            <a:r>
              <a:rPr sz="1800" spc="-40" dirty="0">
                <a:solidFill>
                  <a:srgbClr val="FFFFFF"/>
                </a:solidFill>
                <a:latin typeface="Calibri"/>
                <a:cs typeface="Calibri"/>
              </a:rPr>
              <a:t> </a:t>
            </a:r>
            <a:r>
              <a:rPr sz="1800" spc="-10" dirty="0">
                <a:solidFill>
                  <a:srgbClr val="FFFFFF"/>
                </a:solidFill>
                <a:latin typeface="Calibri"/>
                <a:cs typeface="Calibri"/>
              </a:rPr>
              <a:t>business </a:t>
            </a:r>
            <a:r>
              <a:rPr sz="1800" dirty="0">
                <a:solidFill>
                  <a:srgbClr val="FFFFFF"/>
                </a:solidFill>
                <a:latin typeface="Calibri"/>
                <a:cs typeface="Calibri"/>
              </a:rPr>
              <a:t>processes,</a:t>
            </a:r>
            <a:r>
              <a:rPr sz="1800" spc="-90" dirty="0">
                <a:solidFill>
                  <a:srgbClr val="FFFFFF"/>
                </a:solidFill>
                <a:latin typeface="Calibri"/>
                <a:cs typeface="Calibri"/>
              </a:rPr>
              <a:t> </a:t>
            </a:r>
            <a:r>
              <a:rPr sz="1800" spc="-20" dirty="0">
                <a:solidFill>
                  <a:srgbClr val="FFFFFF"/>
                </a:solidFill>
                <a:latin typeface="Calibri"/>
                <a:cs typeface="Calibri"/>
              </a:rPr>
              <a:t>etc.</a:t>
            </a:r>
            <a:endParaRPr sz="1800">
              <a:latin typeface="Calibri"/>
              <a:cs typeface="Calibri"/>
            </a:endParaRPr>
          </a:p>
          <a:p>
            <a:pPr>
              <a:lnSpc>
                <a:spcPct val="100000"/>
              </a:lnSpc>
              <a:spcBef>
                <a:spcPts val="235"/>
              </a:spcBef>
            </a:pPr>
            <a:endParaRPr sz="1800">
              <a:latin typeface="Calibri"/>
              <a:cs typeface="Calibri"/>
            </a:endParaRPr>
          </a:p>
          <a:p>
            <a:pPr marL="12700" marR="5080">
              <a:lnSpc>
                <a:spcPct val="100800"/>
              </a:lnSpc>
            </a:pPr>
            <a:r>
              <a:rPr sz="1800" dirty="0">
                <a:solidFill>
                  <a:srgbClr val="FFFFFF"/>
                </a:solidFill>
                <a:latin typeface="Calibri"/>
                <a:cs typeface="Calibri"/>
              </a:rPr>
              <a:t>This</a:t>
            </a:r>
            <a:r>
              <a:rPr sz="1800" spc="-15" dirty="0">
                <a:solidFill>
                  <a:srgbClr val="FFFFFF"/>
                </a:solidFill>
                <a:latin typeface="Calibri"/>
                <a:cs typeface="Calibri"/>
              </a:rPr>
              <a:t> </a:t>
            </a:r>
            <a:r>
              <a:rPr sz="1800" dirty="0">
                <a:solidFill>
                  <a:srgbClr val="FFFFFF"/>
                </a:solidFill>
                <a:latin typeface="Calibri"/>
                <a:cs typeface="Calibri"/>
              </a:rPr>
              <a:t>is achieved</a:t>
            </a:r>
            <a:r>
              <a:rPr sz="1800" spc="-15" dirty="0">
                <a:solidFill>
                  <a:srgbClr val="FFFFFF"/>
                </a:solidFill>
                <a:latin typeface="Calibri"/>
                <a:cs typeface="Calibri"/>
              </a:rPr>
              <a:t> </a:t>
            </a:r>
            <a:r>
              <a:rPr sz="1800" dirty="0">
                <a:solidFill>
                  <a:srgbClr val="FFFFFF"/>
                </a:solidFill>
                <a:latin typeface="Calibri"/>
                <a:cs typeface="Calibri"/>
              </a:rPr>
              <a:t>by</a:t>
            </a:r>
            <a:r>
              <a:rPr sz="1800" spc="-20" dirty="0">
                <a:solidFill>
                  <a:srgbClr val="FFFFFF"/>
                </a:solidFill>
                <a:latin typeface="Calibri"/>
                <a:cs typeface="Calibri"/>
              </a:rPr>
              <a:t> </a:t>
            </a:r>
            <a:r>
              <a:rPr sz="1800" b="1" spc="-10" dirty="0">
                <a:solidFill>
                  <a:srgbClr val="FFD966"/>
                </a:solidFill>
                <a:latin typeface="Calibri"/>
                <a:cs typeface="Calibri"/>
              </a:rPr>
              <a:t>fine-</a:t>
            </a:r>
            <a:r>
              <a:rPr sz="1800" b="1" dirty="0">
                <a:solidFill>
                  <a:srgbClr val="FFD966"/>
                </a:solidFill>
                <a:latin typeface="Calibri"/>
                <a:cs typeface="Calibri"/>
              </a:rPr>
              <a:t>tuning a</a:t>
            </a:r>
            <a:r>
              <a:rPr sz="1800" b="1" spc="-30" dirty="0">
                <a:solidFill>
                  <a:srgbClr val="FFD966"/>
                </a:solidFill>
                <a:latin typeface="Calibri"/>
                <a:cs typeface="Calibri"/>
              </a:rPr>
              <a:t> </a:t>
            </a:r>
            <a:r>
              <a:rPr sz="1800" b="1" spc="-25" dirty="0">
                <a:solidFill>
                  <a:srgbClr val="FFD966"/>
                </a:solidFill>
                <a:latin typeface="Calibri"/>
                <a:cs typeface="Calibri"/>
              </a:rPr>
              <a:t>LLM </a:t>
            </a:r>
            <a:r>
              <a:rPr sz="1800" dirty="0">
                <a:solidFill>
                  <a:srgbClr val="FFFFFF"/>
                </a:solidFill>
                <a:latin typeface="Calibri"/>
                <a:cs typeface="Calibri"/>
              </a:rPr>
              <a:t>with</a:t>
            </a:r>
            <a:r>
              <a:rPr sz="1800" spc="-40" dirty="0">
                <a:solidFill>
                  <a:srgbClr val="FFFFFF"/>
                </a:solidFill>
                <a:latin typeface="Calibri"/>
                <a:cs typeface="Calibri"/>
              </a:rPr>
              <a:t> </a:t>
            </a:r>
            <a:r>
              <a:rPr sz="1800" dirty="0">
                <a:solidFill>
                  <a:srgbClr val="FFFFFF"/>
                </a:solidFill>
                <a:latin typeface="Calibri"/>
                <a:cs typeface="Calibri"/>
              </a:rPr>
              <a:t>enterprise</a:t>
            </a:r>
            <a:r>
              <a:rPr sz="1800" spc="-60" dirty="0">
                <a:solidFill>
                  <a:srgbClr val="FFFFFF"/>
                </a:solidFill>
                <a:latin typeface="Calibri"/>
                <a:cs typeface="Calibri"/>
              </a:rPr>
              <a:t> </a:t>
            </a:r>
            <a:r>
              <a:rPr sz="1800" dirty="0">
                <a:solidFill>
                  <a:srgbClr val="FFFFFF"/>
                </a:solidFill>
                <a:latin typeface="Calibri"/>
                <a:cs typeface="Calibri"/>
              </a:rPr>
              <a:t>knowledge</a:t>
            </a:r>
            <a:r>
              <a:rPr sz="1800" spc="10" dirty="0">
                <a:solidFill>
                  <a:srgbClr val="FFFFFF"/>
                </a:solidFill>
                <a:latin typeface="Calibri"/>
                <a:cs typeface="Calibri"/>
              </a:rPr>
              <a:t> </a:t>
            </a:r>
            <a:r>
              <a:rPr sz="1800" spc="-50" dirty="0">
                <a:solidFill>
                  <a:srgbClr val="FFFFFF"/>
                </a:solidFill>
                <a:latin typeface="Calibri"/>
                <a:cs typeface="Calibri"/>
              </a:rPr>
              <a:t>/ </a:t>
            </a:r>
            <a:r>
              <a:rPr sz="1800" dirty="0">
                <a:solidFill>
                  <a:srgbClr val="FFFFFF"/>
                </a:solidFill>
                <a:latin typeface="Calibri"/>
                <a:cs typeface="Calibri"/>
              </a:rPr>
              <a:t>embeddings</a:t>
            </a:r>
            <a:r>
              <a:rPr sz="1800" spc="-40" dirty="0">
                <a:solidFill>
                  <a:srgbClr val="FFFFFF"/>
                </a:solidFill>
                <a:latin typeface="Calibri"/>
                <a:cs typeface="Calibri"/>
              </a:rPr>
              <a:t> </a:t>
            </a:r>
            <a:r>
              <a:rPr sz="1800" dirty="0">
                <a:solidFill>
                  <a:srgbClr val="FFFFFF"/>
                </a:solidFill>
                <a:latin typeface="Calibri"/>
                <a:cs typeface="Calibri"/>
              </a:rPr>
              <a:t>to</a:t>
            </a:r>
            <a:r>
              <a:rPr sz="1800" spc="-55" dirty="0">
                <a:solidFill>
                  <a:srgbClr val="FFFFFF"/>
                </a:solidFill>
                <a:latin typeface="Calibri"/>
                <a:cs typeface="Calibri"/>
              </a:rPr>
              <a:t> </a:t>
            </a:r>
            <a:r>
              <a:rPr sz="1800" dirty="0">
                <a:solidFill>
                  <a:srgbClr val="FFFFFF"/>
                </a:solidFill>
                <a:latin typeface="Calibri"/>
                <a:cs typeface="Calibri"/>
              </a:rPr>
              <a:t>develop</a:t>
            </a:r>
            <a:r>
              <a:rPr sz="1800" spc="15" dirty="0">
                <a:solidFill>
                  <a:srgbClr val="FFFFFF"/>
                </a:solidFill>
                <a:latin typeface="Calibri"/>
                <a:cs typeface="Calibri"/>
              </a:rPr>
              <a:t> </a:t>
            </a:r>
            <a:r>
              <a:rPr sz="1800" dirty="0">
                <a:solidFill>
                  <a:srgbClr val="FFFFFF"/>
                </a:solidFill>
                <a:latin typeface="Calibri"/>
                <a:cs typeface="Calibri"/>
              </a:rPr>
              <a:t>a</a:t>
            </a:r>
            <a:r>
              <a:rPr sz="1800" spc="-45" dirty="0">
                <a:solidFill>
                  <a:srgbClr val="FFFFFF"/>
                </a:solidFill>
                <a:latin typeface="Calibri"/>
                <a:cs typeface="Calibri"/>
              </a:rPr>
              <a:t> </a:t>
            </a:r>
            <a:r>
              <a:rPr sz="1800" spc="-10" dirty="0">
                <a:solidFill>
                  <a:srgbClr val="FFFFFF"/>
                </a:solidFill>
                <a:latin typeface="Calibri"/>
                <a:cs typeface="Calibri"/>
              </a:rPr>
              <a:t>context- </a:t>
            </a:r>
            <a:r>
              <a:rPr sz="1800" dirty="0">
                <a:solidFill>
                  <a:srgbClr val="FFFFFF"/>
                </a:solidFill>
                <a:latin typeface="Calibri"/>
                <a:cs typeface="Calibri"/>
              </a:rPr>
              <a:t>specific</a:t>
            </a:r>
            <a:r>
              <a:rPr sz="1800" spc="-65" dirty="0">
                <a:solidFill>
                  <a:srgbClr val="FFFFFF"/>
                </a:solidFill>
                <a:latin typeface="Calibri"/>
                <a:cs typeface="Calibri"/>
              </a:rPr>
              <a:t> </a:t>
            </a:r>
            <a:r>
              <a:rPr sz="1800" spc="-20" dirty="0">
                <a:solidFill>
                  <a:srgbClr val="FFFFFF"/>
                </a:solidFill>
                <a:latin typeface="Calibri"/>
                <a:cs typeface="Calibri"/>
              </a:rPr>
              <a:t>LLM.</a:t>
            </a:r>
            <a:endParaRPr sz="1800">
              <a:latin typeface="Calibri"/>
              <a:cs typeface="Calibri"/>
            </a:endParaRPr>
          </a:p>
        </p:txBody>
      </p:sp>
      <p:pic>
        <p:nvPicPr>
          <p:cNvPr id="7" name="object 7"/>
          <p:cNvPicPr/>
          <p:nvPr/>
        </p:nvPicPr>
        <p:blipFill>
          <a:blip r:embed="rId3" cstate="print"/>
          <a:stretch>
            <a:fillRect/>
          </a:stretch>
        </p:blipFill>
        <p:spPr>
          <a:xfrm>
            <a:off x="4659202" y="1533525"/>
            <a:ext cx="7124424" cy="38323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15" rIns="0" bIns="0" rtlCol="0">
            <a:spAutoFit/>
          </a:bodyPr>
          <a:lstStyle/>
          <a:p>
            <a:pPr marL="12700" marR="5080">
              <a:lnSpc>
                <a:spcPts val="4280"/>
              </a:lnSpc>
              <a:spcBef>
                <a:spcPts val="245"/>
              </a:spcBef>
            </a:pPr>
            <a:r>
              <a:rPr dirty="0"/>
              <a:t>Gen</a:t>
            </a:r>
            <a:r>
              <a:rPr spc="-30" dirty="0"/>
              <a:t> </a:t>
            </a:r>
            <a:r>
              <a:rPr dirty="0"/>
              <a:t>AI</a:t>
            </a:r>
            <a:r>
              <a:rPr spc="10" dirty="0"/>
              <a:t> </a:t>
            </a:r>
            <a:r>
              <a:rPr dirty="0"/>
              <a:t>Architecture</a:t>
            </a:r>
            <a:r>
              <a:rPr spc="-15" dirty="0"/>
              <a:t> </a:t>
            </a:r>
            <a:r>
              <a:rPr dirty="0"/>
              <a:t>Patterns</a:t>
            </a:r>
            <a:r>
              <a:rPr spc="-20" dirty="0"/>
              <a:t> </a:t>
            </a:r>
            <a:r>
              <a:rPr dirty="0"/>
              <a:t>–</a:t>
            </a:r>
            <a:r>
              <a:rPr spc="-10" dirty="0"/>
              <a:t> Retrieval-Augmented- </a:t>
            </a:r>
            <a:r>
              <a:rPr dirty="0"/>
              <a:t>Generation</a:t>
            </a:r>
            <a:r>
              <a:rPr spc="-35" dirty="0"/>
              <a:t> </a:t>
            </a:r>
            <a:r>
              <a:rPr spc="-10" dirty="0"/>
              <a:t>(RAG)</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1114425" y="1533525"/>
            <a:ext cx="9715500" cy="819150"/>
          </a:xfrm>
          <a:custGeom>
            <a:avLst/>
            <a:gdLst/>
            <a:ahLst/>
            <a:cxnLst/>
            <a:rect l="l" t="t" r="r" b="b"/>
            <a:pathLst>
              <a:path w="9715500" h="819150">
                <a:moveTo>
                  <a:pt x="9715500" y="0"/>
                </a:moveTo>
                <a:lnTo>
                  <a:pt x="0" y="0"/>
                </a:lnTo>
                <a:lnTo>
                  <a:pt x="0" y="819150"/>
                </a:lnTo>
                <a:lnTo>
                  <a:pt x="9060942" y="811657"/>
                </a:lnTo>
                <a:lnTo>
                  <a:pt x="9715500" y="0"/>
                </a:lnTo>
                <a:close/>
              </a:path>
            </a:pathLst>
          </a:custGeom>
          <a:solidFill>
            <a:srgbClr val="002384"/>
          </a:solidFill>
        </p:spPr>
        <p:txBody>
          <a:bodyPr wrap="square" lIns="0" tIns="0" rIns="0" bIns="0" rtlCol="0"/>
          <a:lstStyle/>
          <a:p>
            <a:endParaRPr/>
          </a:p>
        </p:txBody>
      </p:sp>
      <p:sp>
        <p:nvSpPr>
          <p:cNvPr id="5" name="object 5"/>
          <p:cNvSpPr txBox="1"/>
          <p:nvPr/>
        </p:nvSpPr>
        <p:spPr>
          <a:xfrm>
            <a:off x="1215389" y="1588706"/>
            <a:ext cx="9083675" cy="577215"/>
          </a:xfrm>
          <a:prstGeom prst="rect">
            <a:avLst/>
          </a:prstGeom>
        </p:spPr>
        <p:txBody>
          <a:bodyPr vert="horz" wrap="square" lIns="0" tIns="10160" rIns="0" bIns="0" rtlCol="0">
            <a:spAutoFit/>
          </a:bodyPr>
          <a:lstStyle/>
          <a:p>
            <a:pPr marL="12700" marR="5080">
              <a:lnSpc>
                <a:spcPct val="100899"/>
              </a:lnSpc>
              <a:spcBef>
                <a:spcPts val="80"/>
              </a:spcBef>
            </a:pPr>
            <a:r>
              <a:rPr sz="1800" spc="-10" dirty="0">
                <a:solidFill>
                  <a:srgbClr val="FFFFFF"/>
                </a:solidFill>
                <a:latin typeface="Calibri"/>
                <a:cs typeface="Calibri"/>
              </a:rPr>
              <a:t>Fine-</a:t>
            </a:r>
            <a:r>
              <a:rPr sz="1800" dirty="0">
                <a:solidFill>
                  <a:srgbClr val="FFFFFF"/>
                </a:solidFill>
                <a:latin typeface="Calibri"/>
                <a:cs typeface="Calibri"/>
              </a:rPr>
              <a:t>tuning</a:t>
            </a:r>
            <a:r>
              <a:rPr sz="1800" spc="-55" dirty="0">
                <a:solidFill>
                  <a:srgbClr val="FFFFFF"/>
                </a:solidFill>
                <a:latin typeface="Calibri"/>
                <a:cs typeface="Calibri"/>
              </a:rPr>
              <a:t> </a:t>
            </a:r>
            <a:r>
              <a:rPr sz="1800" dirty="0">
                <a:solidFill>
                  <a:srgbClr val="FFFFFF"/>
                </a:solidFill>
                <a:latin typeface="Calibri"/>
                <a:cs typeface="Calibri"/>
              </a:rPr>
              <a:t>is</a:t>
            </a:r>
            <a:r>
              <a:rPr sz="1800" spc="10" dirty="0">
                <a:solidFill>
                  <a:srgbClr val="FFFFFF"/>
                </a:solidFill>
                <a:latin typeface="Calibri"/>
                <a:cs typeface="Calibri"/>
              </a:rPr>
              <a:t> </a:t>
            </a:r>
            <a:r>
              <a:rPr sz="1800" dirty="0">
                <a:solidFill>
                  <a:srgbClr val="FFFFFF"/>
                </a:solidFill>
                <a:latin typeface="Calibri"/>
                <a:cs typeface="Calibri"/>
              </a:rPr>
              <a:t>a </a:t>
            </a:r>
            <a:r>
              <a:rPr sz="1800" spc="-10" dirty="0">
                <a:solidFill>
                  <a:srgbClr val="FFFFFF"/>
                </a:solidFill>
                <a:latin typeface="Calibri"/>
                <a:cs typeface="Calibri"/>
              </a:rPr>
              <a:t>computationally</a:t>
            </a:r>
            <a:r>
              <a:rPr sz="1800" spc="-25" dirty="0">
                <a:solidFill>
                  <a:srgbClr val="FFFFFF"/>
                </a:solidFill>
                <a:latin typeface="Calibri"/>
                <a:cs typeface="Calibri"/>
              </a:rPr>
              <a:t> </a:t>
            </a:r>
            <a:r>
              <a:rPr sz="1800" dirty="0">
                <a:solidFill>
                  <a:srgbClr val="FFFFFF"/>
                </a:solidFill>
                <a:latin typeface="Calibri"/>
                <a:cs typeface="Calibri"/>
              </a:rPr>
              <a:t>intensive</a:t>
            </a:r>
            <a:r>
              <a:rPr sz="1800" spc="-30" dirty="0">
                <a:solidFill>
                  <a:srgbClr val="FFFFFF"/>
                </a:solidFill>
                <a:latin typeface="Calibri"/>
                <a:cs typeface="Calibri"/>
              </a:rPr>
              <a:t> </a:t>
            </a:r>
            <a:r>
              <a:rPr sz="1800" dirty="0">
                <a:solidFill>
                  <a:srgbClr val="FFFFFF"/>
                </a:solidFill>
                <a:latin typeface="Calibri"/>
                <a:cs typeface="Calibri"/>
              </a:rPr>
              <a:t>process.</a:t>
            </a:r>
            <a:r>
              <a:rPr sz="1800" spc="35" dirty="0">
                <a:solidFill>
                  <a:srgbClr val="FFFFFF"/>
                </a:solidFill>
                <a:latin typeface="Calibri"/>
                <a:cs typeface="Calibri"/>
              </a:rPr>
              <a:t> </a:t>
            </a:r>
            <a:r>
              <a:rPr sz="1800" b="1" dirty="0">
                <a:solidFill>
                  <a:srgbClr val="FFD966"/>
                </a:solidFill>
                <a:latin typeface="Calibri"/>
                <a:cs typeface="Calibri"/>
              </a:rPr>
              <a:t>RAG</a:t>
            </a:r>
            <a:r>
              <a:rPr sz="1800" b="1" spc="5" dirty="0">
                <a:solidFill>
                  <a:srgbClr val="FFD966"/>
                </a:solidFill>
                <a:latin typeface="Calibri"/>
                <a:cs typeface="Calibri"/>
              </a:rPr>
              <a:t> </a:t>
            </a:r>
            <a:r>
              <a:rPr sz="1800" dirty="0">
                <a:solidFill>
                  <a:srgbClr val="FFFFFF"/>
                </a:solidFill>
                <a:latin typeface="Calibri"/>
                <a:cs typeface="Calibri"/>
              </a:rPr>
              <a:t>provides</a:t>
            </a:r>
            <a:r>
              <a:rPr sz="1800" spc="20" dirty="0">
                <a:solidFill>
                  <a:srgbClr val="FFFFFF"/>
                </a:solidFill>
                <a:latin typeface="Calibri"/>
                <a:cs typeface="Calibri"/>
              </a:rPr>
              <a:t> </a:t>
            </a:r>
            <a:r>
              <a:rPr sz="1800" dirty="0">
                <a:solidFill>
                  <a:srgbClr val="FFFFFF"/>
                </a:solidFill>
                <a:latin typeface="Calibri"/>
                <a:cs typeface="Calibri"/>
              </a:rPr>
              <a:t>a</a:t>
            </a:r>
            <a:r>
              <a:rPr sz="1800" spc="5" dirty="0">
                <a:solidFill>
                  <a:srgbClr val="FFFFFF"/>
                </a:solidFill>
                <a:latin typeface="Calibri"/>
                <a:cs typeface="Calibri"/>
              </a:rPr>
              <a:t> </a:t>
            </a:r>
            <a:r>
              <a:rPr sz="1800" dirty="0">
                <a:solidFill>
                  <a:srgbClr val="FFFFFF"/>
                </a:solidFill>
                <a:latin typeface="Calibri"/>
                <a:cs typeface="Calibri"/>
              </a:rPr>
              <a:t>viable</a:t>
            </a:r>
            <a:r>
              <a:rPr sz="1800" spc="-25" dirty="0">
                <a:solidFill>
                  <a:srgbClr val="FFFFFF"/>
                </a:solidFill>
                <a:latin typeface="Calibri"/>
                <a:cs typeface="Calibri"/>
              </a:rPr>
              <a:t> </a:t>
            </a:r>
            <a:r>
              <a:rPr sz="1800" dirty="0">
                <a:solidFill>
                  <a:srgbClr val="FFFFFF"/>
                </a:solidFill>
                <a:latin typeface="Calibri"/>
                <a:cs typeface="Calibri"/>
              </a:rPr>
              <a:t>alternative</a:t>
            </a:r>
            <a:r>
              <a:rPr sz="1800" spc="-25" dirty="0">
                <a:solidFill>
                  <a:srgbClr val="FFFFFF"/>
                </a:solidFill>
                <a:latin typeface="Calibri"/>
                <a:cs typeface="Calibri"/>
              </a:rPr>
              <a:t> </a:t>
            </a:r>
            <a:r>
              <a:rPr sz="1800" dirty="0">
                <a:solidFill>
                  <a:srgbClr val="FFFFFF"/>
                </a:solidFill>
                <a:latin typeface="Calibri"/>
                <a:cs typeface="Calibri"/>
              </a:rPr>
              <a:t>by</a:t>
            </a:r>
            <a:r>
              <a:rPr sz="1800" spc="-25" dirty="0">
                <a:solidFill>
                  <a:srgbClr val="FFFFFF"/>
                </a:solidFill>
                <a:latin typeface="Calibri"/>
                <a:cs typeface="Calibri"/>
              </a:rPr>
              <a:t> </a:t>
            </a:r>
            <a:r>
              <a:rPr sz="1800" spc="-10" dirty="0">
                <a:solidFill>
                  <a:srgbClr val="FFFFFF"/>
                </a:solidFill>
                <a:latin typeface="Calibri"/>
                <a:cs typeface="Calibri"/>
              </a:rPr>
              <a:t>providing </a:t>
            </a:r>
            <a:r>
              <a:rPr sz="1800" dirty="0">
                <a:solidFill>
                  <a:srgbClr val="FFFFFF"/>
                </a:solidFill>
                <a:latin typeface="Calibri"/>
                <a:cs typeface="Calibri"/>
              </a:rPr>
              <a:t>additional</a:t>
            </a:r>
            <a:r>
              <a:rPr sz="1800" spc="-20" dirty="0">
                <a:solidFill>
                  <a:srgbClr val="FFFFFF"/>
                </a:solidFill>
                <a:latin typeface="Calibri"/>
                <a:cs typeface="Calibri"/>
              </a:rPr>
              <a:t> </a:t>
            </a:r>
            <a:r>
              <a:rPr sz="1800" dirty="0">
                <a:solidFill>
                  <a:srgbClr val="FFFFFF"/>
                </a:solidFill>
                <a:latin typeface="Calibri"/>
                <a:cs typeface="Calibri"/>
              </a:rPr>
              <a:t>context</a:t>
            </a:r>
            <a:r>
              <a:rPr sz="1800" spc="-55" dirty="0">
                <a:solidFill>
                  <a:srgbClr val="FFFFFF"/>
                </a:solidFill>
                <a:latin typeface="Calibri"/>
                <a:cs typeface="Calibri"/>
              </a:rPr>
              <a:t> </a:t>
            </a:r>
            <a:r>
              <a:rPr sz="1800" dirty="0">
                <a:solidFill>
                  <a:srgbClr val="FFFFFF"/>
                </a:solidFill>
                <a:latin typeface="Calibri"/>
                <a:cs typeface="Calibri"/>
              </a:rPr>
              <a:t>with</a:t>
            </a:r>
            <a:r>
              <a:rPr sz="1800" spc="-25" dirty="0">
                <a:solidFill>
                  <a:srgbClr val="FFFFFF"/>
                </a:solidFill>
                <a:latin typeface="Calibri"/>
                <a:cs typeface="Calibri"/>
              </a:rPr>
              <a:t> </a:t>
            </a:r>
            <a:r>
              <a:rPr sz="1800" dirty="0">
                <a:solidFill>
                  <a:srgbClr val="FFFFFF"/>
                </a:solidFill>
                <a:latin typeface="Calibri"/>
                <a:cs typeface="Calibri"/>
              </a:rPr>
              <a:t>the</a:t>
            </a:r>
            <a:r>
              <a:rPr sz="1800" spc="-45" dirty="0">
                <a:solidFill>
                  <a:srgbClr val="FFFFFF"/>
                </a:solidFill>
                <a:latin typeface="Calibri"/>
                <a:cs typeface="Calibri"/>
              </a:rPr>
              <a:t> </a:t>
            </a:r>
            <a:r>
              <a:rPr sz="1800" dirty="0">
                <a:solidFill>
                  <a:srgbClr val="FFFFFF"/>
                </a:solidFill>
                <a:latin typeface="Calibri"/>
                <a:cs typeface="Calibri"/>
              </a:rPr>
              <a:t>prompts</a:t>
            </a:r>
            <a:r>
              <a:rPr sz="1800" spc="-10" dirty="0">
                <a:solidFill>
                  <a:srgbClr val="FFFFFF"/>
                </a:solidFill>
                <a:latin typeface="Calibri"/>
                <a:cs typeface="Calibri"/>
              </a:rPr>
              <a:t> </a:t>
            </a:r>
            <a:r>
              <a:rPr sz="1800" dirty="0">
                <a:solidFill>
                  <a:srgbClr val="FFFFFF"/>
                </a:solidFill>
                <a:latin typeface="Calibri"/>
                <a:cs typeface="Calibri"/>
              </a:rPr>
              <a:t>—</a:t>
            </a:r>
            <a:r>
              <a:rPr sz="1800" spc="-20" dirty="0">
                <a:solidFill>
                  <a:srgbClr val="FFFFFF"/>
                </a:solidFill>
                <a:latin typeface="Calibri"/>
                <a:cs typeface="Calibri"/>
              </a:rPr>
              <a:t> </a:t>
            </a:r>
            <a:r>
              <a:rPr sz="1800" dirty="0">
                <a:solidFill>
                  <a:srgbClr val="FFFFFF"/>
                </a:solidFill>
                <a:latin typeface="Calibri"/>
                <a:cs typeface="Calibri"/>
              </a:rPr>
              <a:t>grounding</a:t>
            </a:r>
            <a:r>
              <a:rPr sz="1800" spc="-70" dirty="0">
                <a:solidFill>
                  <a:srgbClr val="FFFFFF"/>
                </a:solidFill>
                <a:latin typeface="Calibri"/>
                <a:cs typeface="Calibri"/>
              </a:rPr>
              <a:t> </a:t>
            </a:r>
            <a:r>
              <a:rPr sz="1800" dirty="0">
                <a:solidFill>
                  <a:srgbClr val="FFFFFF"/>
                </a:solidFill>
                <a:latin typeface="Calibri"/>
                <a:cs typeface="Calibri"/>
              </a:rPr>
              <a:t>the</a:t>
            </a:r>
            <a:r>
              <a:rPr sz="1800" spc="25" dirty="0">
                <a:solidFill>
                  <a:srgbClr val="FFFFFF"/>
                </a:solidFill>
                <a:latin typeface="Calibri"/>
                <a:cs typeface="Calibri"/>
              </a:rPr>
              <a:t> </a:t>
            </a:r>
            <a:r>
              <a:rPr sz="1800" dirty="0">
                <a:solidFill>
                  <a:srgbClr val="FFFFFF"/>
                </a:solidFill>
                <a:latin typeface="Calibri"/>
                <a:cs typeface="Calibri"/>
              </a:rPr>
              <a:t>retrieval</a:t>
            </a:r>
            <a:r>
              <a:rPr sz="1800" spc="-20" dirty="0">
                <a:solidFill>
                  <a:srgbClr val="FFFFFF"/>
                </a:solidFill>
                <a:latin typeface="Calibri"/>
                <a:cs typeface="Calibri"/>
              </a:rPr>
              <a:t> </a:t>
            </a:r>
            <a:r>
              <a:rPr sz="1800" dirty="0">
                <a:solidFill>
                  <a:srgbClr val="FFFFFF"/>
                </a:solidFill>
                <a:latin typeface="Calibri"/>
                <a:cs typeface="Calibri"/>
              </a:rPr>
              <a:t>/ responses</a:t>
            </a:r>
            <a:r>
              <a:rPr sz="1800" spc="-5" dirty="0">
                <a:solidFill>
                  <a:srgbClr val="FFFFFF"/>
                </a:solidFill>
                <a:latin typeface="Calibri"/>
                <a:cs typeface="Calibri"/>
              </a:rPr>
              <a:t> </a:t>
            </a:r>
            <a:r>
              <a:rPr sz="1800" dirty="0">
                <a:solidFill>
                  <a:srgbClr val="FFFFFF"/>
                </a:solidFill>
                <a:latin typeface="Calibri"/>
                <a:cs typeface="Calibri"/>
              </a:rPr>
              <a:t>to</a:t>
            </a:r>
            <a:r>
              <a:rPr sz="1800" spc="-35" dirty="0">
                <a:solidFill>
                  <a:srgbClr val="FFFFFF"/>
                </a:solidFill>
                <a:latin typeface="Calibri"/>
                <a:cs typeface="Calibri"/>
              </a:rPr>
              <a:t> </a:t>
            </a:r>
            <a:r>
              <a:rPr sz="1800" dirty="0">
                <a:solidFill>
                  <a:srgbClr val="FFFFFF"/>
                </a:solidFill>
                <a:latin typeface="Calibri"/>
                <a:cs typeface="Calibri"/>
              </a:rPr>
              <a:t>the</a:t>
            </a:r>
            <a:r>
              <a:rPr sz="1800" spc="-45" dirty="0">
                <a:solidFill>
                  <a:srgbClr val="FFFFFF"/>
                </a:solidFill>
                <a:latin typeface="Calibri"/>
                <a:cs typeface="Calibri"/>
              </a:rPr>
              <a:t> </a:t>
            </a:r>
            <a:r>
              <a:rPr sz="1800" dirty="0">
                <a:solidFill>
                  <a:srgbClr val="FFFFFF"/>
                </a:solidFill>
                <a:latin typeface="Calibri"/>
                <a:cs typeface="Calibri"/>
              </a:rPr>
              <a:t>given</a:t>
            </a:r>
            <a:r>
              <a:rPr sz="1800" spc="-20" dirty="0">
                <a:solidFill>
                  <a:srgbClr val="FFFFFF"/>
                </a:solidFill>
                <a:latin typeface="Calibri"/>
                <a:cs typeface="Calibri"/>
              </a:rPr>
              <a:t> </a:t>
            </a:r>
            <a:r>
              <a:rPr sz="1800" spc="-10" dirty="0">
                <a:solidFill>
                  <a:srgbClr val="FFFFFF"/>
                </a:solidFill>
                <a:latin typeface="Calibri"/>
                <a:cs typeface="Calibri"/>
              </a:rPr>
              <a:t>context.</a:t>
            </a:r>
            <a:endParaRPr sz="1800">
              <a:latin typeface="Calibri"/>
              <a:cs typeface="Calibri"/>
            </a:endParaRPr>
          </a:p>
        </p:txBody>
      </p:sp>
      <p:pic>
        <p:nvPicPr>
          <p:cNvPr id="6" name="object 6"/>
          <p:cNvPicPr/>
          <p:nvPr/>
        </p:nvPicPr>
        <p:blipFill>
          <a:blip r:embed="rId3" cstate="print"/>
          <a:stretch>
            <a:fillRect/>
          </a:stretch>
        </p:blipFill>
        <p:spPr>
          <a:xfrm>
            <a:off x="5691094" y="2600325"/>
            <a:ext cx="6358030" cy="3133725"/>
          </a:xfrm>
          <a:prstGeom prst="rect">
            <a:avLst/>
          </a:prstGeom>
        </p:spPr>
      </p:pic>
      <p:sp>
        <p:nvSpPr>
          <p:cNvPr id="7" name="object 7"/>
          <p:cNvSpPr/>
          <p:nvPr/>
        </p:nvSpPr>
        <p:spPr>
          <a:xfrm>
            <a:off x="390525" y="2705100"/>
            <a:ext cx="5057775" cy="2838450"/>
          </a:xfrm>
          <a:custGeom>
            <a:avLst/>
            <a:gdLst/>
            <a:ahLst/>
            <a:cxnLst/>
            <a:rect l="l" t="t" r="r" b="b"/>
            <a:pathLst>
              <a:path w="5057775" h="2838450">
                <a:moveTo>
                  <a:pt x="5057775" y="0"/>
                </a:moveTo>
                <a:lnTo>
                  <a:pt x="0" y="0"/>
                </a:lnTo>
                <a:lnTo>
                  <a:pt x="0" y="2838450"/>
                </a:lnTo>
                <a:lnTo>
                  <a:pt x="4717034" y="2812541"/>
                </a:lnTo>
                <a:lnTo>
                  <a:pt x="5057775" y="0"/>
                </a:lnTo>
                <a:close/>
              </a:path>
            </a:pathLst>
          </a:custGeom>
          <a:solidFill>
            <a:srgbClr val="002384"/>
          </a:solidFill>
        </p:spPr>
        <p:txBody>
          <a:bodyPr wrap="square" lIns="0" tIns="0" rIns="0" bIns="0" rtlCol="0"/>
          <a:lstStyle/>
          <a:p>
            <a:endParaRPr/>
          </a:p>
        </p:txBody>
      </p:sp>
      <p:sp>
        <p:nvSpPr>
          <p:cNvPr id="8" name="object 8"/>
          <p:cNvSpPr txBox="1"/>
          <p:nvPr/>
        </p:nvSpPr>
        <p:spPr>
          <a:xfrm>
            <a:off x="488315" y="2770822"/>
            <a:ext cx="4609465" cy="2708275"/>
          </a:xfrm>
          <a:prstGeom prst="rect">
            <a:avLst/>
          </a:prstGeom>
        </p:spPr>
        <p:txBody>
          <a:bodyPr vert="horz" wrap="square" lIns="0" tIns="15875" rIns="0" bIns="0" rtlCol="0">
            <a:spAutoFit/>
          </a:bodyPr>
          <a:lstStyle/>
          <a:p>
            <a:pPr marL="12700">
              <a:lnSpc>
                <a:spcPct val="100000"/>
              </a:lnSpc>
              <a:spcBef>
                <a:spcPts val="125"/>
              </a:spcBef>
            </a:pPr>
            <a:r>
              <a:rPr sz="1550" dirty="0">
                <a:solidFill>
                  <a:srgbClr val="FFFFFF"/>
                </a:solidFill>
                <a:latin typeface="Calibri"/>
                <a:cs typeface="Calibri"/>
              </a:rPr>
              <a:t>Given</a:t>
            </a:r>
            <a:r>
              <a:rPr sz="1550" spc="105" dirty="0">
                <a:solidFill>
                  <a:srgbClr val="FFFFFF"/>
                </a:solidFill>
                <a:latin typeface="Calibri"/>
                <a:cs typeface="Calibri"/>
              </a:rPr>
              <a:t> </a:t>
            </a:r>
            <a:r>
              <a:rPr sz="1550" dirty="0">
                <a:solidFill>
                  <a:srgbClr val="FFFFFF"/>
                </a:solidFill>
                <a:latin typeface="Calibri"/>
                <a:cs typeface="Calibri"/>
              </a:rPr>
              <a:t>a</a:t>
            </a:r>
            <a:r>
              <a:rPr sz="1550" spc="110" dirty="0">
                <a:solidFill>
                  <a:srgbClr val="FFFFFF"/>
                </a:solidFill>
                <a:latin typeface="Calibri"/>
                <a:cs typeface="Calibri"/>
              </a:rPr>
              <a:t> </a:t>
            </a:r>
            <a:r>
              <a:rPr sz="1550" dirty="0">
                <a:solidFill>
                  <a:srgbClr val="FFFFFF"/>
                </a:solidFill>
                <a:latin typeface="Calibri"/>
                <a:cs typeface="Calibri"/>
              </a:rPr>
              <a:t>user</a:t>
            </a:r>
            <a:r>
              <a:rPr sz="1550" spc="80" dirty="0">
                <a:solidFill>
                  <a:srgbClr val="FFFFFF"/>
                </a:solidFill>
                <a:latin typeface="Calibri"/>
                <a:cs typeface="Calibri"/>
              </a:rPr>
              <a:t> </a:t>
            </a:r>
            <a:r>
              <a:rPr sz="1550" dirty="0">
                <a:solidFill>
                  <a:srgbClr val="FFFFFF"/>
                </a:solidFill>
                <a:latin typeface="Calibri"/>
                <a:cs typeface="Calibri"/>
              </a:rPr>
              <a:t>query,</a:t>
            </a:r>
            <a:r>
              <a:rPr sz="1550" spc="185" dirty="0">
                <a:solidFill>
                  <a:srgbClr val="FFFFFF"/>
                </a:solidFill>
                <a:latin typeface="Calibri"/>
                <a:cs typeface="Calibri"/>
              </a:rPr>
              <a:t> </a:t>
            </a:r>
            <a:r>
              <a:rPr sz="1550" dirty="0">
                <a:solidFill>
                  <a:srgbClr val="FFFFFF"/>
                </a:solidFill>
                <a:latin typeface="Calibri"/>
                <a:cs typeface="Calibri"/>
              </a:rPr>
              <a:t>a</a:t>
            </a:r>
            <a:r>
              <a:rPr sz="1550" spc="105" dirty="0">
                <a:solidFill>
                  <a:srgbClr val="FFFFFF"/>
                </a:solidFill>
                <a:latin typeface="Calibri"/>
                <a:cs typeface="Calibri"/>
              </a:rPr>
              <a:t> </a:t>
            </a:r>
            <a:r>
              <a:rPr sz="1550" dirty="0">
                <a:solidFill>
                  <a:srgbClr val="FFFFFF"/>
                </a:solidFill>
                <a:latin typeface="Calibri"/>
                <a:cs typeface="Calibri"/>
              </a:rPr>
              <a:t>RAG</a:t>
            </a:r>
            <a:r>
              <a:rPr sz="1550" spc="90" dirty="0">
                <a:solidFill>
                  <a:srgbClr val="FFFFFF"/>
                </a:solidFill>
                <a:latin typeface="Calibri"/>
                <a:cs typeface="Calibri"/>
              </a:rPr>
              <a:t> </a:t>
            </a:r>
            <a:r>
              <a:rPr sz="1550" dirty="0">
                <a:solidFill>
                  <a:srgbClr val="FFFFFF"/>
                </a:solidFill>
                <a:latin typeface="Calibri"/>
                <a:cs typeface="Calibri"/>
              </a:rPr>
              <a:t>pipeline</a:t>
            </a:r>
            <a:r>
              <a:rPr sz="1550" spc="70" dirty="0">
                <a:solidFill>
                  <a:srgbClr val="FFFFFF"/>
                </a:solidFill>
                <a:latin typeface="Calibri"/>
                <a:cs typeface="Calibri"/>
              </a:rPr>
              <a:t> </a:t>
            </a:r>
            <a:r>
              <a:rPr sz="1550" dirty="0">
                <a:solidFill>
                  <a:srgbClr val="FFFFFF"/>
                </a:solidFill>
                <a:latin typeface="Calibri"/>
                <a:cs typeface="Calibri"/>
              </a:rPr>
              <a:t>literally</a:t>
            </a:r>
            <a:r>
              <a:rPr sz="1550" spc="65" dirty="0">
                <a:solidFill>
                  <a:srgbClr val="FFFFFF"/>
                </a:solidFill>
                <a:latin typeface="Calibri"/>
                <a:cs typeface="Calibri"/>
              </a:rPr>
              <a:t> </a:t>
            </a:r>
            <a:r>
              <a:rPr sz="1550" dirty="0">
                <a:solidFill>
                  <a:srgbClr val="FFFFFF"/>
                </a:solidFill>
                <a:latin typeface="Calibri"/>
                <a:cs typeface="Calibri"/>
              </a:rPr>
              <a:t>consists</a:t>
            </a:r>
            <a:r>
              <a:rPr sz="1550" spc="95" dirty="0">
                <a:solidFill>
                  <a:srgbClr val="FFFFFF"/>
                </a:solidFill>
                <a:latin typeface="Calibri"/>
                <a:cs typeface="Calibri"/>
              </a:rPr>
              <a:t> </a:t>
            </a:r>
            <a:r>
              <a:rPr sz="1550" spc="-25" dirty="0">
                <a:solidFill>
                  <a:srgbClr val="FFFFFF"/>
                </a:solidFill>
                <a:latin typeface="Calibri"/>
                <a:cs typeface="Calibri"/>
              </a:rPr>
              <a:t>of</a:t>
            </a:r>
            <a:endParaRPr sz="1550">
              <a:latin typeface="Calibri"/>
              <a:cs typeface="Calibri"/>
            </a:endParaRPr>
          </a:p>
          <a:p>
            <a:pPr marL="12700">
              <a:lnSpc>
                <a:spcPct val="100000"/>
              </a:lnSpc>
              <a:spcBef>
                <a:spcPts val="95"/>
              </a:spcBef>
            </a:pPr>
            <a:r>
              <a:rPr sz="1550" dirty="0">
                <a:solidFill>
                  <a:srgbClr val="FFFFFF"/>
                </a:solidFill>
                <a:latin typeface="Calibri"/>
                <a:cs typeface="Calibri"/>
              </a:rPr>
              <a:t>the</a:t>
            </a:r>
            <a:r>
              <a:rPr sz="1550" spc="85" dirty="0">
                <a:solidFill>
                  <a:srgbClr val="FFFFFF"/>
                </a:solidFill>
                <a:latin typeface="Calibri"/>
                <a:cs typeface="Calibri"/>
              </a:rPr>
              <a:t> </a:t>
            </a:r>
            <a:r>
              <a:rPr sz="1550" dirty="0">
                <a:solidFill>
                  <a:srgbClr val="FFFFFF"/>
                </a:solidFill>
                <a:latin typeface="Calibri"/>
                <a:cs typeface="Calibri"/>
              </a:rPr>
              <a:t>3</a:t>
            </a:r>
            <a:r>
              <a:rPr sz="1550" spc="80" dirty="0">
                <a:solidFill>
                  <a:srgbClr val="FFFFFF"/>
                </a:solidFill>
                <a:latin typeface="Calibri"/>
                <a:cs typeface="Calibri"/>
              </a:rPr>
              <a:t> </a:t>
            </a:r>
            <a:r>
              <a:rPr sz="1550" dirty="0">
                <a:solidFill>
                  <a:srgbClr val="FFFFFF"/>
                </a:solidFill>
                <a:latin typeface="Calibri"/>
                <a:cs typeface="Calibri"/>
              </a:rPr>
              <a:t>phases</a:t>
            </a:r>
            <a:r>
              <a:rPr sz="1550" spc="30" dirty="0">
                <a:solidFill>
                  <a:srgbClr val="FFFFFF"/>
                </a:solidFill>
                <a:latin typeface="Calibri"/>
                <a:cs typeface="Calibri"/>
              </a:rPr>
              <a:t> </a:t>
            </a:r>
            <a:r>
              <a:rPr sz="1550" spc="-10" dirty="0">
                <a:solidFill>
                  <a:srgbClr val="FFFFFF"/>
                </a:solidFill>
                <a:latin typeface="Calibri"/>
                <a:cs typeface="Calibri"/>
              </a:rPr>
              <a:t>below:</a:t>
            </a:r>
            <a:endParaRPr sz="1550">
              <a:latin typeface="Calibri"/>
              <a:cs typeface="Calibri"/>
            </a:endParaRPr>
          </a:p>
          <a:p>
            <a:pPr marL="120014" indent="-107314">
              <a:lnSpc>
                <a:spcPct val="100000"/>
              </a:lnSpc>
              <a:spcBef>
                <a:spcPts val="20"/>
              </a:spcBef>
              <a:buChar char="-"/>
              <a:tabLst>
                <a:tab pos="120014" algn="l"/>
              </a:tabLst>
            </a:pPr>
            <a:r>
              <a:rPr sz="1550" b="1" dirty="0">
                <a:solidFill>
                  <a:srgbClr val="FFD966"/>
                </a:solidFill>
                <a:latin typeface="Calibri"/>
                <a:cs typeface="Calibri"/>
              </a:rPr>
              <a:t>Retrieve</a:t>
            </a:r>
            <a:r>
              <a:rPr sz="1550" dirty="0">
                <a:solidFill>
                  <a:srgbClr val="FFFFFF"/>
                </a:solidFill>
                <a:latin typeface="Calibri"/>
                <a:cs typeface="Calibri"/>
              </a:rPr>
              <a:t>:</a:t>
            </a:r>
            <a:r>
              <a:rPr sz="1550" spc="165" dirty="0">
                <a:solidFill>
                  <a:srgbClr val="FFFFFF"/>
                </a:solidFill>
                <a:latin typeface="Calibri"/>
                <a:cs typeface="Calibri"/>
              </a:rPr>
              <a:t> </a:t>
            </a:r>
            <a:r>
              <a:rPr sz="1550" dirty="0">
                <a:solidFill>
                  <a:srgbClr val="FFFFFF"/>
                </a:solidFill>
                <a:latin typeface="Calibri"/>
                <a:cs typeface="Calibri"/>
              </a:rPr>
              <a:t>Transform</a:t>
            </a:r>
            <a:r>
              <a:rPr sz="1550" spc="150" dirty="0">
                <a:solidFill>
                  <a:srgbClr val="FFFFFF"/>
                </a:solidFill>
                <a:latin typeface="Calibri"/>
                <a:cs typeface="Calibri"/>
              </a:rPr>
              <a:t> </a:t>
            </a:r>
            <a:r>
              <a:rPr sz="1550" dirty="0">
                <a:solidFill>
                  <a:srgbClr val="FFFFFF"/>
                </a:solidFill>
                <a:latin typeface="Calibri"/>
                <a:cs typeface="Calibri"/>
              </a:rPr>
              <a:t>user</a:t>
            </a:r>
            <a:r>
              <a:rPr sz="1550" spc="195" dirty="0">
                <a:solidFill>
                  <a:srgbClr val="FFFFFF"/>
                </a:solidFill>
                <a:latin typeface="Calibri"/>
                <a:cs typeface="Calibri"/>
              </a:rPr>
              <a:t> </a:t>
            </a:r>
            <a:r>
              <a:rPr sz="1550" dirty="0">
                <a:solidFill>
                  <a:srgbClr val="FFFFFF"/>
                </a:solidFill>
                <a:latin typeface="Calibri"/>
                <a:cs typeface="Calibri"/>
              </a:rPr>
              <a:t>queries</a:t>
            </a:r>
            <a:r>
              <a:rPr sz="1550" spc="110" dirty="0">
                <a:solidFill>
                  <a:srgbClr val="FFFFFF"/>
                </a:solidFill>
                <a:latin typeface="Calibri"/>
                <a:cs typeface="Calibri"/>
              </a:rPr>
              <a:t> </a:t>
            </a:r>
            <a:r>
              <a:rPr sz="1550" dirty="0">
                <a:solidFill>
                  <a:srgbClr val="FFFFFF"/>
                </a:solidFill>
                <a:latin typeface="Calibri"/>
                <a:cs typeface="Calibri"/>
              </a:rPr>
              <a:t>to</a:t>
            </a:r>
            <a:r>
              <a:rPr sz="1550" spc="114" dirty="0">
                <a:solidFill>
                  <a:srgbClr val="FFFFFF"/>
                </a:solidFill>
                <a:latin typeface="Calibri"/>
                <a:cs typeface="Calibri"/>
              </a:rPr>
              <a:t> </a:t>
            </a:r>
            <a:r>
              <a:rPr sz="1550" dirty="0">
                <a:solidFill>
                  <a:srgbClr val="FFFFFF"/>
                </a:solidFill>
                <a:latin typeface="Calibri"/>
                <a:cs typeface="Calibri"/>
              </a:rPr>
              <a:t>embeddings</a:t>
            </a:r>
            <a:r>
              <a:rPr sz="1550" spc="110" dirty="0">
                <a:solidFill>
                  <a:srgbClr val="FFFFFF"/>
                </a:solidFill>
                <a:latin typeface="Calibri"/>
                <a:cs typeface="Calibri"/>
              </a:rPr>
              <a:t> </a:t>
            </a:r>
            <a:r>
              <a:rPr sz="1550" spc="-25" dirty="0">
                <a:solidFill>
                  <a:srgbClr val="FFFFFF"/>
                </a:solidFill>
                <a:latin typeface="Calibri"/>
                <a:cs typeface="Calibri"/>
              </a:rPr>
              <a:t>to</a:t>
            </a:r>
            <a:endParaRPr sz="1550">
              <a:latin typeface="Calibri"/>
              <a:cs typeface="Calibri"/>
            </a:endParaRPr>
          </a:p>
          <a:p>
            <a:pPr marL="12700">
              <a:lnSpc>
                <a:spcPct val="100000"/>
              </a:lnSpc>
              <a:spcBef>
                <a:spcPts val="90"/>
              </a:spcBef>
            </a:pPr>
            <a:r>
              <a:rPr sz="1550" dirty="0">
                <a:solidFill>
                  <a:srgbClr val="FFFFFF"/>
                </a:solidFill>
                <a:latin typeface="Calibri"/>
                <a:cs typeface="Calibri"/>
              </a:rPr>
              <a:t>compare</a:t>
            </a:r>
            <a:r>
              <a:rPr sz="1550" spc="130" dirty="0">
                <a:solidFill>
                  <a:srgbClr val="FFFFFF"/>
                </a:solidFill>
                <a:latin typeface="Calibri"/>
                <a:cs typeface="Calibri"/>
              </a:rPr>
              <a:t> </a:t>
            </a:r>
            <a:r>
              <a:rPr sz="1550" dirty="0">
                <a:solidFill>
                  <a:srgbClr val="FFFFFF"/>
                </a:solidFill>
                <a:latin typeface="Calibri"/>
                <a:cs typeface="Calibri"/>
              </a:rPr>
              <a:t>its</a:t>
            </a:r>
            <a:r>
              <a:rPr sz="1550" spc="65" dirty="0">
                <a:solidFill>
                  <a:srgbClr val="FFFFFF"/>
                </a:solidFill>
                <a:latin typeface="Calibri"/>
                <a:cs typeface="Calibri"/>
              </a:rPr>
              <a:t> </a:t>
            </a:r>
            <a:r>
              <a:rPr sz="1550" dirty="0">
                <a:solidFill>
                  <a:srgbClr val="FFFFFF"/>
                </a:solidFill>
                <a:latin typeface="Calibri"/>
                <a:cs typeface="Calibri"/>
              </a:rPr>
              <a:t>similarity</a:t>
            </a:r>
            <a:r>
              <a:rPr sz="1550" spc="125" dirty="0">
                <a:solidFill>
                  <a:srgbClr val="FFFFFF"/>
                </a:solidFill>
                <a:latin typeface="Calibri"/>
                <a:cs typeface="Calibri"/>
              </a:rPr>
              <a:t> </a:t>
            </a:r>
            <a:r>
              <a:rPr sz="1550" dirty="0">
                <a:solidFill>
                  <a:srgbClr val="FFFFFF"/>
                </a:solidFill>
                <a:latin typeface="Calibri"/>
                <a:cs typeface="Calibri"/>
              </a:rPr>
              <a:t>score</a:t>
            </a:r>
            <a:r>
              <a:rPr sz="1550" spc="135" dirty="0">
                <a:solidFill>
                  <a:srgbClr val="FFFFFF"/>
                </a:solidFill>
                <a:latin typeface="Calibri"/>
                <a:cs typeface="Calibri"/>
              </a:rPr>
              <a:t> </a:t>
            </a:r>
            <a:r>
              <a:rPr sz="1550" dirty="0">
                <a:solidFill>
                  <a:srgbClr val="FFFFFF"/>
                </a:solidFill>
                <a:latin typeface="Calibri"/>
                <a:cs typeface="Calibri"/>
              </a:rPr>
              <a:t>with</a:t>
            </a:r>
            <a:r>
              <a:rPr sz="1550" spc="80" dirty="0">
                <a:solidFill>
                  <a:srgbClr val="FFFFFF"/>
                </a:solidFill>
                <a:latin typeface="Calibri"/>
                <a:cs typeface="Calibri"/>
              </a:rPr>
              <a:t> </a:t>
            </a:r>
            <a:r>
              <a:rPr sz="1550" dirty="0">
                <a:solidFill>
                  <a:srgbClr val="FFFFFF"/>
                </a:solidFill>
                <a:latin typeface="Calibri"/>
                <a:cs typeface="Calibri"/>
              </a:rPr>
              <a:t>other</a:t>
            </a:r>
            <a:r>
              <a:rPr sz="1550" spc="145" dirty="0">
                <a:solidFill>
                  <a:srgbClr val="FFFFFF"/>
                </a:solidFill>
                <a:latin typeface="Calibri"/>
                <a:cs typeface="Calibri"/>
              </a:rPr>
              <a:t> </a:t>
            </a:r>
            <a:r>
              <a:rPr sz="1550" spc="-10" dirty="0">
                <a:solidFill>
                  <a:srgbClr val="FFFFFF"/>
                </a:solidFill>
                <a:latin typeface="Calibri"/>
                <a:cs typeface="Calibri"/>
              </a:rPr>
              <a:t>content.</a:t>
            </a:r>
            <a:endParaRPr sz="1550">
              <a:latin typeface="Calibri"/>
              <a:cs typeface="Calibri"/>
            </a:endParaRPr>
          </a:p>
          <a:p>
            <a:pPr marL="12700" marR="5080" indent="107314">
              <a:lnSpc>
                <a:spcPts val="1950"/>
              </a:lnSpc>
              <a:spcBef>
                <a:spcPts val="10"/>
              </a:spcBef>
              <a:buClr>
                <a:srgbClr val="FFFFFF"/>
              </a:buClr>
              <a:buFont typeface="Calibri"/>
              <a:buChar char="-"/>
              <a:tabLst>
                <a:tab pos="120014" algn="l"/>
              </a:tabLst>
            </a:pPr>
            <a:r>
              <a:rPr sz="1550" b="1" dirty="0">
                <a:solidFill>
                  <a:srgbClr val="FFD966"/>
                </a:solidFill>
                <a:latin typeface="Calibri"/>
                <a:cs typeface="Calibri"/>
              </a:rPr>
              <a:t>Augment</a:t>
            </a:r>
            <a:r>
              <a:rPr sz="1550" dirty="0">
                <a:solidFill>
                  <a:srgbClr val="FFFFFF"/>
                </a:solidFill>
                <a:latin typeface="Calibri"/>
                <a:cs typeface="Calibri"/>
              </a:rPr>
              <a:t>:</a:t>
            </a:r>
            <a:r>
              <a:rPr sz="1550" spc="145" dirty="0">
                <a:solidFill>
                  <a:srgbClr val="FFFFFF"/>
                </a:solidFill>
                <a:latin typeface="Calibri"/>
                <a:cs typeface="Calibri"/>
              </a:rPr>
              <a:t> </a:t>
            </a:r>
            <a:r>
              <a:rPr sz="1550" dirty="0">
                <a:solidFill>
                  <a:srgbClr val="FFFFFF"/>
                </a:solidFill>
                <a:latin typeface="Calibri"/>
                <a:cs typeface="Calibri"/>
              </a:rPr>
              <a:t>with</a:t>
            </a:r>
            <a:r>
              <a:rPr sz="1550" spc="110" dirty="0">
                <a:solidFill>
                  <a:srgbClr val="FFFFFF"/>
                </a:solidFill>
                <a:latin typeface="Calibri"/>
                <a:cs typeface="Calibri"/>
              </a:rPr>
              <a:t> </a:t>
            </a:r>
            <a:r>
              <a:rPr sz="1550" dirty="0">
                <a:solidFill>
                  <a:srgbClr val="FFFFFF"/>
                </a:solidFill>
                <a:latin typeface="Calibri"/>
                <a:cs typeface="Calibri"/>
              </a:rPr>
              <a:t>search</a:t>
            </a:r>
            <a:r>
              <a:rPr sz="1550" spc="114" dirty="0">
                <a:solidFill>
                  <a:srgbClr val="FFFFFF"/>
                </a:solidFill>
                <a:latin typeface="Calibri"/>
                <a:cs typeface="Calibri"/>
              </a:rPr>
              <a:t> </a:t>
            </a:r>
            <a:r>
              <a:rPr sz="1550" dirty="0">
                <a:solidFill>
                  <a:srgbClr val="FFFFFF"/>
                </a:solidFill>
                <a:latin typeface="Calibri"/>
                <a:cs typeface="Calibri"/>
              </a:rPr>
              <a:t>results</a:t>
            </a:r>
            <a:r>
              <a:rPr sz="1550" spc="90" dirty="0">
                <a:solidFill>
                  <a:srgbClr val="FFFFFF"/>
                </a:solidFill>
                <a:latin typeface="Calibri"/>
                <a:cs typeface="Calibri"/>
              </a:rPr>
              <a:t> </a:t>
            </a:r>
            <a:r>
              <a:rPr sz="1550" dirty="0">
                <a:solidFill>
                  <a:srgbClr val="FFFFFF"/>
                </a:solidFill>
                <a:latin typeface="Calibri"/>
                <a:cs typeface="Calibri"/>
              </a:rPr>
              <a:t>/</a:t>
            </a:r>
            <a:r>
              <a:rPr sz="1550" spc="105" dirty="0">
                <a:solidFill>
                  <a:srgbClr val="FFFFFF"/>
                </a:solidFill>
                <a:latin typeface="Calibri"/>
                <a:cs typeface="Calibri"/>
              </a:rPr>
              <a:t> </a:t>
            </a:r>
            <a:r>
              <a:rPr sz="1550" dirty="0">
                <a:solidFill>
                  <a:srgbClr val="FFFFFF"/>
                </a:solidFill>
                <a:latin typeface="Calibri"/>
                <a:cs typeface="Calibri"/>
              </a:rPr>
              <a:t>context</a:t>
            </a:r>
            <a:r>
              <a:rPr sz="1550" spc="114" dirty="0">
                <a:solidFill>
                  <a:srgbClr val="FFFFFF"/>
                </a:solidFill>
                <a:latin typeface="Calibri"/>
                <a:cs typeface="Calibri"/>
              </a:rPr>
              <a:t> </a:t>
            </a:r>
            <a:r>
              <a:rPr sz="1550" dirty="0">
                <a:solidFill>
                  <a:srgbClr val="FFFFFF"/>
                </a:solidFill>
                <a:latin typeface="Calibri"/>
                <a:cs typeface="Calibri"/>
              </a:rPr>
              <a:t>retrieved</a:t>
            </a:r>
            <a:r>
              <a:rPr sz="1550" spc="110" dirty="0">
                <a:solidFill>
                  <a:srgbClr val="FFFFFF"/>
                </a:solidFill>
                <a:latin typeface="Calibri"/>
                <a:cs typeface="Calibri"/>
              </a:rPr>
              <a:t> </a:t>
            </a:r>
            <a:r>
              <a:rPr sz="1550" spc="-20" dirty="0">
                <a:solidFill>
                  <a:srgbClr val="FFFFFF"/>
                </a:solidFill>
                <a:latin typeface="Calibri"/>
                <a:cs typeface="Calibri"/>
              </a:rPr>
              <a:t>from </a:t>
            </a:r>
            <a:r>
              <a:rPr sz="1550" dirty="0">
                <a:solidFill>
                  <a:srgbClr val="FFFFFF"/>
                </a:solidFill>
                <a:latin typeface="Calibri"/>
                <a:cs typeface="Calibri"/>
              </a:rPr>
              <a:t>a</a:t>
            </a:r>
            <a:r>
              <a:rPr sz="1550" spc="75" dirty="0">
                <a:solidFill>
                  <a:srgbClr val="FFFFFF"/>
                </a:solidFill>
                <a:latin typeface="Calibri"/>
                <a:cs typeface="Calibri"/>
              </a:rPr>
              <a:t> </a:t>
            </a:r>
            <a:r>
              <a:rPr sz="1550" dirty="0">
                <a:solidFill>
                  <a:srgbClr val="FFFFFF"/>
                </a:solidFill>
                <a:latin typeface="Calibri"/>
                <a:cs typeface="Calibri"/>
              </a:rPr>
              <a:t>vector</a:t>
            </a:r>
            <a:r>
              <a:rPr sz="1550" spc="55" dirty="0">
                <a:solidFill>
                  <a:srgbClr val="FFFFFF"/>
                </a:solidFill>
                <a:latin typeface="Calibri"/>
                <a:cs typeface="Calibri"/>
              </a:rPr>
              <a:t> </a:t>
            </a:r>
            <a:r>
              <a:rPr sz="1550" dirty="0">
                <a:solidFill>
                  <a:srgbClr val="FFFFFF"/>
                </a:solidFill>
                <a:latin typeface="Calibri"/>
                <a:cs typeface="Calibri"/>
              </a:rPr>
              <a:t>store</a:t>
            </a:r>
            <a:r>
              <a:rPr sz="1550" spc="40" dirty="0">
                <a:solidFill>
                  <a:srgbClr val="FFFFFF"/>
                </a:solidFill>
                <a:latin typeface="Calibri"/>
                <a:cs typeface="Calibri"/>
              </a:rPr>
              <a:t> </a:t>
            </a:r>
            <a:r>
              <a:rPr sz="1550" dirty="0">
                <a:solidFill>
                  <a:srgbClr val="FFFFFF"/>
                </a:solidFill>
                <a:latin typeface="Calibri"/>
                <a:cs typeface="Calibri"/>
              </a:rPr>
              <a:t>that</a:t>
            </a:r>
            <a:r>
              <a:rPr sz="1550" spc="85" dirty="0">
                <a:solidFill>
                  <a:srgbClr val="FFFFFF"/>
                </a:solidFill>
                <a:latin typeface="Calibri"/>
                <a:cs typeface="Calibri"/>
              </a:rPr>
              <a:t> </a:t>
            </a:r>
            <a:r>
              <a:rPr sz="1550" dirty="0">
                <a:solidFill>
                  <a:srgbClr val="FFFFFF"/>
                </a:solidFill>
                <a:latin typeface="Calibri"/>
                <a:cs typeface="Calibri"/>
              </a:rPr>
              <a:t>is</a:t>
            </a:r>
            <a:r>
              <a:rPr sz="1550" spc="150" dirty="0">
                <a:solidFill>
                  <a:srgbClr val="FFFFFF"/>
                </a:solidFill>
                <a:latin typeface="Calibri"/>
                <a:cs typeface="Calibri"/>
              </a:rPr>
              <a:t> </a:t>
            </a:r>
            <a:r>
              <a:rPr sz="1550" dirty="0">
                <a:solidFill>
                  <a:srgbClr val="FFFFFF"/>
                </a:solidFill>
                <a:latin typeface="Calibri"/>
                <a:cs typeface="Calibri"/>
              </a:rPr>
              <a:t>kept</a:t>
            </a:r>
            <a:r>
              <a:rPr sz="1550" spc="80" dirty="0">
                <a:solidFill>
                  <a:srgbClr val="FFFFFF"/>
                </a:solidFill>
                <a:latin typeface="Calibri"/>
                <a:cs typeface="Calibri"/>
              </a:rPr>
              <a:t> </a:t>
            </a:r>
            <a:r>
              <a:rPr sz="1550" dirty="0">
                <a:solidFill>
                  <a:srgbClr val="FFFFFF"/>
                </a:solidFill>
                <a:latin typeface="Calibri"/>
                <a:cs typeface="Calibri"/>
              </a:rPr>
              <a:t>current</a:t>
            </a:r>
            <a:r>
              <a:rPr sz="1550" spc="75" dirty="0">
                <a:solidFill>
                  <a:srgbClr val="FFFFFF"/>
                </a:solidFill>
                <a:latin typeface="Calibri"/>
                <a:cs typeface="Calibri"/>
              </a:rPr>
              <a:t> </a:t>
            </a:r>
            <a:r>
              <a:rPr sz="1550" dirty="0">
                <a:solidFill>
                  <a:srgbClr val="FFFFFF"/>
                </a:solidFill>
                <a:latin typeface="Calibri"/>
                <a:cs typeface="Calibri"/>
              </a:rPr>
              <a:t>and</a:t>
            </a:r>
            <a:r>
              <a:rPr sz="1550" spc="80" dirty="0">
                <a:solidFill>
                  <a:srgbClr val="FFFFFF"/>
                </a:solidFill>
                <a:latin typeface="Calibri"/>
                <a:cs typeface="Calibri"/>
              </a:rPr>
              <a:t> </a:t>
            </a:r>
            <a:r>
              <a:rPr sz="1550" dirty="0">
                <a:solidFill>
                  <a:srgbClr val="FFFFFF"/>
                </a:solidFill>
                <a:latin typeface="Calibri"/>
                <a:cs typeface="Calibri"/>
              </a:rPr>
              <a:t>in</a:t>
            </a:r>
            <a:r>
              <a:rPr sz="1550" spc="75" dirty="0">
                <a:solidFill>
                  <a:srgbClr val="FFFFFF"/>
                </a:solidFill>
                <a:latin typeface="Calibri"/>
                <a:cs typeface="Calibri"/>
              </a:rPr>
              <a:t> </a:t>
            </a:r>
            <a:r>
              <a:rPr sz="1550" dirty="0">
                <a:solidFill>
                  <a:srgbClr val="FFFFFF"/>
                </a:solidFill>
                <a:latin typeface="Calibri"/>
                <a:cs typeface="Calibri"/>
              </a:rPr>
              <a:t>sync</a:t>
            </a:r>
            <a:r>
              <a:rPr sz="1550" spc="90" dirty="0">
                <a:solidFill>
                  <a:srgbClr val="FFFFFF"/>
                </a:solidFill>
                <a:latin typeface="Calibri"/>
                <a:cs typeface="Calibri"/>
              </a:rPr>
              <a:t> </a:t>
            </a:r>
            <a:r>
              <a:rPr sz="1550" dirty="0">
                <a:solidFill>
                  <a:srgbClr val="FFFFFF"/>
                </a:solidFill>
                <a:latin typeface="Calibri"/>
                <a:cs typeface="Calibri"/>
              </a:rPr>
              <a:t>with</a:t>
            </a:r>
            <a:r>
              <a:rPr sz="1550" spc="75" dirty="0">
                <a:solidFill>
                  <a:srgbClr val="FFFFFF"/>
                </a:solidFill>
                <a:latin typeface="Calibri"/>
                <a:cs typeface="Calibri"/>
              </a:rPr>
              <a:t> </a:t>
            </a:r>
            <a:r>
              <a:rPr sz="1550" spc="-25" dirty="0">
                <a:solidFill>
                  <a:srgbClr val="FFFFFF"/>
                </a:solidFill>
                <a:latin typeface="Calibri"/>
                <a:cs typeface="Calibri"/>
              </a:rPr>
              <a:t>the </a:t>
            </a:r>
            <a:r>
              <a:rPr sz="1550" dirty="0">
                <a:solidFill>
                  <a:srgbClr val="FFFFFF"/>
                </a:solidFill>
                <a:latin typeface="Calibri"/>
                <a:cs typeface="Calibri"/>
              </a:rPr>
              <a:t>underlying</a:t>
            </a:r>
            <a:r>
              <a:rPr sz="1550" spc="204" dirty="0">
                <a:solidFill>
                  <a:srgbClr val="FFFFFF"/>
                </a:solidFill>
                <a:latin typeface="Calibri"/>
                <a:cs typeface="Calibri"/>
              </a:rPr>
              <a:t> </a:t>
            </a:r>
            <a:r>
              <a:rPr sz="1550" dirty="0">
                <a:solidFill>
                  <a:srgbClr val="FFFFFF"/>
                </a:solidFill>
                <a:latin typeface="Calibri"/>
                <a:cs typeface="Calibri"/>
              </a:rPr>
              <a:t>document</a:t>
            </a:r>
            <a:r>
              <a:rPr sz="1550" spc="195" dirty="0">
                <a:solidFill>
                  <a:srgbClr val="FFFFFF"/>
                </a:solidFill>
                <a:latin typeface="Calibri"/>
                <a:cs typeface="Calibri"/>
              </a:rPr>
              <a:t> </a:t>
            </a:r>
            <a:r>
              <a:rPr sz="1550" spc="-10" dirty="0">
                <a:solidFill>
                  <a:srgbClr val="FFFFFF"/>
                </a:solidFill>
                <a:latin typeface="Calibri"/>
                <a:cs typeface="Calibri"/>
              </a:rPr>
              <a:t>repository.</a:t>
            </a:r>
            <a:endParaRPr sz="1550">
              <a:latin typeface="Calibri"/>
              <a:cs typeface="Calibri"/>
            </a:endParaRPr>
          </a:p>
          <a:p>
            <a:pPr marL="120014" indent="-107314">
              <a:lnSpc>
                <a:spcPts val="1800"/>
              </a:lnSpc>
              <a:buClr>
                <a:srgbClr val="FFFFFF"/>
              </a:buClr>
              <a:buFont typeface="Calibri"/>
              <a:buChar char="-"/>
              <a:tabLst>
                <a:tab pos="120014" algn="l"/>
              </a:tabLst>
            </a:pPr>
            <a:r>
              <a:rPr sz="1550" b="1" dirty="0">
                <a:solidFill>
                  <a:srgbClr val="FFD966"/>
                </a:solidFill>
                <a:latin typeface="Calibri"/>
                <a:cs typeface="Calibri"/>
              </a:rPr>
              <a:t>Generate</a:t>
            </a:r>
            <a:r>
              <a:rPr sz="1550" dirty="0">
                <a:solidFill>
                  <a:srgbClr val="FFFFFF"/>
                </a:solidFill>
                <a:latin typeface="Calibri"/>
                <a:cs typeface="Calibri"/>
              </a:rPr>
              <a:t>:</a:t>
            </a:r>
            <a:r>
              <a:rPr sz="1550" spc="200" dirty="0">
                <a:solidFill>
                  <a:srgbClr val="FFFFFF"/>
                </a:solidFill>
                <a:latin typeface="Calibri"/>
                <a:cs typeface="Calibri"/>
              </a:rPr>
              <a:t> </a:t>
            </a:r>
            <a:r>
              <a:rPr sz="1550" dirty="0">
                <a:solidFill>
                  <a:srgbClr val="FFFFFF"/>
                </a:solidFill>
                <a:latin typeface="Calibri"/>
                <a:cs typeface="Calibri"/>
              </a:rPr>
              <a:t>contextualized</a:t>
            </a:r>
            <a:r>
              <a:rPr sz="1550" spc="165" dirty="0">
                <a:solidFill>
                  <a:srgbClr val="FFFFFF"/>
                </a:solidFill>
                <a:latin typeface="Calibri"/>
                <a:cs typeface="Calibri"/>
              </a:rPr>
              <a:t> </a:t>
            </a:r>
            <a:r>
              <a:rPr sz="1550" dirty="0">
                <a:solidFill>
                  <a:srgbClr val="FFFFFF"/>
                </a:solidFill>
                <a:latin typeface="Calibri"/>
                <a:cs typeface="Calibri"/>
              </a:rPr>
              <a:t>responses</a:t>
            </a:r>
            <a:r>
              <a:rPr sz="1550" spc="150" dirty="0">
                <a:solidFill>
                  <a:srgbClr val="FFFFFF"/>
                </a:solidFill>
                <a:latin typeface="Calibri"/>
                <a:cs typeface="Calibri"/>
              </a:rPr>
              <a:t> </a:t>
            </a:r>
            <a:r>
              <a:rPr sz="1550" dirty="0">
                <a:solidFill>
                  <a:srgbClr val="FFFFFF"/>
                </a:solidFill>
                <a:latin typeface="Calibri"/>
                <a:cs typeface="Calibri"/>
              </a:rPr>
              <a:t>by</a:t>
            </a:r>
            <a:r>
              <a:rPr sz="1550" spc="105" dirty="0">
                <a:solidFill>
                  <a:srgbClr val="FFFFFF"/>
                </a:solidFill>
                <a:latin typeface="Calibri"/>
                <a:cs typeface="Calibri"/>
              </a:rPr>
              <a:t> </a:t>
            </a:r>
            <a:r>
              <a:rPr sz="1550" spc="-10" dirty="0">
                <a:solidFill>
                  <a:srgbClr val="FFFFFF"/>
                </a:solidFill>
                <a:latin typeface="Calibri"/>
                <a:cs typeface="Calibri"/>
              </a:rPr>
              <a:t>making</a:t>
            </a:r>
            <a:endParaRPr sz="1550">
              <a:latin typeface="Calibri"/>
              <a:cs typeface="Calibri"/>
            </a:endParaRPr>
          </a:p>
          <a:p>
            <a:pPr marL="12700" marR="430530">
              <a:lnSpc>
                <a:spcPct val="103000"/>
              </a:lnSpc>
              <a:spcBef>
                <a:spcPts val="35"/>
              </a:spcBef>
            </a:pPr>
            <a:r>
              <a:rPr sz="1550" dirty="0">
                <a:solidFill>
                  <a:srgbClr val="FFFFFF"/>
                </a:solidFill>
                <a:latin typeface="Calibri"/>
                <a:cs typeface="Calibri"/>
              </a:rPr>
              <a:t>retrieved</a:t>
            </a:r>
            <a:r>
              <a:rPr sz="1550" spc="110" dirty="0">
                <a:solidFill>
                  <a:srgbClr val="FFFFFF"/>
                </a:solidFill>
                <a:latin typeface="Calibri"/>
                <a:cs typeface="Calibri"/>
              </a:rPr>
              <a:t> </a:t>
            </a:r>
            <a:r>
              <a:rPr sz="1550" dirty="0">
                <a:solidFill>
                  <a:srgbClr val="FFFFFF"/>
                </a:solidFill>
                <a:latin typeface="Calibri"/>
                <a:cs typeface="Calibri"/>
              </a:rPr>
              <a:t>chunks</a:t>
            </a:r>
            <a:r>
              <a:rPr sz="1550" spc="95" dirty="0">
                <a:solidFill>
                  <a:srgbClr val="FFFFFF"/>
                </a:solidFill>
                <a:latin typeface="Calibri"/>
                <a:cs typeface="Calibri"/>
              </a:rPr>
              <a:t> </a:t>
            </a:r>
            <a:r>
              <a:rPr sz="1550" dirty="0">
                <a:solidFill>
                  <a:srgbClr val="FFFFFF"/>
                </a:solidFill>
                <a:latin typeface="Calibri"/>
                <a:cs typeface="Calibri"/>
              </a:rPr>
              <a:t>part</a:t>
            </a:r>
            <a:r>
              <a:rPr sz="1550" spc="120" dirty="0">
                <a:solidFill>
                  <a:srgbClr val="FFFFFF"/>
                </a:solidFill>
                <a:latin typeface="Calibri"/>
                <a:cs typeface="Calibri"/>
              </a:rPr>
              <a:t> </a:t>
            </a:r>
            <a:r>
              <a:rPr sz="1550" dirty="0">
                <a:solidFill>
                  <a:srgbClr val="FFFFFF"/>
                </a:solidFill>
                <a:latin typeface="Calibri"/>
                <a:cs typeface="Calibri"/>
              </a:rPr>
              <a:t>of</a:t>
            </a:r>
            <a:r>
              <a:rPr sz="1550" spc="175" dirty="0">
                <a:solidFill>
                  <a:srgbClr val="FFFFFF"/>
                </a:solidFill>
                <a:latin typeface="Calibri"/>
                <a:cs typeface="Calibri"/>
              </a:rPr>
              <a:t> </a:t>
            </a:r>
            <a:r>
              <a:rPr sz="1550" dirty="0">
                <a:solidFill>
                  <a:srgbClr val="FFFFFF"/>
                </a:solidFill>
                <a:latin typeface="Calibri"/>
                <a:cs typeface="Calibri"/>
              </a:rPr>
              <a:t>the</a:t>
            </a:r>
            <a:r>
              <a:rPr sz="1550" spc="70" dirty="0">
                <a:solidFill>
                  <a:srgbClr val="FFFFFF"/>
                </a:solidFill>
                <a:latin typeface="Calibri"/>
                <a:cs typeface="Calibri"/>
              </a:rPr>
              <a:t> </a:t>
            </a:r>
            <a:r>
              <a:rPr sz="1550" dirty="0">
                <a:solidFill>
                  <a:srgbClr val="FFFFFF"/>
                </a:solidFill>
                <a:latin typeface="Calibri"/>
                <a:cs typeface="Calibri"/>
              </a:rPr>
              <a:t>prompt</a:t>
            </a:r>
            <a:r>
              <a:rPr sz="1550" spc="120" dirty="0">
                <a:solidFill>
                  <a:srgbClr val="FFFFFF"/>
                </a:solidFill>
                <a:latin typeface="Calibri"/>
                <a:cs typeface="Calibri"/>
              </a:rPr>
              <a:t> </a:t>
            </a:r>
            <a:r>
              <a:rPr sz="1550" dirty="0">
                <a:solidFill>
                  <a:srgbClr val="FFFFFF"/>
                </a:solidFill>
                <a:latin typeface="Calibri"/>
                <a:cs typeface="Calibri"/>
              </a:rPr>
              <a:t>template</a:t>
            </a:r>
            <a:r>
              <a:rPr sz="1550" spc="65" dirty="0">
                <a:solidFill>
                  <a:srgbClr val="FFFFFF"/>
                </a:solidFill>
                <a:latin typeface="Calibri"/>
                <a:cs typeface="Calibri"/>
              </a:rPr>
              <a:t> </a:t>
            </a:r>
            <a:r>
              <a:rPr sz="1550" spc="-20" dirty="0">
                <a:solidFill>
                  <a:srgbClr val="FFFFFF"/>
                </a:solidFill>
                <a:latin typeface="Calibri"/>
                <a:cs typeface="Calibri"/>
              </a:rPr>
              <a:t>that </a:t>
            </a:r>
            <a:r>
              <a:rPr sz="1550" dirty="0">
                <a:solidFill>
                  <a:srgbClr val="FFFFFF"/>
                </a:solidFill>
                <a:latin typeface="Calibri"/>
                <a:cs typeface="Calibri"/>
              </a:rPr>
              <a:t>provides</a:t>
            </a:r>
            <a:r>
              <a:rPr sz="1550" spc="165" dirty="0">
                <a:solidFill>
                  <a:srgbClr val="FFFFFF"/>
                </a:solidFill>
                <a:latin typeface="Calibri"/>
                <a:cs typeface="Calibri"/>
              </a:rPr>
              <a:t> </a:t>
            </a:r>
            <a:r>
              <a:rPr sz="1550" dirty="0">
                <a:solidFill>
                  <a:srgbClr val="FFFFFF"/>
                </a:solidFill>
                <a:latin typeface="Calibri"/>
                <a:cs typeface="Calibri"/>
              </a:rPr>
              <a:t>additional</a:t>
            </a:r>
            <a:r>
              <a:rPr sz="1550" spc="25" dirty="0">
                <a:solidFill>
                  <a:srgbClr val="FFFFFF"/>
                </a:solidFill>
                <a:latin typeface="Calibri"/>
                <a:cs typeface="Calibri"/>
              </a:rPr>
              <a:t> </a:t>
            </a:r>
            <a:r>
              <a:rPr sz="1550" dirty="0">
                <a:solidFill>
                  <a:srgbClr val="FFFFFF"/>
                </a:solidFill>
                <a:latin typeface="Calibri"/>
                <a:cs typeface="Calibri"/>
              </a:rPr>
              <a:t>context</a:t>
            </a:r>
            <a:r>
              <a:rPr sz="1550" spc="100" dirty="0">
                <a:solidFill>
                  <a:srgbClr val="FFFFFF"/>
                </a:solidFill>
                <a:latin typeface="Calibri"/>
                <a:cs typeface="Calibri"/>
              </a:rPr>
              <a:t> </a:t>
            </a:r>
            <a:r>
              <a:rPr sz="1550" dirty="0">
                <a:solidFill>
                  <a:srgbClr val="FFFFFF"/>
                </a:solidFill>
                <a:latin typeface="Calibri"/>
                <a:cs typeface="Calibri"/>
              </a:rPr>
              <a:t>to</a:t>
            </a:r>
            <a:r>
              <a:rPr sz="1550" spc="85" dirty="0">
                <a:solidFill>
                  <a:srgbClr val="FFFFFF"/>
                </a:solidFill>
                <a:latin typeface="Calibri"/>
                <a:cs typeface="Calibri"/>
              </a:rPr>
              <a:t> </a:t>
            </a:r>
            <a:r>
              <a:rPr sz="1550" dirty="0">
                <a:solidFill>
                  <a:srgbClr val="FFFFFF"/>
                </a:solidFill>
                <a:latin typeface="Calibri"/>
                <a:cs typeface="Calibri"/>
              </a:rPr>
              <a:t>the</a:t>
            </a:r>
            <a:r>
              <a:rPr sz="1550" spc="145" dirty="0">
                <a:solidFill>
                  <a:srgbClr val="FFFFFF"/>
                </a:solidFill>
                <a:latin typeface="Calibri"/>
                <a:cs typeface="Calibri"/>
              </a:rPr>
              <a:t> </a:t>
            </a:r>
            <a:r>
              <a:rPr sz="1550" dirty="0">
                <a:solidFill>
                  <a:srgbClr val="FFFFFF"/>
                </a:solidFill>
                <a:latin typeface="Calibri"/>
                <a:cs typeface="Calibri"/>
              </a:rPr>
              <a:t>LLM</a:t>
            </a:r>
            <a:r>
              <a:rPr sz="1550" spc="105" dirty="0">
                <a:solidFill>
                  <a:srgbClr val="FFFFFF"/>
                </a:solidFill>
                <a:latin typeface="Calibri"/>
                <a:cs typeface="Calibri"/>
              </a:rPr>
              <a:t> </a:t>
            </a:r>
            <a:r>
              <a:rPr sz="1550" dirty="0">
                <a:solidFill>
                  <a:srgbClr val="FFFFFF"/>
                </a:solidFill>
                <a:latin typeface="Calibri"/>
                <a:cs typeface="Calibri"/>
              </a:rPr>
              <a:t>on</a:t>
            </a:r>
            <a:r>
              <a:rPr sz="1550" spc="90" dirty="0">
                <a:solidFill>
                  <a:srgbClr val="FFFFFF"/>
                </a:solidFill>
                <a:latin typeface="Calibri"/>
                <a:cs typeface="Calibri"/>
              </a:rPr>
              <a:t> </a:t>
            </a:r>
            <a:r>
              <a:rPr sz="1550" dirty="0">
                <a:solidFill>
                  <a:srgbClr val="FFFFFF"/>
                </a:solidFill>
                <a:latin typeface="Calibri"/>
                <a:cs typeface="Calibri"/>
              </a:rPr>
              <a:t>how</a:t>
            </a:r>
            <a:r>
              <a:rPr sz="1550" spc="95" dirty="0">
                <a:solidFill>
                  <a:srgbClr val="FFFFFF"/>
                </a:solidFill>
                <a:latin typeface="Calibri"/>
                <a:cs typeface="Calibri"/>
              </a:rPr>
              <a:t> </a:t>
            </a:r>
            <a:r>
              <a:rPr sz="1550" spc="-25" dirty="0">
                <a:solidFill>
                  <a:srgbClr val="FFFFFF"/>
                </a:solidFill>
                <a:latin typeface="Calibri"/>
                <a:cs typeface="Calibri"/>
              </a:rPr>
              <a:t>to </a:t>
            </a:r>
            <a:r>
              <a:rPr sz="1550" dirty="0">
                <a:solidFill>
                  <a:srgbClr val="FFFFFF"/>
                </a:solidFill>
                <a:latin typeface="Calibri"/>
                <a:cs typeface="Calibri"/>
              </a:rPr>
              <a:t>answer</a:t>
            </a:r>
            <a:r>
              <a:rPr sz="1550" spc="60" dirty="0">
                <a:solidFill>
                  <a:srgbClr val="FFFFFF"/>
                </a:solidFill>
                <a:latin typeface="Calibri"/>
                <a:cs typeface="Calibri"/>
              </a:rPr>
              <a:t> </a:t>
            </a:r>
            <a:r>
              <a:rPr sz="1550" dirty="0">
                <a:solidFill>
                  <a:srgbClr val="FFFFFF"/>
                </a:solidFill>
                <a:latin typeface="Calibri"/>
                <a:cs typeface="Calibri"/>
              </a:rPr>
              <a:t>the</a:t>
            </a:r>
            <a:r>
              <a:rPr sz="1550" spc="140" dirty="0">
                <a:solidFill>
                  <a:srgbClr val="FFFFFF"/>
                </a:solidFill>
                <a:latin typeface="Calibri"/>
                <a:cs typeface="Calibri"/>
              </a:rPr>
              <a:t> </a:t>
            </a:r>
            <a:r>
              <a:rPr sz="1550" spc="-10" dirty="0">
                <a:solidFill>
                  <a:srgbClr val="FFFFFF"/>
                </a:solidFill>
                <a:latin typeface="Calibri"/>
                <a:cs typeface="Calibri"/>
              </a:rPr>
              <a:t>query.</a:t>
            </a:r>
            <a:endParaRPr sz="1550">
              <a:latin typeface="Calibri"/>
              <a:cs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2305" rIns="0" bIns="0" rtlCol="0">
            <a:spAutoFit/>
          </a:bodyPr>
          <a:lstStyle/>
          <a:p>
            <a:pPr marL="180340">
              <a:lnSpc>
                <a:spcPct val="100000"/>
              </a:lnSpc>
              <a:spcBef>
                <a:spcPts val="105"/>
              </a:spcBef>
            </a:pPr>
            <a:r>
              <a:rPr dirty="0"/>
              <a:t>Agentic</a:t>
            </a:r>
            <a:r>
              <a:rPr spc="-65" dirty="0"/>
              <a:t> </a:t>
            </a:r>
            <a:r>
              <a:rPr dirty="0"/>
              <a:t>AI</a:t>
            </a:r>
            <a:r>
              <a:rPr spc="-10" dirty="0"/>
              <a:t> </a:t>
            </a:r>
            <a:r>
              <a:rPr dirty="0"/>
              <a:t>Platform</a:t>
            </a:r>
            <a:r>
              <a:rPr spc="-50" dirty="0"/>
              <a:t> </a:t>
            </a:r>
            <a:r>
              <a:rPr dirty="0"/>
              <a:t>Reference</a:t>
            </a:r>
            <a:r>
              <a:rPr spc="-30" dirty="0"/>
              <a:t> </a:t>
            </a:r>
            <a:r>
              <a:rPr spc="-10" dirty="0"/>
              <a:t>Architecture</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txBox="1"/>
          <p:nvPr/>
        </p:nvSpPr>
        <p:spPr>
          <a:xfrm>
            <a:off x="5969380" y="5522277"/>
            <a:ext cx="5646420" cy="390525"/>
          </a:xfrm>
          <a:prstGeom prst="rect">
            <a:avLst/>
          </a:prstGeom>
        </p:spPr>
        <p:txBody>
          <a:bodyPr vert="horz" wrap="square" lIns="0" tIns="19685" rIns="0" bIns="0" rtlCol="0">
            <a:spAutoFit/>
          </a:bodyPr>
          <a:lstStyle/>
          <a:p>
            <a:pPr marL="38100" marR="30480">
              <a:lnSpc>
                <a:spcPts val="1430"/>
              </a:lnSpc>
              <a:spcBef>
                <a:spcPts val="155"/>
              </a:spcBef>
            </a:pPr>
            <a:r>
              <a:rPr sz="1200" dirty="0">
                <a:latin typeface="Arial MT"/>
                <a:cs typeface="Arial MT"/>
              </a:rPr>
              <a:t>*</a:t>
            </a:r>
            <a:r>
              <a:rPr sz="1200" spc="-40" dirty="0">
                <a:latin typeface="Arial MT"/>
                <a:cs typeface="Arial MT"/>
              </a:rPr>
              <a:t> </a:t>
            </a:r>
            <a:r>
              <a:rPr sz="1200" dirty="0">
                <a:latin typeface="Arial MT"/>
                <a:cs typeface="Arial MT"/>
              </a:rPr>
              <a:t>D.</a:t>
            </a:r>
            <a:r>
              <a:rPr sz="1200" spc="-30" dirty="0">
                <a:latin typeface="Arial MT"/>
                <a:cs typeface="Arial MT"/>
              </a:rPr>
              <a:t> </a:t>
            </a:r>
            <a:r>
              <a:rPr sz="1200" dirty="0">
                <a:latin typeface="Arial MT"/>
                <a:cs typeface="Arial MT"/>
              </a:rPr>
              <a:t>Biswas.</a:t>
            </a:r>
            <a:r>
              <a:rPr sz="1200" spc="-30" dirty="0">
                <a:latin typeface="Arial MT"/>
                <a:cs typeface="Arial MT"/>
              </a:rPr>
              <a:t> </a:t>
            </a:r>
            <a:r>
              <a:rPr sz="1200" dirty="0">
                <a:latin typeface="Arial MT"/>
                <a:cs typeface="Arial MT"/>
              </a:rPr>
              <a:t>Stateful</a:t>
            </a:r>
            <a:r>
              <a:rPr sz="1200" spc="-40" dirty="0">
                <a:latin typeface="Arial MT"/>
                <a:cs typeface="Arial MT"/>
              </a:rPr>
              <a:t> </a:t>
            </a:r>
            <a:r>
              <a:rPr sz="1200" dirty="0">
                <a:latin typeface="Arial MT"/>
                <a:cs typeface="Arial MT"/>
              </a:rPr>
              <a:t>Monitoring</a:t>
            </a:r>
            <a:r>
              <a:rPr sz="1200" spc="5" dirty="0">
                <a:latin typeface="Arial MT"/>
                <a:cs typeface="Arial MT"/>
              </a:rPr>
              <a:t> </a:t>
            </a:r>
            <a:r>
              <a:rPr sz="1200" dirty="0">
                <a:latin typeface="Arial MT"/>
                <a:cs typeface="Arial MT"/>
              </a:rPr>
              <a:t>and</a:t>
            </a:r>
            <a:r>
              <a:rPr sz="1200" spc="5" dirty="0">
                <a:latin typeface="Arial MT"/>
                <a:cs typeface="Arial MT"/>
              </a:rPr>
              <a:t> </a:t>
            </a:r>
            <a:r>
              <a:rPr sz="1200" dirty="0">
                <a:latin typeface="Arial MT"/>
                <a:cs typeface="Arial MT"/>
              </a:rPr>
              <a:t>Responsible</a:t>
            </a:r>
            <a:r>
              <a:rPr sz="1200" spc="5" dirty="0">
                <a:latin typeface="Arial MT"/>
                <a:cs typeface="Arial MT"/>
              </a:rPr>
              <a:t> </a:t>
            </a:r>
            <a:r>
              <a:rPr sz="1200" spc="-10" dirty="0">
                <a:latin typeface="Arial MT"/>
                <a:cs typeface="Arial MT"/>
              </a:rPr>
              <a:t>Deployment</a:t>
            </a:r>
            <a:r>
              <a:rPr sz="1200" spc="-30" dirty="0">
                <a:latin typeface="Arial MT"/>
                <a:cs typeface="Arial MT"/>
              </a:rPr>
              <a:t> </a:t>
            </a:r>
            <a:r>
              <a:rPr sz="1200" dirty="0">
                <a:latin typeface="Arial MT"/>
                <a:cs typeface="Arial MT"/>
              </a:rPr>
              <a:t>of</a:t>
            </a:r>
            <a:r>
              <a:rPr sz="1200" spc="-30" dirty="0">
                <a:latin typeface="Arial MT"/>
                <a:cs typeface="Arial MT"/>
              </a:rPr>
              <a:t> </a:t>
            </a:r>
            <a:r>
              <a:rPr sz="1200" dirty="0">
                <a:latin typeface="Arial MT"/>
                <a:cs typeface="Arial MT"/>
              </a:rPr>
              <a:t>AI</a:t>
            </a:r>
            <a:r>
              <a:rPr sz="1200" spc="-30" dirty="0">
                <a:latin typeface="Arial MT"/>
                <a:cs typeface="Arial MT"/>
              </a:rPr>
              <a:t> </a:t>
            </a:r>
            <a:r>
              <a:rPr sz="1200" dirty="0">
                <a:latin typeface="Arial MT"/>
                <a:cs typeface="Arial MT"/>
              </a:rPr>
              <a:t>Agents.</a:t>
            </a:r>
            <a:r>
              <a:rPr sz="1200" spc="-30" dirty="0">
                <a:latin typeface="Arial MT"/>
                <a:cs typeface="Arial MT"/>
              </a:rPr>
              <a:t> </a:t>
            </a:r>
            <a:r>
              <a:rPr sz="1200" spc="-20" dirty="0">
                <a:latin typeface="Arial MT"/>
                <a:cs typeface="Arial MT"/>
              </a:rPr>
              <a:t>17</a:t>
            </a:r>
            <a:r>
              <a:rPr sz="1200" spc="-30" baseline="24305" dirty="0">
                <a:latin typeface="Arial MT"/>
                <a:cs typeface="Arial MT"/>
              </a:rPr>
              <a:t>th </a:t>
            </a:r>
            <a:r>
              <a:rPr sz="1200" spc="-10" dirty="0">
                <a:latin typeface="Arial MT"/>
                <a:cs typeface="Arial MT"/>
              </a:rPr>
              <a:t>International</a:t>
            </a:r>
            <a:r>
              <a:rPr sz="1200" spc="-30" dirty="0">
                <a:latin typeface="Arial MT"/>
                <a:cs typeface="Arial MT"/>
              </a:rPr>
              <a:t> </a:t>
            </a:r>
            <a:r>
              <a:rPr sz="1200" dirty="0">
                <a:latin typeface="Arial MT"/>
                <a:cs typeface="Arial MT"/>
              </a:rPr>
              <a:t>Conference</a:t>
            </a:r>
            <a:r>
              <a:rPr sz="1200" spc="-50" dirty="0">
                <a:latin typeface="Arial MT"/>
                <a:cs typeface="Arial MT"/>
              </a:rPr>
              <a:t> </a:t>
            </a:r>
            <a:r>
              <a:rPr sz="1200" dirty="0">
                <a:latin typeface="Arial MT"/>
                <a:cs typeface="Arial MT"/>
              </a:rPr>
              <a:t>on</a:t>
            </a:r>
            <a:r>
              <a:rPr sz="1200" spc="-45" dirty="0">
                <a:latin typeface="Arial MT"/>
                <a:cs typeface="Arial MT"/>
              </a:rPr>
              <a:t> </a:t>
            </a:r>
            <a:r>
              <a:rPr sz="1200" dirty="0">
                <a:latin typeface="Arial MT"/>
                <a:cs typeface="Arial MT"/>
              </a:rPr>
              <a:t>Agents</a:t>
            </a:r>
            <a:r>
              <a:rPr sz="1200" spc="-55" dirty="0">
                <a:latin typeface="Arial MT"/>
                <a:cs typeface="Arial MT"/>
              </a:rPr>
              <a:t> </a:t>
            </a:r>
            <a:r>
              <a:rPr sz="1200" dirty="0">
                <a:latin typeface="Arial MT"/>
                <a:cs typeface="Arial MT"/>
              </a:rPr>
              <a:t>and</a:t>
            </a:r>
            <a:r>
              <a:rPr sz="1200" spc="-45" dirty="0">
                <a:latin typeface="Arial MT"/>
                <a:cs typeface="Arial MT"/>
              </a:rPr>
              <a:t> </a:t>
            </a:r>
            <a:r>
              <a:rPr sz="1200" dirty="0">
                <a:latin typeface="Arial MT"/>
                <a:cs typeface="Arial MT"/>
              </a:rPr>
              <a:t>Artificial</a:t>
            </a:r>
            <a:r>
              <a:rPr sz="1200" spc="-20" dirty="0">
                <a:latin typeface="Arial MT"/>
                <a:cs typeface="Arial MT"/>
              </a:rPr>
              <a:t> </a:t>
            </a:r>
            <a:r>
              <a:rPr sz="1200" spc="-10" dirty="0">
                <a:latin typeface="Arial MT"/>
                <a:cs typeface="Arial MT"/>
              </a:rPr>
              <a:t>Intelligence</a:t>
            </a:r>
            <a:r>
              <a:rPr sz="1200" spc="20" dirty="0">
                <a:latin typeface="Arial MT"/>
                <a:cs typeface="Arial MT"/>
              </a:rPr>
              <a:t> </a:t>
            </a:r>
            <a:r>
              <a:rPr sz="1200" dirty="0">
                <a:latin typeface="Arial MT"/>
                <a:cs typeface="Arial MT"/>
              </a:rPr>
              <a:t>(ICAART),</a:t>
            </a:r>
            <a:r>
              <a:rPr sz="1200" spc="-10" dirty="0">
                <a:latin typeface="Arial MT"/>
                <a:cs typeface="Arial MT"/>
              </a:rPr>
              <a:t> </a:t>
            </a:r>
            <a:r>
              <a:rPr sz="1200" dirty="0">
                <a:latin typeface="Arial MT"/>
                <a:cs typeface="Arial MT"/>
              </a:rPr>
              <a:t>2025</a:t>
            </a:r>
            <a:r>
              <a:rPr sz="1200" spc="-50" dirty="0">
                <a:latin typeface="Arial MT"/>
                <a:cs typeface="Arial MT"/>
              </a:rPr>
              <a:t> </a:t>
            </a:r>
            <a:r>
              <a:rPr sz="1200" dirty="0">
                <a:latin typeface="Arial MT"/>
                <a:cs typeface="Arial MT"/>
              </a:rPr>
              <a:t>(</a:t>
            </a:r>
            <a:r>
              <a:rPr sz="1200" u="sng" spc="-260" dirty="0">
                <a:solidFill>
                  <a:srgbClr val="0462C1"/>
                </a:solidFill>
                <a:uFill>
                  <a:solidFill>
                    <a:srgbClr val="0462C1"/>
                  </a:solidFill>
                </a:uFill>
                <a:latin typeface="Arial MT"/>
                <a:cs typeface="Arial MT"/>
              </a:rPr>
              <a:t> </a:t>
            </a:r>
            <a:r>
              <a:rPr sz="1200" u="sng" spc="-10" dirty="0">
                <a:solidFill>
                  <a:srgbClr val="0462C1"/>
                </a:solidFill>
                <a:uFill>
                  <a:solidFill>
                    <a:srgbClr val="0462C1"/>
                  </a:solidFill>
                </a:uFill>
                <a:latin typeface="Arial MT"/>
                <a:cs typeface="Arial MT"/>
                <a:hlinkClick r:id="rId3"/>
              </a:rPr>
              <a:t>link</a:t>
            </a:r>
            <a:r>
              <a:rPr sz="1200" spc="-10" dirty="0">
                <a:latin typeface="Arial MT"/>
                <a:cs typeface="Arial MT"/>
              </a:rPr>
              <a:t>)</a:t>
            </a:r>
            <a:endParaRPr sz="1200">
              <a:latin typeface="Arial MT"/>
              <a:cs typeface="Arial MT"/>
            </a:endParaRPr>
          </a:p>
        </p:txBody>
      </p:sp>
      <p:pic>
        <p:nvPicPr>
          <p:cNvPr id="5" name="object 5"/>
          <p:cNvPicPr/>
          <p:nvPr/>
        </p:nvPicPr>
        <p:blipFill>
          <a:blip r:embed="rId4" cstate="print"/>
          <a:stretch>
            <a:fillRect/>
          </a:stretch>
        </p:blipFill>
        <p:spPr>
          <a:xfrm>
            <a:off x="3585488" y="1019175"/>
            <a:ext cx="8473161" cy="4343400"/>
          </a:xfrm>
          <a:prstGeom prst="rect">
            <a:avLst/>
          </a:prstGeom>
        </p:spPr>
      </p:pic>
      <p:sp>
        <p:nvSpPr>
          <p:cNvPr id="6" name="object 6"/>
          <p:cNvSpPr/>
          <p:nvPr/>
        </p:nvSpPr>
        <p:spPr>
          <a:xfrm>
            <a:off x="142875" y="2447925"/>
            <a:ext cx="3324225" cy="1552575"/>
          </a:xfrm>
          <a:custGeom>
            <a:avLst/>
            <a:gdLst/>
            <a:ahLst/>
            <a:cxnLst/>
            <a:rect l="l" t="t" r="r" b="b"/>
            <a:pathLst>
              <a:path w="3324225" h="1552575">
                <a:moveTo>
                  <a:pt x="3324225" y="0"/>
                </a:moveTo>
                <a:lnTo>
                  <a:pt x="0" y="0"/>
                </a:lnTo>
                <a:lnTo>
                  <a:pt x="0" y="1552575"/>
                </a:lnTo>
                <a:lnTo>
                  <a:pt x="3100324" y="1538351"/>
                </a:lnTo>
                <a:lnTo>
                  <a:pt x="3324225" y="0"/>
                </a:lnTo>
                <a:close/>
              </a:path>
            </a:pathLst>
          </a:custGeom>
          <a:solidFill>
            <a:srgbClr val="002384"/>
          </a:solidFill>
        </p:spPr>
        <p:txBody>
          <a:bodyPr wrap="square" lIns="0" tIns="0" rIns="0" bIns="0" rtlCol="0"/>
          <a:lstStyle/>
          <a:p>
            <a:endParaRPr/>
          </a:p>
        </p:txBody>
      </p:sp>
      <p:sp>
        <p:nvSpPr>
          <p:cNvPr id="7" name="object 7"/>
          <p:cNvSpPr txBox="1"/>
          <p:nvPr/>
        </p:nvSpPr>
        <p:spPr>
          <a:xfrm>
            <a:off x="347979" y="2541206"/>
            <a:ext cx="2750820" cy="1406525"/>
          </a:xfrm>
          <a:prstGeom prst="rect">
            <a:avLst/>
          </a:prstGeom>
        </p:spPr>
        <p:txBody>
          <a:bodyPr vert="horz" wrap="square" lIns="0" tIns="10795" rIns="0" bIns="0" rtlCol="0">
            <a:spAutoFit/>
          </a:bodyPr>
          <a:lstStyle/>
          <a:p>
            <a:pPr marL="12700" marR="5080">
              <a:lnSpc>
                <a:spcPct val="100800"/>
              </a:lnSpc>
              <a:spcBef>
                <a:spcPts val="85"/>
              </a:spcBef>
            </a:pPr>
            <a:r>
              <a:rPr sz="1800" dirty="0">
                <a:solidFill>
                  <a:srgbClr val="FFFFFF"/>
                </a:solidFill>
                <a:latin typeface="Calibri"/>
                <a:cs typeface="Calibri"/>
              </a:rPr>
              <a:t>The</a:t>
            </a:r>
            <a:r>
              <a:rPr sz="1800" spc="15" dirty="0">
                <a:solidFill>
                  <a:srgbClr val="FFFFFF"/>
                </a:solidFill>
                <a:latin typeface="Calibri"/>
                <a:cs typeface="Calibri"/>
              </a:rPr>
              <a:t> </a:t>
            </a:r>
            <a:r>
              <a:rPr sz="1800" dirty="0">
                <a:solidFill>
                  <a:srgbClr val="FFFFFF"/>
                </a:solidFill>
                <a:latin typeface="Calibri"/>
                <a:cs typeface="Calibri"/>
              </a:rPr>
              <a:t>future</a:t>
            </a:r>
            <a:r>
              <a:rPr sz="1800" spc="-50" dirty="0">
                <a:solidFill>
                  <a:srgbClr val="FFFFFF"/>
                </a:solidFill>
                <a:latin typeface="Calibri"/>
                <a:cs typeface="Calibri"/>
              </a:rPr>
              <a:t> </a:t>
            </a:r>
            <a:r>
              <a:rPr sz="1800" dirty="0">
                <a:solidFill>
                  <a:srgbClr val="FFFFFF"/>
                </a:solidFill>
                <a:latin typeface="Calibri"/>
                <a:cs typeface="Calibri"/>
              </a:rPr>
              <a:t>where</a:t>
            </a:r>
            <a:r>
              <a:rPr sz="1800" spc="-50" dirty="0">
                <a:solidFill>
                  <a:srgbClr val="FFFFFF"/>
                </a:solidFill>
                <a:latin typeface="Calibri"/>
                <a:cs typeface="Calibri"/>
              </a:rPr>
              <a:t> </a:t>
            </a:r>
            <a:r>
              <a:rPr sz="1800" spc="-10" dirty="0">
                <a:solidFill>
                  <a:srgbClr val="FFFFFF"/>
                </a:solidFill>
                <a:latin typeface="Calibri"/>
                <a:cs typeface="Calibri"/>
              </a:rPr>
              <a:t>enterprises </a:t>
            </a:r>
            <a:r>
              <a:rPr sz="1800" dirty="0">
                <a:solidFill>
                  <a:srgbClr val="FFFFFF"/>
                </a:solidFill>
                <a:latin typeface="Calibri"/>
                <a:cs typeface="Calibri"/>
              </a:rPr>
              <a:t>will</a:t>
            </a:r>
            <a:r>
              <a:rPr sz="1800" spc="-30" dirty="0">
                <a:solidFill>
                  <a:srgbClr val="FFFFFF"/>
                </a:solidFill>
                <a:latin typeface="Calibri"/>
                <a:cs typeface="Calibri"/>
              </a:rPr>
              <a:t> </a:t>
            </a:r>
            <a:r>
              <a:rPr sz="1800" dirty="0">
                <a:solidFill>
                  <a:srgbClr val="FFFFFF"/>
                </a:solidFill>
                <a:latin typeface="Calibri"/>
                <a:cs typeface="Calibri"/>
              </a:rPr>
              <a:t>be</a:t>
            </a:r>
            <a:r>
              <a:rPr sz="1800" spc="-50" dirty="0">
                <a:solidFill>
                  <a:srgbClr val="FFFFFF"/>
                </a:solidFill>
                <a:latin typeface="Calibri"/>
                <a:cs typeface="Calibri"/>
              </a:rPr>
              <a:t> </a:t>
            </a:r>
            <a:r>
              <a:rPr sz="1800" dirty="0">
                <a:solidFill>
                  <a:srgbClr val="FFFFFF"/>
                </a:solidFill>
                <a:latin typeface="Calibri"/>
                <a:cs typeface="Calibri"/>
              </a:rPr>
              <a:t>able</a:t>
            </a:r>
            <a:r>
              <a:rPr sz="1800" spc="10" dirty="0">
                <a:solidFill>
                  <a:srgbClr val="FFFFFF"/>
                </a:solidFill>
                <a:latin typeface="Calibri"/>
                <a:cs typeface="Calibri"/>
              </a:rPr>
              <a:t> </a:t>
            </a:r>
            <a:r>
              <a:rPr sz="1800" dirty="0">
                <a:solidFill>
                  <a:srgbClr val="FFFFFF"/>
                </a:solidFill>
                <a:latin typeface="Calibri"/>
                <a:cs typeface="Calibri"/>
              </a:rPr>
              <a:t>to</a:t>
            </a:r>
            <a:r>
              <a:rPr sz="1800" spc="-40" dirty="0">
                <a:solidFill>
                  <a:srgbClr val="FFFFFF"/>
                </a:solidFill>
                <a:latin typeface="Calibri"/>
                <a:cs typeface="Calibri"/>
              </a:rPr>
              <a:t> </a:t>
            </a:r>
            <a:r>
              <a:rPr sz="1800" dirty="0">
                <a:solidFill>
                  <a:srgbClr val="FFFFFF"/>
                </a:solidFill>
                <a:latin typeface="Calibri"/>
                <a:cs typeface="Calibri"/>
              </a:rPr>
              <a:t>develop</a:t>
            </a:r>
            <a:r>
              <a:rPr sz="1800" spc="35" dirty="0">
                <a:solidFill>
                  <a:srgbClr val="FFFFFF"/>
                </a:solidFill>
                <a:latin typeface="Calibri"/>
                <a:cs typeface="Calibri"/>
              </a:rPr>
              <a:t> </a:t>
            </a:r>
            <a:r>
              <a:rPr sz="1800" spc="-25" dirty="0">
                <a:solidFill>
                  <a:srgbClr val="FFFFFF"/>
                </a:solidFill>
                <a:latin typeface="Calibri"/>
                <a:cs typeface="Calibri"/>
              </a:rPr>
              <a:t>new </a:t>
            </a:r>
            <a:r>
              <a:rPr sz="1800" dirty="0">
                <a:solidFill>
                  <a:srgbClr val="FFFFFF"/>
                </a:solidFill>
                <a:latin typeface="Calibri"/>
                <a:cs typeface="Calibri"/>
              </a:rPr>
              <a:t>Enterprise</a:t>
            </a:r>
            <a:r>
              <a:rPr sz="1800" spc="-30" dirty="0">
                <a:solidFill>
                  <a:srgbClr val="FFFFFF"/>
                </a:solidFill>
                <a:latin typeface="Calibri"/>
                <a:cs typeface="Calibri"/>
              </a:rPr>
              <a:t> </a:t>
            </a:r>
            <a:r>
              <a:rPr sz="1800" dirty="0">
                <a:solidFill>
                  <a:srgbClr val="FFFFFF"/>
                </a:solidFill>
                <a:latin typeface="Calibri"/>
                <a:cs typeface="Calibri"/>
              </a:rPr>
              <a:t>AI</a:t>
            </a:r>
            <a:r>
              <a:rPr sz="1800" spc="-35" dirty="0">
                <a:solidFill>
                  <a:srgbClr val="FFFFFF"/>
                </a:solidFill>
                <a:latin typeface="Calibri"/>
                <a:cs typeface="Calibri"/>
              </a:rPr>
              <a:t> </a:t>
            </a:r>
            <a:r>
              <a:rPr sz="1800" dirty="0">
                <a:solidFill>
                  <a:srgbClr val="FFFFFF"/>
                </a:solidFill>
                <a:latin typeface="Calibri"/>
                <a:cs typeface="Calibri"/>
              </a:rPr>
              <a:t>Apps</a:t>
            </a:r>
            <a:r>
              <a:rPr sz="1800" spc="-65" dirty="0">
                <a:solidFill>
                  <a:srgbClr val="FFFFFF"/>
                </a:solidFill>
                <a:latin typeface="Calibri"/>
                <a:cs typeface="Calibri"/>
              </a:rPr>
              <a:t> </a:t>
            </a:r>
            <a:r>
              <a:rPr sz="1800" spc="-25" dirty="0">
                <a:solidFill>
                  <a:srgbClr val="FFFFFF"/>
                </a:solidFill>
                <a:latin typeface="Calibri"/>
                <a:cs typeface="Calibri"/>
              </a:rPr>
              <a:t>by </a:t>
            </a:r>
            <a:r>
              <a:rPr sz="1800" b="1" dirty="0">
                <a:solidFill>
                  <a:srgbClr val="FFD966"/>
                </a:solidFill>
                <a:latin typeface="Calibri"/>
                <a:cs typeface="Calibri"/>
              </a:rPr>
              <a:t>orchestrating</a:t>
            </a:r>
            <a:r>
              <a:rPr sz="1800" b="1" spc="-50" dirty="0">
                <a:solidFill>
                  <a:srgbClr val="FFD966"/>
                </a:solidFill>
                <a:latin typeface="Calibri"/>
                <a:cs typeface="Calibri"/>
              </a:rPr>
              <a:t> </a:t>
            </a:r>
            <a:r>
              <a:rPr sz="1800" b="1" dirty="0">
                <a:solidFill>
                  <a:srgbClr val="FFD966"/>
                </a:solidFill>
                <a:latin typeface="Calibri"/>
                <a:cs typeface="Calibri"/>
              </a:rPr>
              <a:t>/</a:t>
            </a:r>
            <a:r>
              <a:rPr sz="1800" b="1" spc="-45" dirty="0">
                <a:solidFill>
                  <a:srgbClr val="FFD966"/>
                </a:solidFill>
                <a:latin typeface="Calibri"/>
                <a:cs typeface="Calibri"/>
              </a:rPr>
              <a:t> </a:t>
            </a:r>
            <a:r>
              <a:rPr sz="1800" b="1" spc="-10" dirty="0">
                <a:solidFill>
                  <a:srgbClr val="FFD966"/>
                </a:solidFill>
                <a:latin typeface="Calibri"/>
                <a:cs typeface="Calibri"/>
              </a:rPr>
              <a:t>composing </a:t>
            </a:r>
            <a:r>
              <a:rPr sz="1800" dirty="0">
                <a:solidFill>
                  <a:srgbClr val="FFFFFF"/>
                </a:solidFill>
                <a:latin typeface="Calibri"/>
                <a:cs typeface="Calibri"/>
              </a:rPr>
              <a:t>multiple</a:t>
            </a:r>
            <a:r>
              <a:rPr sz="1800" spc="-5" dirty="0">
                <a:solidFill>
                  <a:srgbClr val="FFFFFF"/>
                </a:solidFill>
                <a:latin typeface="Calibri"/>
                <a:cs typeface="Calibri"/>
              </a:rPr>
              <a:t> </a:t>
            </a:r>
            <a:r>
              <a:rPr sz="1800" dirty="0">
                <a:solidFill>
                  <a:srgbClr val="FFFFFF"/>
                </a:solidFill>
                <a:latin typeface="Calibri"/>
                <a:cs typeface="Calibri"/>
              </a:rPr>
              <a:t>existing</a:t>
            </a:r>
            <a:r>
              <a:rPr sz="1800" spc="-20" dirty="0">
                <a:solidFill>
                  <a:srgbClr val="FFFFFF"/>
                </a:solidFill>
                <a:latin typeface="Calibri"/>
                <a:cs typeface="Calibri"/>
              </a:rPr>
              <a:t> </a:t>
            </a:r>
            <a:r>
              <a:rPr sz="1800" dirty="0">
                <a:solidFill>
                  <a:srgbClr val="FFFFFF"/>
                </a:solidFill>
                <a:latin typeface="Calibri"/>
                <a:cs typeface="Calibri"/>
              </a:rPr>
              <a:t>AI</a:t>
            </a:r>
            <a:r>
              <a:rPr sz="1800" spc="-75" dirty="0">
                <a:solidFill>
                  <a:srgbClr val="FFFFFF"/>
                </a:solidFill>
                <a:latin typeface="Calibri"/>
                <a:cs typeface="Calibri"/>
              </a:rPr>
              <a:t> </a:t>
            </a:r>
            <a:r>
              <a:rPr sz="1800" spc="-10" dirty="0">
                <a:solidFill>
                  <a:srgbClr val="FFFFFF"/>
                </a:solidFill>
                <a:latin typeface="Calibri"/>
                <a:cs typeface="Calibri"/>
              </a:rPr>
              <a:t>Agents.</a:t>
            </a:r>
            <a:endParaRPr sz="1800">
              <a:latin typeface="Calibri"/>
              <a:cs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0" y="19048"/>
              <a:ext cx="12192000" cy="6838950"/>
            </a:xfrm>
            <a:custGeom>
              <a:avLst/>
              <a:gdLst/>
              <a:ahLst/>
              <a:cxnLst/>
              <a:rect l="l" t="t" r="r" b="b"/>
              <a:pathLst>
                <a:path w="12192000" h="6838950">
                  <a:moveTo>
                    <a:pt x="12192000" y="0"/>
                  </a:moveTo>
                  <a:lnTo>
                    <a:pt x="0" y="0"/>
                  </a:lnTo>
                  <a:lnTo>
                    <a:pt x="0" y="6838951"/>
                  </a:lnTo>
                  <a:lnTo>
                    <a:pt x="12192000" y="6838951"/>
                  </a:lnTo>
                  <a:lnTo>
                    <a:pt x="12192000" y="0"/>
                  </a:lnTo>
                  <a:close/>
                </a:path>
              </a:pathLst>
            </a:custGeom>
            <a:solidFill>
              <a:srgbClr val="002384">
                <a:alpha val="39999"/>
              </a:srgbClr>
            </a:solidFill>
          </p:spPr>
          <p:txBody>
            <a:bodyPr wrap="square" lIns="0" tIns="0" rIns="0" bIns="0" rtlCol="0"/>
            <a:lstStyle/>
            <a:p>
              <a:endParaRPr/>
            </a:p>
          </p:txBody>
        </p:sp>
      </p:grpSp>
      <p:sp>
        <p:nvSpPr>
          <p:cNvPr id="5" name="object 5"/>
          <p:cNvSpPr txBox="1">
            <a:spLocks noGrp="1"/>
          </p:cNvSpPr>
          <p:nvPr>
            <p:ph type="title"/>
          </p:nvPr>
        </p:nvSpPr>
        <p:spPr>
          <a:xfrm>
            <a:off x="334962" y="672718"/>
            <a:ext cx="6022340" cy="2045970"/>
          </a:xfrm>
          <a:prstGeom prst="rect">
            <a:avLst/>
          </a:prstGeom>
        </p:spPr>
        <p:txBody>
          <a:bodyPr vert="horz" wrap="square" lIns="0" tIns="14605" rIns="0" bIns="0" rtlCol="0">
            <a:spAutoFit/>
          </a:bodyPr>
          <a:lstStyle/>
          <a:p>
            <a:pPr marL="12700" marR="5080">
              <a:lnSpc>
                <a:spcPct val="100299"/>
              </a:lnSpc>
              <a:spcBef>
                <a:spcPts val="115"/>
              </a:spcBef>
            </a:pPr>
            <a:r>
              <a:rPr sz="4400" b="1" dirty="0">
                <a:solidFill>
                  <a:srgbClr val="FFFFFF"/>
                </a:solidFill>
                <a:latin typeface="Arial"/>
                <a:cs typeface="Arial"/>
              </a:rPr>
              <a:t>AI</a:t>
            </a:r>
            <a:r>
              <a:rPr sz="4400" b="1" spc="-75" dirty="0">
                <a:solidFill>
                  <a:srgbClr val="FFFFFF"/>
                </a:solidFill>
                <a:latin typeface="Arial"/>
                <a:cs typeface="Arial"/>
              </a:rPr>
              <a:t> </a:t>
            </a:r>
            <a:r>
              <a:rPr sz="4400" b="1" dirty="0">
                <a:solidFill>
                  <a:srgbClr val="FFFFFF"/>
                </a:solidFill>
                <a:latin typeface="Arial"/>
                <a:cs typeface="Arial"/>
              </a:rPr>
              <a:t>Agents</a:t>
            </a:r>
            <a:r>
              <a:rPr sz="4400" b="1" spc="-85" dirty="0">
                <a:solidFill>
                  <a:srgbClr val="FFFFFF"/>
                </a:solidFill>
                <a:latin typeface="Arial"/>
                <a:cs typeface="Arial"/>
              </a:rPr>
              <a:t> </a:t>
            </a:r>
            <a:r>
              <a:rPr sz="4400" b="1" spc="-10" dirty="0">
                <a:solidFill>
                  <a:srgbClr val="FFFFFF"/>
                </a:solidFill>
                <a:latin typeface="Arial"/>
                <a:cs typeface="Arial"/>
              </a:rPr>
              <a:t>Marketplace </a:t>
            </a:r>
            <a:r>
              <a:rPr sz="4400" b="1" dirty="0">
                <a:solidFill>
                  <a:srgbClr val="FFFFFF"/>
                </a:solidFill>
                <a:latin typeface="Arial"/>
                <a:cs typeface="Arial"/>
              </a:rPr>
              <a:t>&amp;</a:t>
            </a:r>
            <a:r>
              <a:rPr sz="4400" b="1" spc="-85" dirty="0">
                <a:solidFill>
                  <a:srgbClr val="FFFFFF"/>
                </a:solidFill>
                <a:latin typeface="Arial"/>
                <a:cs typeface="Arial"/>
              </a:rPr>
              <a:t> </a:t>
            </a:r>
            <a:r>
              <a:rPr sz="4400" b="1" dirty="0">
                <a:solidFill>
                  <a:srgbClr val="FFFFFF"/>
                </a:solidFill>
                <a:latin typeface="Arial"/>
                <a:cs typeface="Arial"/>
              </a:rPr>
              <a:t>Discovery</a:t>
            </a:r>
            <a:r>
              <a:rPr sz="4400" b="1" spc="-85" dirty="0">
                <a:solidFill>
                  <a:srgbClr val="FFFFFF"/>
                </a:solidFill>
                <a:latin typeface="Arial"/>
                <a:cs typeface="Arial"/>
              </a:rPr>
              <a:t> </a:t>
            </a:r>
            <a:r>
              <a:rPr sz="4400" b="1" dirty="0">
                <a:solidFill>
                  <a:srgbClr val="FFFFFF"/>
                </a:solidFill>
                <a:latin typeface="Arial"/>
                <a:cs typeface="Arial"/>
              </a:rPr>
              <a:t>for</a:t>
            </a:r>
            <a:r>
              <a:rPr sz="4400" b="1" spc="-95" dirty="0">
                <a:solidFill>
                  <a:srgbClr val="FFFFFF"/>
                </a:solidFill>
                <a:latin typeface="Arial"/>
                <a:cs typeface="Arial"/>
              </a:rPr>
              <a:t> </a:t>
            </a:r>
            <a:r>
              <a:rPr sz="4400" b="1" spc="-10" dirty="0">
                <a:solidFill>
                  <a:srgbClr val="FFFFFF"/>
                </a:solidFill>
                <a:latin typeface="Arial"/>
                <a:cs typeface="Arial"/>
              </a:rPr>
              <a:t>Multi- </a:t>
            </a:r>
            <a:r>
              <a:rPr sz="4400" b="1" dirty="0">
                <a:solidFill>
                  <a:srgbClr val="FFFFFF"/>
                </a:solidFill>
                <a:latin typeface="Arial"/>
                <a:cs typeface="Arial"/>
              </a:rPr>
              <a:t>agent</a:t>
            </a:r>
            <a:r>
              <a:rPr sz="4400" b="1" spc="-80" dirty="0">
                <a:solidFill>
                  <a:srgbClr val="FFFFFF"/>
                </a:solidFill>
                <a:latin typeface="Arial"/>
                <a:cs typeface="Arial"/>
              </a:rPr>
              <a:t> </a:t>
            </a:r>
            <a:r>
              <a:rPr sz="4400" b="1" spc="-10" dirty="0">
                <a:solidFill>
                  <a:srgbClr val="FFFFFF"/>
                </a:solidFill>
                <a:latin typeface="Arial"/>
                <a:cs typeface="Arial"/>
              </a:rPr>
              <a:t>Systems</a:t>
            </a:r>
            <a:endParaRPr sz="4400">
              <a:latin typeface="Arial"/>
              <a:cs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4172" y="249936"/>
            <a:ext cx="9561195" cy="632460"/>
          </a:xfrm>
          <a:prstGeom prst="rect">
            <a:avLst/>
          </a:prstGeom>
        </p:spPr>
        <p:txBody>
          <a:bodyPr vert="horz" wrap="square" lIns="0" tIns="16510" rIns="0" bIns="0" rtlCol="0">
            <a:spAutoFit/>
          </a:bodyPr>
          <a:lstStyle/>
          <a:p>
            <a:pPr marL="12700">
              <a:lnSpc>
                <a:spcPct val="100000"/>
              </a:lnSpc>
              <a:spcBef>
                <a:spcPts val="130"/>
              </a:spcBef>
            </a:pPr>
            <a:r>
              <a:rPr sz="3950" dirty="0"/>
              <a:t>(Complex)</a:t>
            </a:r>
            <a:r>
              <a:rPr sz="3950" spc="55" dirty="0"/>
              <a:t> </a:t>
            </a:r>
            <a:r>
              <a:rPr sz="3950" dirty="0"/>
              <a:t>Agentic</a:t>
            </a:r>
            <a:r>
              <a:rPr sz="3950" spc="75" dirty="0"/>
              <a:t> </a:t>
            </a:r>
            <a:r>
              <a:rPr sz="3950" dirty="0"/>
              <a:t>AI</a:t>
            </a:r>
            <a:r>
              <a:rPr sz="3950" spc="65" dirty="0"/>
              <a:t> </a:t>
            </a:r>
            <a:r>
              <a:rPr sz="3950" dirty="0"/>
              <a:t>Task</a:t>
            </a:r>
            <a:r>
              <a:rPr sz="3950" spc="10" dirty="0"/>
              <a:t> </a:t>
            </a:r>
            <a:r>
              <a:rPr sz="3950" spc="-10" dirty="0"/>
              <a:t>Decomposition</a:t>
            </a:r>
            <a:endParaRPr sz="3950"/>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495300" y="1276350"/>
            <a:ext cx="5429250" cy="1962150"/>
          </a:xfrm>
          <a:custGeom>
            <a:avLst/>
            <a:gdLst/>
            <a:ahLst/>
            <a:cxnLst/>
            <a:rect l="l" t="t" r="r" b="b"/>
            <a:pathLst>
              <a:path w="5429250" h="1962150">
                <a:moveTo>
                  <a:pt x="5429250" y="0"/>
                </a:moveTo>
                <a:lnTo>
                  <a:pt x="0" y="0"/>
                </a:lnTo>
                <a:lnTo>
                  <a:pt x="0" y="1962150"/>
                </a:lnTo>
                <a:lnTo>
                  <a:pt x="5063490" y="1944242"/>
                </a:lnTo>
                <a:lnTo>
                  <a:pt x="5429250" y="0"/>
                </a:lnTo>
                <a:close/>
              </a:path>
            </a:pathLst>
          </a:custGeom>
          <a:solidFill>
            <a:srgbClr val="002384"/>
          </a:solidFill>
        </p:spPr>
        <p:txBody>
          <a:bodyPr wrap="square" lIns="0" tIns="0" rIns="0" bIns="0" rtlCol="0"/>
          <a:lstStyle/>
          <a:p>
            <a:endParaRPr/>
          </a:p>
        </p:txBody>
      </p:sp>
      <p:pic>
        <p:nvPicPr>
          <p:cNvPr id="5" name="object 5"/>
          <p:cNvPicPr/>
          <p:nvPr/>
        </p:nvPicPr>
        <p:blipFill>
          <a:blip r:embed="rId3" cstate="print"/>
          <a:stretch>
            <a:fillRect/>
          </a:stretch>
        </p:blipFill>
        <p:spPr>
          <a:xfrm>
            <a:off x="6587665" y="1557484"/>
            <a:ext cx="5271962" cy="3216896"/>
          </a:xfrm>
          <a:prstGeom prst="rect">
            <a:avLst/>
          </a:prstGeom>
        </p:spPr>
      </p:pic>
      <p:sp>
        <p:nvSpPr>
          <p:cNvPr id="6" name="object 6"/>
          <p:cNvSpPr/>
          <p:nvPr/>
        </p:nvSpPr>
        <p:spPr>
          <a:xfrm>
            <a:off x="495300" y="3371850"/>
            <a:ext cx="5429250" cy="2371725"/>
          </a:xfrm>
          <a:custGeom>
            <a:avLst/>
            <a:gdLst/>
            <a:ahLst/>
            <a:cxnLst/>
            <a:rect l="l" t="t" r="r" b="b"/>
            <a:pathLst>
              <a:path w="5429250" h="2371725">
                <a:moveTo>
                  <a:pt x="5429250" y="0"/>
                </a:moveTo>
                <a:lnTo>
                  <a:pt x="0" y="0"/>
                </a:lnTo>
                <a:lnTo>
                  <a:pt x="0" y="2371725"/>
                </a:lnTo>
                <a:lnTo>
                  <a:pt x="5063490" y="2350071"/>
                </a:lnTo>
                <a:lnTo>
                  <a:pt x="5429250" y="0"/>
                </a:lnTo>
                <a:close/>
              </a:path>
            </a:pathLst>
          </a:custGeom>
          <a:solidFill>
            <a:srgbClr val="002384"/>
          </a:solidFill>
        </p:spPr>
        <p:txBody>
          <a:bodyPr wrap="square" lIns="0" tIns="0" rIns="0" bIns="0" rtlCol="0"/>
          <a:lstStyle/>
          <a:p>
            <a:endParaRPr/>
          </a:p>
        </p:txBody>
      </p:sp>
      <p:sp>
        <p:nvSpPr>
          <p:cNvPr id="7" name="object 7"/>
          <p:cNvSpPr txBox="1"/>
          <p:nvPr/>
        </p:nvSpPr>
        <p:spPr>
          <a:xfrm>
            <a:off x="654684" y="1398206"/>
            <a:ext cx="4812665" cy="423354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Calibri"/>
                <a:cs typeface="Calibri"/>
              </a:rPr>
              <a:t>A</a:t>
            </a:r>
            <a:r>
              <a:rPr sz="1800" spc="-55" dirty="0">
                <a:solidFill>
                  <a:srgbClr val="FFFFFF"/>
                </a:solidFill>
                <a:latin typeface="Calibri"/>
                <a:cs typeface="Calibri"/>
              </a:rPr>
              <a:t> </a:t>
            </a:r>
            <a:r>
              <a:rPr sz="1800" dirty="0">
                <a:solidFill>
                  <a:srgbClr val="FFFFFF"/>
                </a:solidFill>
                <a:latin typeface="Calibri"/>
                <a:cs typeface="Calibri"/>
              </a:rPr>
              <a:t>high-level</a:t>
            </a:r>
            <a:r>
              <a:rPr sz="1800" spc="-25" dirty="0">
                <a:solidFill>
                  <a:srgbClr val="FFFFFF"/>
                </a:solidFill>
                <a:latin typeface="Calibri"/>
                <a:cs typeface="Calibri"/>
              </a:rPr>
              <a:t> </a:t>
            </a:r>
            <a:r>
              <a:rPr sz="1800" dirty="0">
                <a:solidFill>
                  <a:srgbClr val="FFFFFF"/>
                </a:solidFill>
                <a:latin typeface="Calibri"/>
                <a:cs typeface="Calibri"/>
              </a:rPr>
              <a:t>approach</a:t>
            </a:r>
            <a:r>
              <a:rPr sz="1800" spc="-35" dirty="0">
                <a:solidFill>
                  <a:srgbClr val="FFFFFF"/>
                </a:solidFill>
                <a:latin typeface="Calibri"/>
                <a:cs typeface="Calibri"/>
              </a:rPr>
              <a:t> </a:t>
            </a:r>
            <a:r>
              <a:rPr sz="1800" dirty="0">
                <a:solidFill>
                  <a:srgbClr val="FFFFFF"/>
                </a:solidFill>
                <a:latin typeface="Calibri"/>
                <a:cs typeface="Calibri"/>
              </a:rPr>
              <a:t>to</a:t>
            </a:r>
            <a:r>
              <a:rPr sz="1800" spc="-40" dirty="0">
                <a:solidFill>
                  <a:srgbClr val="FFFFFF"/>
                </a:solidFill>
                <a:latin typeface="Calibri"/>
                <a:cs typeface="Calibri"/>
              </a:rPr>
              <a:t> </a:t>
            </a:r>
            <a:r>
              <a:rPr sz="1800" dirty="0">
                <a:solidFill>
                  <a:srgbClr val="FFFFFF"/>
                </a:solidFill>
                <a:latin typeface="Calibri"/>
                <a:cs typeface="Calibri"/>
              </a:rPr>
              <a:t>solving</a:t>
            </a:r>
            <a:r>
              <a:rPr sz="1800" spc="-10" dirty="0">
                <a:solidFill>
                  <a:srgbClr val="FFFFFF"/>
                </a:solidFill>
                <a:latin typeface="Calibri"/>
                <a:cs typeface="Calibri"/>
              </a:rPr>
              <a:t> </a:t>
            </a:r>
            <a:r>
              <a:rPr sz="1800" dirty="0">
                <a:solidFill>
                  <a:srgbClr val="FFFFFF"/>
                </a:solidFill>
                <a:latin typeface="Calibri"/>
                <a:cs typeface="Calibri"/>
              </a:rPr>
              <a:t>complex</a:t>
            </a:r>
            <a:r>
              <a:rPr sz="1800" spc="-15" dirty="0">
                <a:solidFill>
                  <a:srgbClr val="FFFFFF"/>
                </a:solidFill>
                <a:latin typeface="Calibri"/>
                <a:cs typeface="Calibri"/>
              </a:rPr>
              <a:t> </a:t>
            </a:r>
            <a:r>
              <a:rPr sz="1800" spc="-10" dirty="0">
                <a:solidFill>
                  <a:srgbClr val="FFFFFF"/>
                </a:solidFill>
                <a:latin typeface="Calibri"/>
                <a:cs typeface="Calibri"/>
              </a:rPr>
              <a:t>tasks:</a:t>
            </a:r>
            <a:endParaRPr sz="1800">
              <a:latin typeface="Calibri"/>
              <a:cs typeface="Calibri"/>
            </a:endParaRPr>
          </a:p>
          <a:p>
            <a:pPr marL="298450" marR="151130" indent="-286385">
              <a:lnSpc>
                <a:spcPct val="100800"/>
              </a:lnSpc>
              <a:buClr>
                <a:srgbClr val="000000"/>
              </a:buClr>
              <a:buFont typeface="Arial MT"/>
              <a:buChar char="•"/>
              <a:tabLst>
                <a:tab pos="298450" algn="l"/>
              </a:tabLst>
            </a:pPr>
            <a:r>
              <a:rPr sz="1800" dirty="0">
                <a:solidFill>
                  <a:srgbClr val="FFFFFF"/>
                </a:solidFill>
                <a:latin typeface="Calibri"/>
                <a:cs typeface="Calibri"/>
              </a:rPr>
              <a:t>-</a:t>
            </a:r>
            <a:r>
              <a:rPr sz="1800" spc="-30" dirty="0">
                <a:solidFill>
                  <a:srgbClr val="FFFFFF"/>
                </a:solidFill>
                <a:latin typeface="Calibri"/>
                <a:cs typeface="Calibri"/>
              </a:rPr>
              <a:t> </a:t>
            </a:r>
            <a:r>
              <a:rPr sz="1800" dirty="0">
                <a:solidFill>
                  <a:srgbClr val="FFFFFF"/>
                </a:solidFill>
                <a:latin typeface="Calibri"/>
                <a:cs typeface="Calibri"/>
              </a:rPr>
              <a:t>decomposition</a:t>
            </a:r>
            <a:r>
              <a:rPr sz="1800" spc="-40" dirty="0">
                <a:solidFill>
                  <a:srgbClr val="FFFFFF"/>
                </a:solidFill>
                <a:latin typeface="Calibri"/>
                <a:cs typeface="Calibri"/>
              </a:rPr>
              <a:t> </a:t>
            </a:r>
            <a:r>
              <a:rPr sz="1800" dirty="0">
                <a:solidFill>
                  <a:srgbClr val="FFFFFF"/>
                </a:solidFill>
                <a:latin typeface="Calibri"/>
                <a:cs typeface="Calibri"/>
              </a:rPr>
              <a:t>of</a:t>
            </a:r>
            <a:r>
              <a:rPr sz="1800" spc="-15" dirty="0">
                <a:solidFill>
                  <a:srgbClr val="FFFFFF"/>
                </a:solidFill>
                <a:latin typeface="Calibri"/>
                <a:cs typeface="Calibri"/>
              </a:rPr>
              <a:t> </a:t>
            </a:r>
            <a:r>
              <a:rPr sz="1800" dirty="0">
                <a:solidFill>
                  <a:srgbClr val="FFFFFF"/>
                </a:solidFill>
                <a:latin typeface="Calibri"/>
                <a:cs typeface="Calibri"/>
              </a:rPr>
              <a:t>the</a:t>
            </a:r>
            <a:r>
              <a:rPr sz="1800" spc="10" dirty="0">
                <a:solidFill>
                  <a:srgbClr val="FFFFFF"/>
                </a:solidFill>
                <a:latin typeface="Calibri"/>
                <a:cs typeface="Calibri"/>
              </a:rPr>
              <a:t> </a:t>
            </a:r>
            <a:r>
              <a:rPr sz="1800" dirty="0">
                <a:solidFill>
                  <a:srgbClr val="FFFFFF"/>
                </a:solidFill>
                <a:latin typeface="Calibri"/>
                <a:cs typeface="Calibri"/>
              </a:rPr>
              <a:t>given</a:t>
            </a:r>
            <a:r>
              <a:rPr sz="1800" spc="-35" dirty="0">
                <a:solidFill>
                  <a:srgbClr val="FFFFFF"/>
                </a:solidFill>
                <a:latin typeface="Calibri"/>
                <a:cs typeface="Calibri"/>
              </a:rPr>
              <a:t> </a:t>
            </a:r>
            <a:r>
              <a:rPr sz="1800" dirty="0">
                <a:solidFill>
                  <a:srgbClr val="FFFFFF"/>
                </a:solidFill>
                <a:latin typeface="Calibri"/>
                <a:cs typeface="Calibri"/>
              </a:rPr>
              <a:t>complex</a:t>
            </a:r>
            <a:r>
              <a:rPr sz="1800" spc="-20" dirty="0">
                <a:solidFill>
                  <a:srgbClr val="FFFFFF"/>
                </a:solidFill>
                <a:latin typeface="Calibri"/>
                <a:cs typeface="Calibri"/>
              </a:rPr>
              <a:t> </a:t>
            </a:r>
            <a:r>
              <a:rPr sz="1800" dirty="0">
                <a:solidFill>
                  <a:srgbClr val="FFFFFF"/>
                </a:solidFill>
                <a:latin typeface="Calibri"/>
                <a:cs typeface="Calibri"/>
              </a:rPr>
              <a:t>task</a:t>
            </a:r>
            <a:r>
              <a:rPr sz="1800" spc="-55" dirty="0">
                <a:solidFill>
                  <a:srgbClr val="FFFFFF"/>
                </a:solidFill>
                <a:latin typeface="Calibri"/>
                <a:cs typeface="Calibri"/>
              </a:rPr>
              <a:t> </a:t>
            </a:r>
            <a:r>
              <a:rPr sz="1800" spc="-20" dirty="0">
                <a:solidFill>
                  <a:srgbClr val="FFFFFF"/>
                </a:solidFill>
                <a:latin typeface="Calibri"/>
                <a:cs typeface="Calibri"/>
              </a:rPr>
              <a:t>into </a:t>
            </a:r>
            <a:r>
              <a:rPr sz="1800" dirty="0">
                <a:solidFill>
                  <a:srgbClr val="FFFFFF"/>
                </a:solidFill>
                <a:latin typeface="Calibri"/>
                <a:cs typeface="Calibri"/>
              </a:rPr>
              <a:t>a</a:t>
            </a:r>
            <a:r>
              <a:rPr sz="1800" spc="-30" dirty="0">
                <a:solidFill>
                  <a:srgbClr val="FFFFFF"/>
                </a:solidFill>
                <a:latin typeface="Calibri"/>
                <a:cs typeface="Calibri"/>
              </a:rPr>
              <a:t> </a:t>
            </a:r>
            <a:r>
              <a:rPr sz="1800" dirty="0">
                <a:solidFill>
                  <a:srgbClr val="FFFFFF"/>
                </a:solidFill>
                <a:latin typeface="Calibri"/>
                <a:cs typeface="Calibri"/>
              </a:rPr>
              <a:t>hierarchy</a:t>
            </a:r>
            <a:r>
              <a:rPr sz="1800" spc="10" dirty="0">
                <a:solidFill>
                  <a:srgbClr val="FFFFFF"/>
                </a:solidFill>
                <a:latin typeface="Calibri"/>
                <a:cs typeface="Calibri"/>
              </a:rPr>
              <a:t> </a:t>
            </a:r>
            <a:r>
              <a:rPr sz="1800" dirty="0">
                <a:solidFill>
                  <a:srgbClr val="FFFFFF"/>
                </a:solidFill>
                <a:latin typeface="Calibri"/>
                <a:cs typeface="Calibri"/>
              </a:rPr>
              <a:t>or</a:t>
            </a:r>
            <a:r>
              <a:rPr sz="1800" spc="-15" dirty="0">
                <a:solidFill>
                  <a:srgbClr val="FFFFFF"/>
                </a:solidFill>
                <a:latin typeface="Calibri"/>
                <a:cs typeface="Calibri"/>
              </a:rPr>
              <a:t> </a:t>
            </a:r>
            <a:r>
              <a:rPr sz="1800" dirty="0">
                <a:solidFill>
                  <a:srgbClr val="FFFFFF"/>
                </a:solidFill>
                <a:latin typeface="Calibri"/>
                <a:cs typeface="Calibri"/>
              </a:rPr>
              <a:t>workflow</a:t>
            </a:r>
            <a:r>
              <a:rPr sz="1800" spc="-75" dirty="0">
                <a:solidFill>
                  <a:srgbClr val="FFFFFF"/>
                </a:solidFill>
                <a:latin typeface="Calibri"/>
                <a:cs typeface="Calibri"/>
              </a:rPr>
              <a:t> </a:t>
            </a:r>
            <a:r>
              <a:rPr sz="1800" dirty="0">
                <a:solidFill>
                  <a:srgbClr val="FFFFFF"/>
                </a:solidFill>
                <a:latin typeface="Calibri"/>
                <a:cs typeface="Calibri"/>
              </a:rPr>
              <a:t>of)</a:t>
            </a:r>
            <a:r>
              <a:rPr sz="1800" spc="-15" dirty="0">
                <a:solidFill>
                  <a:srgbClr val="FFFFFF"/>
                </a:solidFill>
                <a:latin typeface="Calibri"/>
                <a:cs typeface="Calibri"/>
              </a:rPr>
              <a:t> </a:t>
            </a:r>
            <a:r>
              <a:rPr sz="1800" dirty="0">
                <a:solidFill>
                  <a:srgbClr val="FFFFFF"/>
                </a:solidFill>
                <a:latin typeface="Calibri"/>
                <a:cs typeface="Calibri"/>
              </a:rPr>
              <a:t>simple</a:t>
            </a:r>
            <a:r>
              <a:rPr sz="1800" spc="5" dirty="0">
                <a:solidFill>
                  <a:srgbClr val="FFFFFF"/>
                </a:solidFill>
                <a:latin typeface="Calibri"/>
                <a:cs typeface="Calibri"/>
              </a:rPr>
              <a:t> </a:t>
            </a:r>
            <a:r>
              <a:rPr sz="1800" spc="-10" dirty="0">
                <a:solidFill>
                  <a:srgbClr val="FFFFFF"/>
                </a:solidFill>
                <a:latin typeface="Calibri"/>
                <a:cs typeface="Calibri"/>
              </a:rPr>
              <a:t>tasks,</a:t>
            </a:r>
            <a:endParaRPr sz="1800">
              <a:latin typeface="Calibri"/>
              <a:cs typeface="Calibri"/>
            </a:endParaRPr>
          </a:p>
          <a:p>
            <a:pPr marL="298450">
              <a:lnSpc>
                <a:spcPct val="100000"/>
              </a:lnSpc>
              <a:spcBef>
                <a:spcPts val="25"/>
              </a:spcBef>
            </a:pPr>
            <a:r>
              <a:rPr sz="1800" dirty="0">
                <a:solidFill>
                  <a:srgbClr val="FFFFFF"/>
                </a:solidFill>
                <a:latin typeface="Calibri"/>
                <a:cs typeface="Calibri"/>
              </a:rPr>
              <a:t>followed</a:t>
            </a:r>
            <a:r>
              <a:rPr sz="1800" spc="-40" dirty="0">
                <a:solidFill>
                  <a:srgbClr val="FFFFFF"/>
                </a:solidFill>
                <a:latin typeface="Calibri"/>
                <a:cs typeface="Calibri"/>
              </a:rPr>
              <a:t> </a:t>
            </a:r>
            <a:r>
              <a:rPr sz="1800" spc="-25" dirty="0">
                <a:solidFill>
                  <a:srgbClr val="FFFFFF"/>
                </a:solidFill>
                <a:latin typeface="Calibri"/>
                <a:cs typeface="Calibri"/>
              </a:rPr>
              <a:t>by</a:t>
            </a:r>
            <a:endParaRPr sz="1800">
              <a:latin typeface="Calibri"/>
              <a:cs typeface="Calibri"/>
            </a:endParaRPr>
          </a:p>
          <a:p>
            <a:pPr marL="298450" marR="445134" indent="-286385">
              <a:lnSpc>
                <a:spcPts val="2100"/>
              </a:lnSpc>
              <a:spcBef>
                <a:spcPts val="135"/>
              </a:spcBef>
              <a:buClr>
                <a:srgbClr val="000000"/>
              </a:buClr>
              <a:buFont typeface="Arial MT"/>
              <a:buChar char="•"/>
              <a:tabLst>
                <a:tab pos="298450" algn="l"/>
              </a:tabLst>
            </a:pPr>
            <a:r>
              <a:rPr sz="1800" dirty="0">
                <a:solidFill>
                  <a:srgbClr val="FFFFFF"/>
                </a:solidFill>
                <a:latin typeface="Calibri"/>
                <a:cs typeface="Calibri"/>
              </a:rPr>
              <a:t>-</a:t>
            </a:r>
            <a:r>
              <a:rPr sz="1800" spc="-35" dirty="0">
                <a:solidFill>
                  <a:srgbClr val="FFFFFF"/>
                </a:solidFill>
                <a:latin typeface="Calibri"/>
                <a:cs typeface="Calibri"/>
              </a:rPr>
              <a:t> </a:t>
            </a:r>
            <a:r>
              <a:rPr sz="1800" b="1" dirty="0">
                <a:solidFill>
                  <a:srgbClr val="FFD966"/>
                </a:solidFill>
                <a:latin typeface="Calibri"/>
                <a:cs typeface="Calibri"/>
              </a:rPr>
              <a:t>composition</a:t>
            </a:r>
            <a:r>
              <a:rPr sz="1800" b="1" spc="10" dirty="0">
                <a:solidFill>
                  <a:srgbClr val="FFD966"/>
                </a:solidFill>
                <a:latin typeface="Calibri"/>
                <a:cs typeface="Calibri"/>
              </a:rPr>
              <a:t> </a:t>
            </a:r>
            <a:r>
              <a:rPr sz="1800" dirty="0">
                <a:solidFill>
                  <a:srgbClr val="FFFFFF"/>
                </a:solidFill>
                <a:latin typeface="Calibri"/>
                <a:cs typeface="Calibri"/>
              </a:rPr>
              <a:t>of</a:t>
            </a:r>
            <a:r>
              <a:rPr sz="1800" spc="-20" dirty="0">
                <a:solidFill>
                  <a:srgbClr val="FFFFFF"/>
                </a:solidFill>
                <a:latin typeface="Calibri"/>
                <a:cs typeface="Calibri"/>
              </a:rPr>
              <a:t> </a:t>
            </a:r>
            <a:r>
              <a:rPr sz="1800" dirty="0">
                <a:solidFill>
                  <a:srgbClr val="FFFFFF"/>
                </a:solidFill>
                <a:latin typeface="Calibri"/>
                <a:cs typeface="Calibri"/>
              </a:rPr>
              <a:t>agents</a:t>
            </a:r>
            <a:r>
              <a:rPr sz="1800" spc="-25" dirty="0">
                <a:solidFill>
                  <a:srgbClr val="FFFFFF"/>
                </a:solidFill>
                <a:latin typeface="Calibri"/>
                <a:cs typeface="Calibri"/>
              </a:rPr>
              <a:t> </a:t>
            </a:r>
            <a:r>
              <a:rPr sz="1800" dirty="0">
                <a:solidFill>
                  <a:srgbClr val="FFFFFF"/>
                </a:solidFill>
                <a:latin typeface="Calibri"/>
                <a:cs typeface="Calibri"/>
              </a:rPr>
              <a:t>able</a:t>
            </a:r>
            <a:r>
              <a:rPr sz="1800" spc="-60" dirty="0">
                <a:solidFill>
                  <a:srgbClr val="FFFFFF"/>
                </a:solidFill>
                <a:latin typeface="Calibri"/>
                <a:cs typeface="Calibri"/>
              </a:rPr>
              <a:t> </a:t>
            </a:r>
            <a:r>
              <a:rPr sz="1800" dirty="0">
                <a:solidFill>
                  <a:srgbClr val="FFFFFF"/>
                </a:solidFill>
                <a:latin typeface="Calibri"/>
                <a:cs typeface="Calibri"/>
              </a:rPr>
              <a:t>to</a:t>
            </a:r>
            <a:r>
              <a:rPr sz="1800" spc="-45" dirty="0">
                <a:solidFill>
                  <a:srgbClr val="FFFFFF"/>
                </a:solidFill>
                <a:latin typeface="Calibri"/>
                <a:cs typeface="Calibri"/>
              </a:rPr>
              <a:t> </a:t>
            </a:r>
            <a:r>
              <a:rPr sz="1800" dirty="0">
                <a:solidFill>
                  <a:srgbClr val="FFFFFF"/>
                </a:solidFill>
                <a:latin typeface="Calibri"/>
                <a:cs typeface="Calibri"/>
              </a:rPr>
              <a:t>execute</a:t>
            </a:r>
            <a:r>
              <a:rPr sz="1800" spc="10" dirty="0">
                <a:solidFill>
                  <a:srgbClr val="FFFFFF"/>
                </a:solidFill>
                <a:latin typeface="Calibri"/>
                <a:cs typeface="Calibri"/>
              </a:rPr>
              <a:t> </a:t>
            </a:r>
            <a:r>
              <a:rPr sz="1800" spc="-25" dirty="0">
                <a:solidFill>
                  <a:srgbClr val="FFFFFF"/>
                </a:solidFill>
                <a:latin typeface="Calibri"/>
                <a:cs typeface="Calibri"/>
              </a:rPr>
              <a:t>the </a:t>
            </a:r>
            <a:r>
              <a:rPr sz="1800" dirty="0">
                <a:solidFill>
                  <a:srgbClr val="FFFFFF"/>
                </a:solidFill>
                <a:latin typeface="Calibri"/>
                <a:cs typeface="Calibri"/>
              </a:rPr>
              <a:t>simpler</a:t>
            </a:r>
            <a:r>
              <a:rPr sz="1800" spc="-25" dirty="0">
                <a:solidFill>
                  <a:srgbClr val="FFFFFF"/>
                </a:solidFill>
                <a:latin typeface="Calibri"/>
                <a:cs typeface="Calibri"/>
              </a:rPr>
              <a:t> </a:t>
            </a:r>
            <a:r>
              <a:rPr sz="1800" spc="-10" dirty="0">
                <a:solidFill>
                  <a:srgbClr val="FFFFFF"/>
                </a:solidFill>
                <a:latin typeface="Calibri"/>
                <a:cs typeface="Calibri"/>
              </a:rPr>
              <a:t>tasks.</a:t>
            </a:r>
            <a:endParaRPr sz="1800">
              <a:latin typeface="Calibri"/>
              <a:cs typeface="Calibri"/>
            </a:endParaRPr>
          </a:p>
          <a:p>
            <a:pPr>
              <a:lnSpc>
                <a:spcPct val="100000"/>
              </a:lnSpc>
              <a:spcBef>
                <a:spcPts val="570"/>
              </a:spcBef>
              <a:buFont typeface="Arial MT"/>
              <a:buChar char="•"/>
            </a:pPr>
            <a:endParaRPr sz="1800">
              <a:latin typeface="Calibri"/>
              <a:cs typeface="Calibri"/>
            </a:endParaRPr>
          </a:p>
          <a:p>
            <a:pPr marL="12700">
              <a:lnSpc>
                <a:spcPct val="100000"/>
              </a:lnSpc>
            </a:pPr>
            <a:r>
              <a:rPr sz="1800" dirty="0">
                <a:solidFill>
                  <a:srgbClr val="FFFFFF"/>
                </a:solidFill>
                <a:latin typeface="Calibri"/>
                <a:cs typeface="Calibri"/>
              </a:rPr>
              <a:t>This</a:t>
            </a:r>
            <a:r>
              <a:rPr sz="1800" spc="-30" dirty="0">
                <a:solidFill>
                  <a:srgbClr val="FFFFFF"/>
                </a:solidFill>
                <a:latin typeface="Calibri"/>
                <a:cs typeface="Calibri"/>
              </a:rPr>
              <a:t> </a:t>
            </a:r>
            <a:r>
              <a:rPr sz="1800" dirty="0">
                <a:solidFill>
                  <a:srgbClr val="FFFFFF"/>
                </a:solidFill>
                <a:latin typeface="Calibri"/>
                <a:cs typeface="Calibri"/>
              </a:rPr>
              <a:t>can</a:t>
            </a:r>
            <a:r>
              <a:rPr sz="1800" spc="20" dirty="0">
                <a:solidFill>
                  <a:srgbClr val="FFFFFF"/>
                </a:solidFill>
                <a:latin typeface="Calibri"/>
                <a:cs typeface="Calibri"/>
              </a:rPr>
              <a:t> </a:t>
            </a:r>
            <a:r>
              <a:rPr sz="1800" dirty="0">
                <a:solidFill>
                  <a:srgbClr val="FFFFFF"/>
                </a:solidFill>
                <a:latin typeface="Calibri"/>
                <a:cs typeface="Calibri"/>
              </a:rPr>
              <a:t>be achieved</a:t>
            </a:r>
            <a:r>
              <a:rPr sz="1800" spc="25" dirty="0">
                <a:solidFill>
                  <a:srgbClr val="FFFFFF"/>
                </a:solidFill>
                <a:latin typeface="Calibri"/>
                <a:cs typeface="Calibri"/>
              </a:rPr>
              <a:t> </a:t>
            </a:r>
            <a:r>
              <a:rPr sz="1800" dirty="0">
                <a:solidFill>
                  <a:srgbClr val="FFFFFF"/>
                </a:solidFill>
                <a:latin typeface="Calibri"/>
                <a:cs typeface="Calibri"/>
              </a:rPr>
              <a:t>in</a:t>
            </a:r>
            <a:r>
              <a:rPr sz="1800" spc="-45" dirty="0">
                <a:solidFill>
                  <a:srgbClr val="FFFFFF"/>
                </a:solidFill>
                <a:latin typeface="Calibri"/>
                <a:cs typeface="Calibri"/>
              </a:rPr>
              <a:t> </a:t>
            </a:r>
            <a:r>
              <a:rPr sz="1800" dirty="0">
                <a:solidFill>
                  <a:srgbClr val="FFFFFF"/>
                </a:solidFill>
                <a:latin typeface="Calibri"/>
                <a:cs typeface="Calibri"/>
              </a:rPr>
              <a:t>a</a:t>
            </a:r>
            <a:r>
              <a:rPr sz="1800" spc="-40" dirty="0">
                <a:solidFill>
                  <a:srgbClr val="FFFFFF"/>
                </a:solidFill>
                <a:latin typeface="Calibri"/>
                <a:cs typeface="Calibri"/>
              </a:rPr>
              <a:t> </a:t>
            </a:r>
            <a:r>
              <a:rPr sz="1800" dirty="0">
                <a:solidFill>
                  <a:srgbClr val="FFFFFF"/>
                </a:solidFill>
                <a:latin typeface="Calibri"/>
                <a:cs typeface="Calibri"/>
              </a:rPr>
              <a:t>dynamic</a:t>
            </a:r>
            <a:r>
              <a:rPr sz="1800" spc="-75" dirty="0">
                <a:solidFill>
                  <a:srgbClr val="FFFFFF"/>
                </a:solidFill>
                <a:latin typeface="Calibri"/>
                <a:cs typeface="Calibri"/>
              </a:rPr>
              <a:t> </a:t>
            </a:r>
            <a:r>
              <a:rPr sz="1800" dirty="0">
                <a:solidFill>
                  <a:srgbClr val="FFFFFF"/>
                </a:solidFill>
                <a:latin typeface="Calibri"/>
                <a:cs typeface="Calibri"/>
              </a:rPr>
              <a:t>or</a:t>
            </a:r>
            <a:r>
              <a:rPr sz="1800" spc="-30" dirty="0">
                <a:solidFill>
                  <a:srgbClr val="FFFFFF"/>
                </a:solidFill>
                <a:latin typeface="Calibri"/>
                <a:cs typeface="Calibri"/>
              </a:rPr>
              <a:t> </a:t>
            </a:r>
            <a:r>
              <a:rPr sz="1800" dirty="0">
                <a:solidFill>
                  <a:srgbClr val="FFFFFF"/>
                </a:solidFill>
                <a:latin typeface="Calibri"/>
                <a:cs typeface="Calibri"/>
              </a:rPr>
              <a:t>static</a:t>
            </a:r>
            <a:r>
              <a:rPr sz="1800" spc="-15" dirty="0">
                <a:solidFill>
                  <a:srgbClr val="FFFFFF"/>
                </a:solidFill>
                <a:latin typeface="Calibri"/>
                <a:cs typeface="Calibri"/>
              </a:rPr>
              <a:t> </a:t>
            </a:r>
            <a:r>
              <a:rPr sz="1800" spc="-10" dirty="0">
                <a:solidFill>
                  <a:srgbClr val="FFFFFF"/>
                </a:solidFill>
                <a:latin typeface="Calibri"/>
                <a:cs typeface="Calibri"/>
              </a:rPr>
              <a:t>manner.</a:t>
            </a:r>
            <a:endParaRPr sz="1800">
              <a:latin typeface="Calibri"/>
              <a:cs typeface="Calibri"/>
            </a:endParaRPr>
          </a:p>
          <a:p>
            <a:pPr marL="298450" marR="53340" indent="-286385">
              <a:lnSpc>
                <a:spcPct val="100800"/>
              </a:lnSpc>
              <a:buClr>
                <a:srgbClr val="000000"/>
              </a:buClr>
              <a:buFont typeface="Arial MT"/>
              <a:buChar char="•"/>
              <a:tabLst>
                <a:tab pos="298450" algn="l"/>
              </a:tabLst>
            </a:pPr>
            <a:r>
              <a:rPr sz="1800" b="1" dirty="0">
                <a:solidFill>
                  <a:srgbClr val="FFD966"/>
                </a:solidFill>
                <a:latin typeface="Calibri"/>
                <a:cs typeface="Calibri"/>
              </a:rPr>
              <a:t>Dynamic</a:t>
            </a:r>
            <a:r>
              <a:rPr sz="1800" dirty="0">
                <a:solidFill>
                  <a:srgbClr val="FFFFFF"/>
                </a:solidFill>
                <a:latin typeface="Calibri"/>
                <a:cs typeface="Calibri"/>
              </a:rPr>
              <a:t>:</a:t>
            </a:r>
            <a:r>
              <a:rPr sz="1800" spc="-25" dirty="0">
                <a:solidFill>
                  <a:srgbClr val="FFFFFF"/>
                </a:solidFill>
                <a:latin typeface="Calibri"/>
                <a:cs typeface="Calibri"/>
              </a:rPr>
              <a:t> </a:t>
            </a:r>
            <a:r>
              <a:rPr sz="1800" dirty="0">
                <a:solidFill>
                  <a:srgbClr val="FFFFFF"/>
                </a:solidFill>
                <a:latin typeface="Calibri"/>
                <a:cs typeface="Calibri"/>
              </a:rPr>
              <a:t>given</a:t>
            </a:r>
            <a:r>
              <a:rPr sz="1800" spc="-35" dirty="0">
                <a:solidFill>
                  <a:srgbClr val="FFFFFF"/>
                </a:solidFill>
                <a:latin typeface="Calibri"/>
                <a:cs typeface="Calibri"/>
              </a:rPr>
              <a:t> </a:t>
            </a:r>
            <a:r>
              <a:rPr sz="1800" dirty="0">
                <a:solidFill>
                  <a:srgbClr val="FFFFFF"/>
                </a:solidFill>
                <a:latin typeface="Calibri"/>
                <a:cs typeface="Calibri"/>
              </a:rPr>
              <a:t>a</a:t>
            </a:r>
            <a:r>
              <a:rPr sz="1800" spc="-30" dirty="0">
                <a:solidFill>
                  <a:srgbClr val="FFFFFF"/>
                </a:solidFill>
                <a:latin typeface="Calibri"/>
                <a:cs typeface="Calibri"/>
              </a:rPr>
              <a:t> </a:t>
            </a:r>
            <a:r>
              <a:rPr sz="1800" dirty="0">
                <a:solidFill>
                  <a:srgbClr val="FFFFFF"/>
                </a:solidFill>
                <a:latin typeface="Calibri"/>
                <a:cs typeface="Calibri"/>
              </a:rPr>
              <a:t>complex</a:t>
            </a:r>
            <a:r>
              <a:rPr sz="1800" spc="-20" dirty="0">
                <a:solidFill>
                  <a:srgbClr val="FFFFFF"/>
                </a:solidFill>
                <a:latin typeface="Calibri"/>
                <a:cs typeface="Calibri"/>
              </a:rPr>
              <a:t> </a:t>
            </a:r>
            <a:r>
              <a:rPr sz="1800" dirty="0">
                <a:solidFill>
                  <a:srgbClr val="FFFFFF"/>
                </a:solidFill>
                <a:latin typeface="Calibri"/>
                <a:cs typeface="Calibri"/>
              </a:rPr>
              <a:t>user</a:t>
            </a:r>
            <a:r>
              <a:rPr sz="1800" spc="-15" dirty="0">
                <a:solidFill>
                  <a:srgbClr val="FFFFFF"/>
                </a:solidFill>
                <a:latin typeface="Calibri"/>
                <a:cs typeface="Calibri"/>
              </a:rPr>
              <a:t> </a:t>
            </a:r>
            <a:r>
              <a:rPr sz="1800" dirty="0">
                <a:solidFill>
                  <a:srgbClr val="FFFFFF"/>
                </a:solidFill>
                <a:latin typeface="Calibri"/>
                <a:cs typeface="Calibri"/>
              </a:rPr>
              <a:t>task,</a:t>
            </a:r>
            <a:r>
              <a:rPr sz="1800" spc="5" dirty="0">
                <a:solidFill>
                  <a:srgbClr val="FFFFFF"/>
                </a:solidFill>
                <a:latin typeface="Calibri"/>
                <a:cs typeface="Calibri"/>
              </a:rPr>
              <a:t> </a:t>
            </a:r>
            <a:r>
              <a:rPr sz="1800" dirty="0">
                <a:solidFill>
                  <a:srgbClr val="FFFFFF"/>
                </a:solidFill>
                <a:latin typeface="Calibri"/>
                <a:cs typeface="Calibri"/>
              </a:rPr>
              <a:t>the</a:t>
            </a:r>
            <a:r>
              <a:rPr sz="1800" spc="-55" dirty="0">
                <a:solidFill>
                  <a:srgbClr val="FFFFFF"/>
                </a:solidFill>
                <a:latin typeface="Calibri"/>
                <a:cs typeface="Calibri"/>
              </a:rPr>
              <a:t> </a:t>
            </a:r>
            <a:r>
              <a:rPr sz="1800" spc="-10" dirty="0">
                <a:solidFill>
                  <a:srgbClr val="FFFFFF"/>
                </a:solidFill>
                <a:latin typeface="Calibri"/>
                <a:cs typeface="Calibri"/>
              </a:rPr>
              <a:t>system </a:t>
            </a:r>
            <a:r>
              <a:rPr sz="1800" dirty="0">
                <a:solidFill>
                  <a:srgbClr val="FFFFFF"/>
                </a:solidFill>
                <a:latin typeface="Calibri"/>
                <a:cs typeface="Calibri"/>
              </a:rPr>
              <a:t>comes</a:t>
            </a:r>
            <a:r>
              <a:rPr sz="1800" spc="-15" dirty="0">
                <a:solidFill>
                  <a:srgbClr val="FFFFFF"/>
                </a:solidFill>
                <a:latin typeface="Calibri"/>
                <a:cs typeface="Calibri"/>
              </a:rPr>
              <a:t> </a:t>
            </a:r>
            <a:r>
              <a:rPr sz="1800" dirty="0">
                <a:solidFill>
                  <a:srgbClr val="FFFFFF"/>
                </a:solidFill>
                <a:latin typeface="Calibri"/>
                <a:cs typeface="Calibri"/>
              </a:rPr>
              <a:t>up</a:t>
            </a:r>
            <a:r>
              <a:rPr sz="1800" spc="-35" dirty="0">
                <a:solidFill>
                  <a:srgbClr val="FFFFFF"/>
                </a:solidFill>
                <a:latin typeface="Calibri"/>
                <a:cs typeface="Calibri"/>
              </a:rPr>
              <a:t> </a:t>
            </a:r>
            <a:r>
              <a:rPr sz="1800" dirty="0">
                <a:solidFill>
                  <a:srgbClr val="FFFFFF"/>
                </a:solidFill>
                <a:latin typeface="Calibri"/>
                <a:cs typeface="Calibri"/>
              </a:rPr>
              <a:t>with</a:t>
            </a:r>
            <a:r>
              <a:rPr sz="1800" spc="30" dirty="0">
                <a:solidFill>
                  <a:srgbClr val="FFFFFF"/>
                </a:solidFill>
                <a:latin typeface="Calibri"/>
                <a:cs typeface="Calibri"/>
              </a:rPr>
              <a:t> </a:t>
            </a:r>
            <a:r>
              <a:rPr sz="1800" dirty="0">
                <a:solidFill>
                  <a:srgbClr val="FFFFFF"/>
                </a:solidFill>
                <a:latin typeface="Calibri"/>
                <a:cs typeface="Calibri"/>
              </a:rPr>
              <a:t>a</a:t>
            </a:r>
            <a:r>
              <a:rPr sz="1800" spc="-25" dirty="0">
                <a:solidFill>
                  <a:srgbClr val="FFFFFF"/>
                </a:solidFill>
                <a:latin typeface="Calibri"/>
                <a:cs typeface="Calibri"/>
              </a:rPr>
              <a:t> </a:t>
            </a:r>
            <a:r>
              <a:rPr sz="1800" dirty="0">
                <a:solidFill>
                  <a:srgbClr val="FFFFFF"/>
                </a:solidFill>
                <a:latin typeface="Calibri"/>
                <a:cs typeface="Calibri"/>
              </a:rPr>
              <a:t>plan</a:t>
            </a:r>
            <a:r>
              <a:rPr sz="1800" spc="-30" dirty="0">
                <a:solidFill>
                  <a:srgbClr val="FFFFFF"/>
                </a:solidFill>
                <a:latin typeface="Calibri"/>
                <a:cs typeface="Calibri"/>
              </a:rPr>
              <a:t> </a:t>
            </a:r>
            <a:r>
              <a:rPr sz="1800" dirty="0">
                <a:solidFill>
                  <a:srgbClr val="FFFFFF"/>
                </a:solidFill>
                <a:latin typeface="Calibri"/>
                <a:cs typeface="Calibri"/>
              </a:rPr>
              <a:t>to</a:t>
            </a:r>
            <a:r>
              <a:rPr sz="1800" spc="30" dirty="0">
                <a:solidFill>
                  <a:srgbClr val="FFFFFF"/>
                </a:solidFill>
                <a:latin typeface="Calibri"/>
                <a:cs typeface="Calibri"/>
              </a:rPr>
              <a:t> </a:t>
            </a:r>
            <a:r>
              <a:rPr sz="1800" dirty="0">
                <a:solidFill>
                  <a:srgbClr val="FFFFFF"/>
                </a:solidFill>
                <a:latin typeface="Calibri"/>
                <a:cs typeface="Calibri"/>
              </a:rPr>
              <a:t>fulfil</a:t>
            </a:r>
            <a:r>
              <a:rPr sz="1800" spc="-25" dirty="0">
                <a:solidFill>
                  <a:srgbClr val="FFFFFF"/>
                </a:solidFill>
                <a:latin typeface="Calibri"/>
                <a:cs typeface="Calibri"/>
              </a:rPr>
              <a:t> </a:t>
            </a:r>
            <a:r>
              <a:rPr sz="1800" dirty="0">
                <a:solidFill>
                  <a:srgbClr val="FFFFFF"/>
                </a:solidFill>
                <a:latin typeface="Calibri"/>
                <a:cs typeface="Calibri"/>
              </a:rPr>
              <a:t>the</a:t>
            </a:r>
            <a:r>
              <a:rPr sz="1800" spc="-50" dirty="0">
                <a:solidFill>
                  <a:srgbClr val="FFFFFF"/>
                </a:solidFill>
                <a:latin typeface="Calibri"/>
                <a:cs typeface="Calibri"/>
              </a:rPr>
              <a:t> </a:t>
            </a:r>
            <a:r>
              <a:rPr sz="1800" spc="-10" dirty="0">
                <a:solidFill>
                  <a:srgbClr val="FFFFFF"/>
                </a:solidFill>
                <a:latin typeface="Calibri"/>
                <a:cs typeface="Calibri"/>
              </a:rPr>
              <a:t>request </a:t>
            </a:r>
            <a:r>
              <a:rPr sz="1800" dirty="0">
                <a:solidFill>
                  <a:srgbClr val="FFFFFF"/>
                </a:solidFill>
                <a:latin typeface="Calibri"/>
                <a:cs typeface="Calibri"/>
              </a:rPr>
              <a:t>depending</a:t>
            </a:r>
            <a:r>
              <a:rPr sz="1800" spc="-40" dirty="0">
                <a:solidFill>
                  <a:srgbClr val="FFFFFF"/>
                </a:solidFill>
                <a:latin typeface="Calibri"/>
                <a:cs typeface="Calibri"/>
              </a:rPr>
              <a:t> </a:t>
            </a:r>
            <a:r>
              <a:rPr sz="1800" dirty="0">
                <a:solidFill>
                  <a:srgbClr val="FFFFFF"/>
                </a:solidFill>
                <a:latin typeface="Calibri"/>
                <a:cs typeface="Calibri"/>
              </a:rPr>
              <a:t>on</a:t>
            </a:r>
            <a:r>
              <a:rPr sz="1800" spc="5" dirty="0">
                <a:solidFill>
                  <a:srgbClr val="FFFFFF"/>
                </a:solidFill>
                <a:latin typeface="Calibri"/>
                <a:cs typeface="Calibri"/>
              </a:rPr>
              <a:t> </a:t>
            </a:r>
            <a:r>
              <a:rPr sz="1800" dirty="0">
                <a:solidFill>
                  <a:srgbClr val="FFFFFF"/>
                </a:solidFill>
                <a:latin typeface="Calibri"/>
                <a:cs typeface="Calibri"/>
              </a:rPr>
              <a:t>the</a:t>
            </a:r>
            <a:r>
              <a:rPr sz="1800" spc="-20" dirty="0">
                <a:solidFill>
                  <a:srgbClr val="FFFFFF"/>
                </a:solidFill>
                <a:latin typeface="Calibri"/>
                <a:cs typeface="Calibri"/>
              </a:rPr>
              <a:t> </a:t>
            </a:r>
            <a:r>
              <a:rPr sz="1800" dirty="0">
                <a:solidFill>
                  <a:srgbClr val="FFFFFF"/>
                </a:solidFill>
                <a:latin typeface="Calibri"/>
                <a:cs typeface="Calibri"/>
              </a:rPr>
              <a:t>capabilities</a:t>
            </a:r>
            <a:r>
              <a:rPr sz="1800" spc="-45" dirty="0">
                <a:solidFill>
                  <a:srgbClr val="FFFFFF"/>
                </a:solidFill>
                <a:latin typeface="Calibri"/>
                <a:cs typeface="Calibri"/>
              </a:rPr>
              <a:t> </a:t>
            </a:r>
            <a:r>
              <a:rPr sz="1800" dirty="0">
                <a:solidFill>
                  <a:srgbClr val="FFFFFF"/>
                </a:solidFill>
                <a:latin typeface="Calibri"/>
                <a:cs typeface="Calibri"/>
              </a:rPr>
              <a:t>of</a:t>
            </a:r>
            <a:r>
              <a:rPr sz="1800" spc="-35" dirty="0">
                <a:solidFill>
                  <a:srgbClr val="FFFFFF"/>
                </a:solidFill>
                <a:latin typeface="Calibri"/>
                <a:cs typeface="Calibri"/>
              </a:rPr>
              <a:t> </a:t>
            </a:r>
            <a:r>
              <a:rPr sz="1800" spc="-10" dirty="0">
                <a:solidFill>
                  <a:srgbClr val="FFFFFF"/>
                </a:solidFill>
                <a:latin typeface="Calibri"/>
                <a:cs typeface="Calibri"/>
              </a:rPr>
              <a:t>available </a:t>
            </a:r>
            <a:r>
              <a:rPr sz="1800" dirty="0">
                <a:solidFill>
                  <a:srgbClr val="FFFFFF"/>
                </a:solidFill>
                <a:latin typeface="Calibri"/>
                <a:cs typeface="Calibri"/>
              </a:rPr>
              <a:t>agents</a:t>
            </a:r>
            <a:r>
              <a:rPr sz="1800" spc="-55" dirty="0">
                <a:solidFill>
                  <a:srgbClr val="FFFFFF"/>
                </a:solidFill>
                <a:latin typeface="Calibri"/>
                <a:cs typeface="Calibri"/>
              </a:rPr>
              <a:t> </a:t>
            </a:r>
            <a:r>
              <a:rPr sz="1800" dirty="0">
                <a:solidFill>
                  <a:srgbClr val="FFFFFF"/>
                </a:solidFill>
                <a:latin typeface="Calibri"/>
                <a:cs typeface="Calibri"/>
              </a:rPr>
              <a:t>at</a:t>
            </a:r>
            <a:r>
              <a:rPr sz="1800" spc="-25" dirty="0">
                <a:solidFill>
                  <a:srgbClr val="FFFFFF"/>
                </a:solidFill>
                <a:latin typeface="Calibri"/>
                <a:cs typeface="Calibri"/>
              </a:rPr>
              <a:t> </a:t>
            </a:r>
            <a:r>
              <a:rPr sz="1800" dirty="0">
                <a:solidFill>
                  <a:srgbClr val="FFFFFF"/>
                </a:solidFill>
                <a:latin typeface="Calibri"/>
                <a:cs typeface="Calibri"/>
              </a:rPr>
              <a:t>run-</a:t>
            </a:r>
            <a:r>
              <a:rPr sz="1800" spc="-20" dirty="0">
                <a:solidFill>
                  <a:srgbClr val="FFFFFF"/>
                </a:solidFill>
                <a:latin typeface="Calibri"/>
                <a:cs typeface="Calibri"/>
              </a:rPr>
              <a:t>time.</a:t>
            </a:r>
            <a:endParaRPr sz="1800">
              <a:latin typeface="Calibri"/>
              <a:cs typeface="Calibri"/>
            </a:endParaRPr>
          </a:p>
          <a:p>
            <a:pPr marL="298450" indent="-285750">
              <a:lnSpc>
                <a:spcPts val="2100"/>
              </a:lnSpc>
              <a:buClr>
                <a:srgbClr val="000000"/>
              </a:buClr>
              <a:buFont typeface="Arial MT"/>
              <a:buChar char="•"/>
              <a:tabLst>
                <a:tab pos="298450" algn="l"/>
              </a:tabLst>
            </a:pPr>
            <a:r>
              <a:rPr sz="1800" b="1" dirty="0">
                <a:solidFill>
                  <a:srgbClr val="FFD966"/>
                </a:solidFill>
                <a:latin typeface="Calibri"/>
                <a:cs typeface="Calibri"/>
              </a:rPr>
              <a:t>Static</a:t>
            </a:r>
            <a:r>
              <a:rPr sz="1800" dirty="0">
                <a:solidFill>
                  <a:srgbClr val="FFFFFF"/>
                </a:solidFill>
                <a:latin typeface="Calibri"/>
                <a:cs typeface="Calibri"/>
              </a:rPr>
              <a:t>:</a:t>
            </a:r>
            <a:r>
              <a:rPr sz="1800" spc="-35" dirty="0">
                <a:solidFill>
                  <a:srgbClr val="FFFFFF"/>
                </a:solidFill>
                <a:latin typeface="Calibri"/>
                <a:cs typeface="Calibri"/>
              </a:rPr>
              <a:t> </a:t>
            </a:r>
            <a:r>
              <a:rPr sz="1800" dirty="0">
                <a:solidFill>
                  <a:srgbClr val="FFFFFF"/>
                </a:solidFill>
                <a:latin typeface="Calibri"/>
                <a:cs typeface="Calibri"/>
              </a:rPr>
              <a:t>given</a:t>
            </a:r>
            <a:r>
              <a:rPr sz="1800" spc="-40" dirty="0">
                <a:solidFill>
                  <a:srgbClr val="FFFFFF"/>
                </a:solidFill>
                <a:latin typeface="Calibri"/>
                <a:cs typeface="Calibri"/>
              </a:rPr>
              <a:t> </a:t>
            </a:r>
            <a:r>
              <a:rPr sz="1800" dirty="0">
                <a:solidFill>
                  <a:srgbClr val="FFFFFF"/>
                </a:solidFill>
                <a:latin typeface="Calibri"/>
                <a:cs typeface="Calibri"/>
              </a:rPr>
              <a:t>a</a:t>
            </a:r>
            <a:r>
              <a:rPr sz="1800" spc="-35" dirty="0">
                <a:solidFill>
                  <a:srgbClr val="FFFFFF"/>
                </a:solidFill>
                <a:latin typeface="Calibri"/>
                <a:cs typeface="Calibri"/>
              </a:rPr>
              <a:t> </a:t>
            </a:r>
            <a:r>
              <a:rPr sz="1800" dirty="0">
                <a:solidFill>
                  <a:srgbClr val="FFFFFF"/>
                </a:solidFill>
                <a:latin typeface="Calibri"/>
                <a:cs typeface="Calibri"/>
              </a:rPr>
              <a:t>set of</a:t>
            </a:r>
            <a:r>
              <a:rPr sz="1800" spc="-25" dirty="0">
                <a:solidFill>
                  <a:srgbClr val="FFFFFF"/>
                </a:solidFill>
                <a:latin typeface="Calibri"/>
                <a:cs typeface="Calibri"/>
              </a:rPr>
              <a:t> </a:t>
            </a:r>
            <a:r>
              <a:rPr sz="1800" dirty="0">
                <a:solidFill>
                  <a:srgbClr val="FFFFFF"/>
                </a:solidFill>
                <a:latin typeface="Calibri"/>
                <a:cs typeface="Calibri"/>
              </a:rPr>
              <a:t>agents, composite</a:t>
            </a:r>
            <a:r>
              <a:rPr sz="1800" spc="-65" dirty="0">
                <a:solidFill>
                  <a:srgbClr val="FFFFFF"/>
                </a:solidFill>
                <a:latin typeface="Calibri"/>
                <a:cs typeface="Calibri"/>
              </a:rPr>
              <a:t> </a:t>
            </a:r>
            <a:r>
              <a:rPr sz="1800" spc="-10" dirty="0">
                <a:solidFill>
                  <a:srgbClr val="FFFFFF"/>
                </a:solidFill>
                <a:latin typeface="Calibri"/>
                <a:cs typeface="Calibri"/>
              </a:rPr>
              <a:t>agents</a:t>
            </a:r>
            <a:endParaRPr sz="1800">
              <a:latin typeface="Calibri"/>
              <a:cs typeface="Calibri"/>
            </a:endParaRPr>
          </a:p>
          <a:p>
            <a:pPr marL="298450" marR="116205">
              <a:lnSpc>
                <a:spcPct val="100800"/>
              </a:lnSpc>
            </a:pPr>
            <a:r>
              <a:rPr sz="1800" dirty="0">
                <a:solidFill>
                  <a:srgbClr val="FFFFFF"/>
                </a:solidFill>
                <a:latin typeface="Calibri"/>
                <a:cs typeface="Calibri"/>
              </a:rPr>
              <a:t>are</a:t>
            </a:r>
            <a:r>
              <a:rPr sz="1800" spc="-50" dirty="0">
                <a:solidFill>
                  <a:srgbClr val="FFFFFF"/>
                </a:solidFill>
                <a:latin typeface="Calibri"/>
                <a:cs typeface="Calibri"/>
              </a:rPr>
              <a:t> </a:t>
            </a:r>
            <a:r>
              <a:rPr sz="1800" dirty="0">
                <a:solidFill>
                  <a:srgbClr val="FFFFFF"/>
                </a:solidFill>
                <a:latin typeface="Calibri"/>
                <a:cs typeface="Calibri"/>
              </a:rPr>
              <a:t>defined</a:t>
            </a:r>
            <a:r>
              <a:rPr sz="1800" spc="-25" dirty="0">
                <a:solidFill>
                  <a:srgbClr val="FFFFFF"/>
                </a:solidFill>
                <a:latin typeface="Calibri"/>
                <a:cs typeface="Calibri"/>
              </a:rPr>
              <a:t> </a:t>
            </a:r>
            <a:r>
              <a:rPr sz="1800" dirty="0">
                <a:solidFill>
                  <a:srgbClr val="FFFFFF"/>
                </a:solidFill>
                <a:latin typeface="Calibri"/>
                <a:cs typeface="Calibri"/>
              </a:rPr>
              <a:t>manually</a:t>
            </a:r>
            <a:r>
              <a:rPr sz="1800" spc="25" dirty="0">
                <a:solidFill>
                  <a:srgbClr val="FFFFFF"/>
                </a:solidFill>
                <a:latin typeface="Calibri"/>
                <a:cs typeface="Calibri"/>
              </a:rPr>
              <a:t> </a:t>
            </a:r>
            <a:r>
              <a:rPr sz="1800" dirty="0">
                <a:solidFill>
                  <a:srgbClr val="FFFFFF"/>
                </a:solidFill>
                <a:latin typeface="Calibri"/>
                <a:cs typeface="Calibri"/>
              </a:rPr>
              <a:t>at</a:t>
            </a:r>
            <a:r>
              <a:rPr sz="1800" spc="15" dirty="0">
                <a:solidFill>
                  <a:srgbClr val="FFFFFF"/>
                </a:solidFill>
                <a:latin typeface="Calibri"/>
                <a:cs typeface="Calibri"/>
              </a:rPr>
              <a:t> </a:t>
            </a:r>
            <a:r>
              <a:rPr sz="1800" spc="-10" dirty="0">
                <a:solidFill>
                  <a:srgbClr val="FFFFFF"/>
                </a:solidFill>
                <a:latin typeface="Calibri"/>
                <a:cs typeface="Calibri"/>
              </a:rPr>
              <a:t>design-</a:t>
            </a:r>
            <a:r>
              <a:rPr sz="1800" dirty="0">
                <a:solidFill>
                  <a:srgbClr val="FFFFFF"/>
                </a:solidFill>
                <a:latin typeface="Calibri"/>
                <a:cs typeface="Calibri"/>
              </a:rPr>
              <a:t>time</a:t>
            </a:r>
            <a:r>
              <a:rPr sz="1800" spc="-50" dirty="0">
                <a:solidFill>
                  <a:srgbClr val="FFFFFF"/>
                </a:solidFill>
                <a:latin typeface="Calibri"/>
                <a:cs typeface="Calibri"/>
              </a:rPr>
              <a:t> </a:t>
            </a:r>
            <a:r>
              <a:rPr sz="1800" spc="-10" dirty="0">
                <a:solidFill>
                  <a:srgbClr val="FFFFFF"/>
                </a:solidFill>
                <a:latin typeface="Calibri"/>
                <a:cs typeface="Calibri"/>
              </a:rPr>
              <a:t>combining </a:t>
            </a:r>
            <a:r>
              <a:rPr sz="1800" dirty="0">
                <a:solidFill>
                  <a:srgbClr val="FFFFFF"/>
                </a:solidFill>
                <a:latin typeface="Calibri"/>
                <a:cs typeface="Calibri"/>
              </a:rPr>
              <a:t>their</a:t>
            </a:r>
            <a:r>
              <a:rPr sz="1800" spc="-30" dirty="0">
                <a:solidFill>
                  <a:srgbClr val="FFFFFF"/>
                </a:solidFill>
                <a:latin typeface="Calibri"/>
                <a:cs typeface="Calibri"/>
              </a:rPr>
              <a:t> </a:t>
            </a:r>
            <a:r>
              <a:rPr sz="1800" spc="-10" dirty="0">
                <a:solidFill>
                  <a:srgbClr val="FFFFFF"/>
                </a:solidFill>
                <a:latin typeface="Calibri"/>
                <a:cs typeface="Calibri"/>
              </a:rPr>
              <a:t>capabilities.</a:t>
            </a:r>
            <a:endParaRPr sz="1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8000"/>
            </a:xfrm>
            <a:prstGeom prst="rect">
              <a:avLst/>
            </a:prstGeom>
          </p:spPr>
        </p:pic>
        <p:sp>
          <p:nvSpPr>
            <p:cNvPr id="4" name="object 4"/>
            <p:cNvSpPr/>
            <p:nvPr/>
          </p:nvSpPr>
          <p:spPr>
            <a:xfrm>
              <a:off x="0" y="19048"/>
              <a:ext cx="12192000" cy="6838950"/>
            </a:xfrm>
            <a:custGeom>
              <a:avLst/>
              <a:gdLst/>
              <a:ahLst/>
              <a:cxnLst/>
              <a:rect l="l" t="t" r="r" b="b"/>
              <a:pathLst>
                <a:path w="12192000" h="6838950">
                  <a:moveTo>
                    <a:pt x="12192000" y="0"/>
                  </a:moveTo>
                  <a:lnTo>
                    <a:pt x="0" y="0"/>
                  </a:lnTo>
                  <a:lnTo>
                    <a:pt x="0" y="6838951"/>
                  </a:lnTo>
                  <a:lnTo>
                    <a:pt x="12192000" y="6838951"/>
                  </a:lnTo>
                  <a:lnTo>
                    <a:pt x="12192000" y="0"/>
                  </a:lnTo>
                  <a:close/>
                </a:path>
              </a:pathLst>
            </a:custGeom>
            <a:solidFill>
              <a:srgbClr val="002384">
                <a:alpha val="39999"/>
              </a:srgbClr>
            </a:solidFill>
          </p:spPr>
          <p:txBody>
            <a:bodyPr wrap="square" lIns="0" tIns="0" rIns="0" bIns="0" rtlCol="0"/>
            <a:lstStyle/>
            <a:p>
              <a:endParaRPr/>
            </a:p>
          </p:txBody>
        </p:sp>
      </p:grpSp>
      <p:sp>
        <p:nvSpPr>
          <p:cNvPr id="5" name="object 5"/>
          <p:cNvSpPr txBox="1"/>
          <p:nvPr/>
        </p:nvSpPr>
        <p:spPr>
          <a:xfrm>
            <a:off x="334962" y="672718"/>
            <a:ext cx="5800725" cy="701040"/>
          </a:xfrm>
          <a:prstGeom prst="rect">
            <a:avLst/>
          </a:prstGeom>
        </p:spPr>
        <p:txBody>
          <a:bodyPr vert="horz" wrap="square" lIns="0" tIns="16510" rIns="0" bIns="0" rtlCol="0">
            <a:spAutoFit/>
          </a:bodyPr>
          <a:lstStyle/>
          <a:p>
            <a:pPr marL="12700">
              <a:lnSpc>
                <a:spcPct val="100000"/>
              </a:lnSpc>
              <a:spcBef>
                <a:spcPts val="130"/>
              </a:spcBef>
            </a:pPr>
            <a:r>
              <a:rPr sz="4400" b="1" dirty="0">
                <a:solidFill>
                  <a:srgbClr val="FFFFFF"/>
                </a:solidFill>
                <a:latin typeface="Arial"/>
                <a:cs typeface="Arial"/>
              </a:rPr>
              <a:t>Agentic</a:t>
            </a:r>
            <a:r>
              <a:rPr sz="4400" b="1" spc="-85" dirty="0">
                <a:solidFill>
                  <a:srgbClr val="FFFFFF"/>
                </a:solidFill>
                <a:latin typeface="Arial"/>
                <a:cs typeface="Arial"/>
              </a:rPr>
              <a:t> </a:t>
            </a:r>
            <a:r>
              <a:rPr sz="4400" b="1" dirty="0">
                <a:solidFill>
                  <a:srgbClr val="FFFFFF"/>
                </a:solidFill>
                <a:latin typeface="Arial"/>
                <a:cs typeface="Arial"/>
              </a:rPr>
              <a:t>AI</a:t>
            </a:r>
            <a:r>
              <a:rPr sz="4400" b="1" spc="-40" dirty="0">
                <a:solidFill>
                  <a:srgbClr val="FFFFFF"/>
                </a:solidFill>
                <a:latin typeface="Arial"/>
                <a:cs typeface="Arial"/>
              </a:rPr>
              <a:t> </a:t>
            </a:r>
            <a:r>
              <a:rPr sz="4400" b="1" spc="-10" dirty="0">
                <a:solidFill>
                  <a:srgbClr val="FFFFFF"/>
                </a:solidFill>
                <a:latin typeface="Arial"/>
                <a:cs typeface="Arial"/>
              </a:rPr>
              <a:t>Scenarios:</a:t>
            </a:r>
            <a:endParaRPr sz="4400">
              <a:latin typeface="Arial"/>
              <a:cs typeface="Arial"/>
            </a:endParaRPr>
          </a:p>
        </p:txBody>
      </p:sp>
      <p:sp>
        <p:nvSpPr>
          <p:cNvPr id="6" name="object 6"/>
          <p:cNvSpPr txBox="1"/>
          <p:nvPr/>
        </p:nvSpPr>
        <p:spPr>
          <a:xfrm>
            <a:off x="334962" y="1350010"/>
            <a:ext cx="4601845" cy="1852930"/>
          </a:xfrm>
          <a:prstGeom prst="rect">
            <a:avLst/>
          </a:prstGeom>
        </p:spPr>
        <p:txBody>
          <a:bodyPr vert="horz" wrap="square" lIns="0" tIns="16510" rIns="0" bIns="0" rtlCol="0">
            <a:spAutoFit/>
          </a:bodyPr>
          <a:lstStyle/>
          <a:p>
            <a:pPr marL="584200" indent="-571500">
              <a:lnSpc>
                <a:spcPct val="100000"/>
              </a:lnSpc>
              <a:spcBef>
                <a:spcPts val="130"/>
              </a:spcBef>
              <a:buClr>
                <a:srgbClr val="000000"/>
              </a:buClr>
              <a:buFont typeface="Arial MT"/>
              <a:buChar char="-"/>
              <a:tabLst>
                <a:tab pos="584200" algn="l"/>
              </a:tabLst>
            </a:pPr>
            <a:r>
              <a:rPr sz="3950" b="1" dirty="0">
                <a:solidFill>
                  <a:srgbClr val="FFC000"/>
                </a:solidFill>
                <a:latin typeface="Arial"/>
                <a:cs typeface="Arial"/>
              </a:rPr>
              <a:t>Agentic</a:t>
            </a:r>
            <a:r>
              <a:rPr sz="3950" b="1" spc="40" dirty="0">
                <a:solidFill>
                  <a:srgbClr val="FFC000"/>
                </a:solidFill>
                <a:latin typeface="Arial"/>
                <a:cs typeface="Arial"/>
              </a:rPr>
              <a:t> </a:t>
            </a:r>
            <a:r>
              <a:rPr sz="3950" b="1" spc="-20" dirty="0">
                <a:solidFill>
                  <a:srgbClr val="FFC000"/>
                </a:solidFill>
                <a:latin typeface="Arial"/>
                <a:cs typeface="Arial"/>
              </a:rPr>
              <a:t>RAGs</a:t>
            </a:r>
            <a:endParaRPr sz="3950">
              <a:latin typeface="Arial"/>
              <a:cs typeface="Arial"/>
            </a:endParaRPr>
          </a:p>
          <a:p>
            <a:pPr marL="584200" marR="5080" indent="-572135">
              <a:lnSpc>
                <a:spcPts val="4810"/>
              </a:lnSpc>
              <a:spcBef>
                <a:spcPts val="95"/>
              </a:spcBef>
              <a:buClr>
                <a:srgbClr val="000000"/>
              </a:buClr>
              <a:buFont typeface="Arial MT"/>
              <a:buChar char="-"/>
              <a:tabLst>
                <a:tab pos="584200" algn="l"/>
              </a:tabLst>
            </a:pPr>
            <a:r>
              <a:rPr sz="3950" b="1" spc="-10" dirty="0">
                <a:solidFill>
                  <a:srgbClr val="FFC000"/>
                </a:solidFill>
                <a:latin typeface="Arial"/>
                <a:cs typeface="Arial"/>
              </a:rPr>
              <a:t>Reinforcement </a:t>
            </a:r>
            <a:r>
              <a:rPr sz="3950" b="1" dirty="0">
                <a:solidFill>
                  <a:srgbClr val="FFC000"/>
                </a:solidFill>
                <a:latin typeface="Arial"/>
                <a:cs typeface="Arial"/>
              </a:rPr>
              <a:t>Learning</a:t>
            </a:r>
            <a:r>
              <a:rPr sz="3950" b="1" spc="70" dirty="0">
                <a:solidFill>
                  <a:srgbClr val="FFC000"/>
                </a:solidFill>
                <a:latin typeface="Arial"/>
                <a:cs typeface="Arial"/>
              </a:rPr>
              <a:t> </a:t>
            </a:r>
            <a:r>
              <a:rPr sz="3950" b="1" spc="-10" dirty="0">
                <a:solidFill>
                  <a:srgbClr val="FFC000"/>
                </a:solidFill>
                <a:latin typeface="Arial"/>
                <a:cs typeface="Arial"/>
              </a:rPr>
              <a:t>Agents</a:t>
            </a:r>
            <a:endParaRPr sz="3950">
              <a:latin typeface="Arial"/>
              <a:cs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9630" y="128269"/>
            <a:ext cx="10335895" cy="575310"/>
          </a:xfrm>
          <a:prstGeom prst="rect">
            <a:avLst/>
          </a:prstGeom>
        </p:spPr>
        <p:txBody>
          <a:bodyPr vert="horz" wrap="square" lIns="0" tIns="13335" rIns="0" bIns="0" rtlCol="0">
            <a:spAutoFit/>
          </a:bodyPr>
          <a:lstStyle/>
          <a:p>
            <a:pPr marL="12700">
              <a:lnSpc>
                <a:spcPct val="100000"/>
              </a:lnSpc>
              <a:spcBef>
                <a:spcPts val="105"/>
              </a:spcBef>
            </a:pPr>
            <a:r>
              <a:rPr dirty="0"/>
              <a:t>Agentic</a:t>
            </a:r>
            <a:r>
              <a:rPr spc="-65" dirty="0"/>
              <a:t> </a:t>
            </a:r>
            <a:r>
              <a:rPr dirty="0"/>
              <a:t>RAGs:</a:t>
            </a:r>
            <a:r>
              <a:rPr spc="-10" dirty="0"/>
              <a:t> </a:t>
            </a:r>
            <a:r>
              <a:rPr dirty="0"/>
              <a:t>extending</a:t>
            </a:r>
            <a:r>
              <a:rPr spc="40" dirty="0"/>
              <a:t> </a:t>
            </a:r>
            <a:r>
              <a:rPr dirty="0"/>
              <a:t>RAGs</a:t>
            </a:r>
            <a:r>
              <a:rPr spc="-55" dirty="0"/>
              <a:t> </a:t>
            </a:r>
            <a:r>
              <a:rPr dirty="0"/>
              <a:t>to</a:t>
            </a:r>
            <a:r>
              <a:rPr spc="-35" dirty="0"/>
              <a:t> </a:t>
            </a:r>
            <a:r>
              <a:rPr dirty="0"/>
              <a:t>SQL</a:t>
            </a:r>
            <a:r>
              <a:rPr spc="-30" dirty="0"/>
              <a:t> </a:t>
            </a:r>
            <a:r>
              <a:rPr spc="-10" dirty="0"/>
              <a:t>Databases</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276225" y="752475"/>
            <a:ext cx="4019550" cy="1314450"/>
          </a:xfrm>
          <a:custGeom>
            <a:avLst/>
            <a:gdLst/>
            <a:ahLst/>
            <a:cxnLst/>
            <a:rect l="l" t="t" r="r" b="b"/>
            <a:pathLst>
              <a:path w="4019550" h="1314450">
                <a:moveTo>
                  <a:pt x="4019550" y="0"/>
                </a:moveTo>
                <a:lnTo>
                  <a:pt x="0" y="0"/>
                </a:lnTo>
                <a:lnTo>
                  <a:pt x="0" y="1314450"/>
                </a:lnTo>
                <a:lnTo>
                  <a:pt x="3748786" y="1302512"/>
                </a:lnTo>
                <a:lnTo>
                  <a:pt x="4019550" y="0"/>
                </a:lnTo>
                <a:close/>
              </a:path>
            </a:pathLst>
          </a:custGeom>
          <a:solidFill>
            <a:srgbClr val="002384"/>
          </a:solidFill>
        </p:spPr>
        <p:txBody>
          <a:bodyPr wrap="square" lIns="0" tIns="0" rIns="0" bIns="0" rtlCol="0"/>
          <a:lstStyle/>
          <a:p>
            <a:endParaRPr/>
          </a:p>
        </p:txBody>
      </p:sp>
      <p:sp>
        <p:nvSpPr>
          <p:cNvPr id="5" name="object 5"/>
          <p:cNvSpPr txBox="1"/>
          <p:nvPr/>
        </p:nvSpPr>
        <p:spPr>
          <a:xfrm>
            <a:off x="8314690" y="5616892"/>
            <a:ext cx="3557270" cy="389890"/>
          </a:xfrm>
          <a:prstGeom prst="rect">
            <a:avLst/>
          </a:prstGeom>
        </p:spPr>
        <p:txBody>
          <a:bodyPr vert="horz" wrap="square" lIns="0" tIns="19685" rIns="0" bIns="0" rtlCol="0">
            <a:spAutoFit/>
          </a:bodyPr>
          <a:lstStyle/>
          <a:p>
            <a:pPr marL="12700" marR="5080">
              <a:lnSpc>
                <a:spcPts val="1430"/>
              </a:lnSpc>
              <a:spcBef>
                <a:spcPts val="155"/>
              </a:spcBef>
            </a:pPr>
            <a:r>
              <a:rPr sz="1200" dirty="0">
                <a:latin typeface="Arial MT"/>
                <a:cs typeface="Arial MT"/>
                <a:hlinkClick r:id="rId3"/>
              </a:rPr>
              <a:t>*</a:t>
            </a:r>
            <a:r>
              <a:rPr sz="1200" spc="-30" dirty="0">
                <a:latin typeface="Arial MT"/>
                <a:cs typeface="Arial MT"/>
                <a:hlinkClick r:id="rId3"/>
              </a:rPr>
              <a:t> </a:t>
            </a:r>
            <a:r>
              <a:rPr sz="1200" dirty="0">
                <a:latin typeface="Arial MT"/>
                <a:cs typeface="Arial MT"/>
                <a:hlinkClick r:id="rId3"/>
              </a:rPr>
              <a:t>D.</a:t>
            </a:r>
            <a:r>
              <a:rPr sz="1200" spc="-15" dirty="0">
                <a:latin typeface="Arial MT"/>
                <a:cs typeface="Arial MT"/>
                <a:hlinkClick r:id="rId3"/>
              </a:rPr>
              <a:t> </a:t>
            </a:r>
            <a:r>
              <a:rPr sz="1200" dirty="0">
                <a:latin typeface="Arial MT"/>
                <a:cs typeface="Arial MT"/>
                <a:hlinkClick r:id="rId3"/>
              </a:rPr>
              <a:t>Biswas.</a:t>
            </a:r>
            <a:r>
              <a:rPr sz="1200" spc="-15" dirty="0">
                <a:latin typeface="Arial MT"/>
                <a:cs typeface="Arial MT"/>
                <a:hlinkClick r:id="rId3"/>
              </a:rPr>
              <a:t> </a:t>
            </a:r>
            <a:r>
              <a:rPr sz="1200" dirty="0">
                <a:latin typeface="Arial MT"/>
                <a:cs typeface="Arial MT"/>
                <a:hlinkClick r:id="rId3"/>
              </a:rPr>
              <a:t>Agentic</a:t>
            </a:r>
            <a:r>
              <a:rPr sz="1200" spc="15" dirty="0">
                <a:latin typeface="Arial MT"/>
                <a:cs typeface="Arial MT"/>
                <a:hlinkClick r:id="rId3"/>
              </a:rPr>
              <a:t> </a:t>
            </a:r>
            <a:r>
              <a:rPr sz="1200" dirty="0">
                <a:latin typeface="Arial MT"/>
                <a:cs typeface="Arial MT"/>
                <a:hlinkClick r:id="rId3"/>
              </a:rPr>
              <a:t>RAGs:</a:t>
            </a:r>
            <a:r>
              <a:rPr sz="1200" spc="-5" dirty="0">
                <a:latin typeface="Arial MT"/>
                <a:cs typeface="Arial MT"/>
                <a:hlinkClick r:id="rId3"/>
              </a:rPr>
              <a:t> </a:t>
            </a:r>
            <a:r>
              <a:rPr sz="1200" dirty="0">
                <a:latin typeface="Arial MT"/>
                <a:cs typeface="Arial MT"/>
                <a:hlinkClick r:id="rId3"/>
              </a:rPr>
              <a:t>extending</a:t>
            </a:r>
            <a:r>
              <a:rPr sz="1200" spc="-10" dirty="0">
                <a:latin typeface="Arial MT"/>
                <a:cs typeface="Arial MT"/>
                <a:hlinkClick r:id="rId3"/>
              </a:rPr>
              <a:t> </a:t>
            </a:r>
            <a:r>
              <a:rPr sz="1200" dirty="0">
                <a:latin typeface="Arial MT"/>
                <a:cs typeface="Arial MT"/>
                <a:hlinkClick r:id="rId3"/>
              </a:rPr>
              <a:t>RAGs</a:t>
            </a:r>
            <a:r>
              <a:rPr sz="1200" spc="-50" dirty="0">
                <a:latin typeface="Arial MT"/>
                <a:cs typeface="Arial MT"/>
                <a:hlinkClick r:id="rId3"/>
              </a:rPr>
              <a:t> </a:t>
            </a:r>
            <a:r>
              <a:rPr sz="1200" dirty="0">
                <a:latin typeface="Arial MT"/>
                <a:cs typeface="Arial MT"/>
                <a:hlinkClick r:id="rId3"/>
              </a:rPr>
              <a:t>to</a:t>
            </a:r>
            <a:r>
              <a:rPr sz="1200" spc="-45" dirty="0">
                <a:latin typeface="Arial MT"/>
                <a:cs typeface="Arial MT"/>
                <a:hlinkClick r:id="rId3"/>
              </a:rPr>
              <a:t> </a:t>
            </a:r>
            <a:r>
              <a:rPr sz="1200" spc="-25" dirty="0">
                <a:latin typeface="Arial MT"/>
                <a:cs typeface="Arial MT"/>
                <a:hlinkClick r:id="rId3"/>
              </a:rPr>
              <a:t>SQL </a:t>
            </a:r>
            <a:r>
              <a:rPr sz="1200" dirty="0">
                <a:latin typeface="Arial MT"/>
                <a:cs typeface="Arial MT"/>
                <a:hlinkClick r:id="rId3"/>
              </a:rPr>
              <a:t>Databases.</a:t>
            </a:r>
            <a:r>
              <a:rPr sz="1200" spc="-40" dirty="0">
                <a:latin typeface="Arial MT"/>
                <a:cs typeface="Arial MT"/>
                <a:hlinkClick r:id="rId3"/>
              </a:rPr>
              <a:t> </a:t>
            </a:r>
            <a:r>
              <a:rPr sz="1200" dirty="0">
                <a:latin typeface="Arial MT"/>
                <a:cs typeface="Arial MT"/>
                <a:hlinkClick r:id="rId3"/>
              </a:rPr>
              <a:t>AI</a:t>
            </a:r>
            <a:r>
              <a:rPr sz="1200" spc="-40" dirty="0">
                <a:latin typeface="Arial MT"/>
                <a:cs typeface="Arial MT"/>
                <a:hlinkClick r:id="rId3"/>
              </a:rPr>
              <a:t> </a:t>
            </a:r>
            <a:r>
              <a:rPr sz="1200" dirty="0">
                <a:latin typeface="Arial MT"/>
                <a:cs typeface="Arial MT"/>
                <a:hlinkClick r:id="rId3"/>
              </a:rPr>
              <a:t>Advances,</a:t>
            </a:r>
            <a:r>
              <a:rPr sz="1200" spc="-35" dirty="0">
                <a:latin typeface="Arial MT"/>
                <a:cs typeface="Arial MT"/>
                <a:hlinkClick r:id="rId3"/>
              </a:rPr>
              <a:t> </a:t>
            </a:r>
            <a:r>
              <a:rPr sz="1200" dirty="0">
                <a:latin typeface="Arial MT"/>
                <a:cs typeface="Arial MT"/>
                <a:hlinkClick r:id="rId3"/>
              </a:rPr>
              <a:t>2024</a:t>
            </a:r>
            <a:r>
              <a:rPr sz="1200" spc="-5" dirty="0">
                <a:latin typeface="Arial MT"/>
                <a:cs typeface="Arial MT"/>
                <a:hlinkClick r:id="rId3"/>
              </a:rPr>
              <a:t> </a:t>
            </a:r>
            <a:r>
              <a:rPr sz="1200" spc="-10" dirty="0">
                <a:latin typeface="Arial MT"/>
                <a:cs typeface="Arial MT"/>
                <a:hlinkClick r:id="rId3"/>
              </a:rPr>
              <a:t>(</a:t>
            </a:r>
            <a:r>
              <a:rPr sz="1200" u="sng" spc="-10" dirty="0">
                <a:solidFill>
                  <a:srgbClr val="0462C1"/>
                </a:solidFill>
                <a:uFill>
                  <a:solidFill>
                    <a:srgbClr val="0462C1"/>
                  </a:solidFill>
                </a:uFill>
                <a:latin typeface="Arial MT"/>
                <a:cs typeface="Arial MT"/>
                <a:hlinkClick r:id="rId4"/>
              </a:rPr>
              <a:t>link</a:t>
            </a:r>
            <a:r>
              <a:rPr sz="1200" spc="-10" dirty="0">
                <a:latin typeface="Arial MT"/>
                <a:cs typeface="Arial MT"/>
                <a:hlinkClick r:id="rId3"/>
              </a:rPr>
              <a:t>)</a:t>
            </a:r>
            <a:endParaRPr sz="1200">
              <a:latin typeface="Arial MT"/>
              <a:cs typeface="Arial MT"/>
            </a:endParaRPr>
          </a:p>
        </p:txBody>
      </p:sp>
      <p:sp>
        <p:nvSpPr>
          <p:cNvPr id="6" name="object 6"/>
          <p:cNvSpPr/>
          <p:nvPr/>
        </p:nvSpPr>
        <p:spPr>
          <a:xfrm>
            <a:off x="266700" y="2162175"/>
            <a:ext cx="4029075" cy="2028825"/>
          </a:xfrm>
          <a:custGeom>
            <a:avLst/>
            <a:gdLst/>
            <a:ahLst/>
            <a:cxnLst/>
            <a:rect l="l" t="t" r="r" b="b"/>
            <a:pathLst>
              <a:path w="4029075" h="2028825">
                <a:moveTo>
                  <a:pt x="4029075" y="0"/>
                </a:moveTo>
                <a:lnTo>
                  <a:pt x="0" y="0"/>
                </a:lnTo>
                <a:lnTo>
                  <a:pt x="0" y="2028825"/>
                </a:lnTo>
                <a:lnTo>
                  <a:pt x="3757676" y="2010283"/>
                </a:lnTo>
                <a:lnTo>
                  <a:pt x="4029075" y="0"/>
                </a:lnTo>
                <a:close/>
              </a:path>
            </a:pathLst>
          </a:custGeom>
          <a:solidFill>
            <a:srgbClr val="002384"/>
          </a:solidFill>
        </p:spPr>
        <p:txBody>
          <a:bodyPr wrap="square" lIns="0" tIns="0" rIns="0" bIns="0" rtlCol="0"/>
          <a:lstStyle/>
          <a:p>
            <a:endParaRPr/>
          </a:p>
        </p:txBody>
      </p:sp>
      <p:sp>
        <p:nvSpPr>
          <p:cNvPr id="7" name="object 7"/>
          <p:cNvSpPr txBox="1"/>
          <p:nvPr/>
        </p:nvSpPr>
        <p:spPr>
          <a:xfrm>
            <a:off x="468312" y="827087"/>
            <a:ext cx="3345815" cy="3135630"/>
          </a:xfrm>
          <a:prstGeom prst="rect">
            <a:avLst/>
          </a:prstGeom>
        </p:spPr>
        <p:txBody>
          <a:bodyPr vert="horz" wrap="square" lIns="0" tIns="10795" rIns="0" bIns="0" rtlCol="0">
            <a:spAutoFit/>
          </a:bodyPr>
          <a:lstStyle/>
          <a:p>
            <a:pPr marL="27940" marR="5080">
              <a:lnSpc>
                <a:spcPct val="100800"/>
              </a:lnSpc>
              <a:spcBef>
                <a:spcPts val="85"/>
              </a:spcBef>
            </a:pPr>
            <a:r>
              <a:rPr sz="1800" dirty="0">
                <a:solidFill>
                  <a:srgbClr val="FFFFFF"/>
                </a:solidFill>
                <a:latin typeface="Calibri"/>
                <a:cs typeface="Calibri"/>
              </a:rPr>
              <a:t>Agentic</a:t>
            </a:r>
            <a:r>
              <a:rPr sz="1800" spc="-5" dirty="0">
                <a:solidFill>
                  <a:srgbClr val="FFFFFF"/>
                </a:solidFill>
                <a:latin typeface="Calibri"/>
                <a:cs typeface="Calibri"/>
              </a:rPr>
              <a:t> </a:t>
            </a:r>
            <a:r>
              <a:rPr sz="1800" dirty="0">
                <a:solidFill>
                  <a:srgbClr val="FFFFFF"/>
                </a:solidFill>
                <a:latin typeface="Calibri"/>
                <a:cs typeface="Calibri"/>
              </a:rPr>
              <a:t>AI</a:t>
            </a:r>
            <a:r>
              <a:rPr sz="1800" spc="-55" dirty="0">
                <a:solidFill>
                  <a:srgbClr val="FFFFFF"/>
                </a:solidFill>
                <a:latin typeface="Calibri"/>
                <a:cs typeface="Calibri"/>
              </a:rPr>
              <a:t> </a:t>
            </a:r>
            <a:r>
              <a:rPr sz="1800" dirty="0">
                <a:solidFill>
                  <a:srgbClr val="FFFFFF"/>
                </a:solidFill>
                <a:latin typeface="Calibri"/>
                <a:cs typeface="Calibri"/>
              </a:rPr>
              <a:t>framework</a:t>
            </a:r>
            <a:r>
              <a:rPr sz="1800" spc="-45" dirty="0">
                <a:solidFill>
                  <a:srgbClr val="FFFFFF"/>
                </a:solidFill>
                <a:latin typeface="Calibri"/>
                <a:cs typeface="Calibri"/>
              </a:rPr>
              <a:t> </a:t>
            </a:r>
            <a:r>
              <a:rPr sz="1800" dirty="0">
                <a:solidFill>
                  <a:srgbClr val="FFFFFF"/>
                </a:solidFill>
                <a:latin typeface="Calibri"/>
                <a:cs typeface="Calibri"/>
              </a:rPr>
              <a:t>to</a:t>
            </a:r>
            <a:r>
              <a:rPr sz="1800" spc="-30" dirty="0">
                <a:solidFill>
                  <a:srgbClr val="FFFFFF"/>
                </a:solidFill>
                <a:latin typeface="Calibri"/>
                <a:cs typeface="Calibri"/>
              </a:rPr>
              <a:t> </a:t>
            </a:r>
            <a:r>
              <a:rPr sz="1800" dirty="0">
                <a:solidFill>
                  <a:srgbClr val="FFFFFF"/>
                </a:solidFill>
                <a:latin typeface="Calibri"/>
                <a:cs typeface="Calibri"/>
              </a:rPr>
              <a:t>build</a:t>
            </a:r>
            <a:r>
              <a:rPr sz="1800" spc="-25" dirty="0">
                <a:solidFill>
                  <a:srgbClr val="FFFFFF"/>
                </a:solidFill>
                <a:latin typeface="Calibri"/>
                <a:cs typeface="Calibri"/>
              </a:rPr>
              <a:t> RAG </a:t>
            </a:r>
            <a:r>
              <a:rPr sz="1800" dirty="0">
                <a:solidFill>
                  <a:srgbClr val="FFFFFF"/>
                </a:solidFill>
                <a:latin typeface="Calibri"/>
                <a:cs typeface="Calibri"/>
              </a:rPr>
              <a:t>pipelines</a:t>
            </a:r>
            <a:r>
              <a:rPr sz="1800" spc="-85" dirty="0">
                <a:solidFill>
                  <a:srgbClr val="FFFFFF"/>
                </a:solidFill>
                <a:latin typeface="Calibri"/>
                <a:cs typeface="Calibri"/>
              </a:rPr>
              <a:t> </a:t>
            </a:r>
            <a:r>
              <a:rPr sz="1800" dirty="0">
                <a:solidFill>
                  <a:srgbClr val="FFFFFF"/>
                </a:solidFill>
                <a:latin typeface="Calibri"/>
                <a:cs typeface="Calibri"/>
              </a:rPr>
              <a:t>that</a:t>
            </a:r>
            <a:r>
              <a:rPr sz="1800" spc="-65" dirty="0">
                <a:solidFill>
                  <a:srgbClr val="FFFFFF"/>
                </a:solidFill>
                <a:latin typeface="Calibri"/>
                <a:cs typeface="Calibri"/>
              </a:rPr>
              <a:t> </a:t>
            </a:r>
            <a:r>
              <a:rPr sz="1800" dirty="0">
                <a:solidFill>
                  <a:srgbClr val="FFFFFF"/>
                </a:solidFill>
                <a:latin typeface="Calibri"/>
                <a:cs typeface="Calibri"/>
              </a:rPr>
              <a:t>work</a:t>
            </a:r>
            <a:r>
              <a:rPr sz="1800" spc="15" dirty="0">
                <a:solidFill>
                  <a:srgbClr val="FFFFFF"/>
                </a:solidFill>
                <a:latin typeface="Calibri"/>
                <a:cs typeface="Calibri"/>
              </a:rPr>
              <a:t> </a:t>
            </a:r>
            <a:r>
              <a:rPr sz="1800" dirty="0">
                <a:solidFill>
                  <a:srgbClr val="FFFFFF"/>
                </a:solidFill>
                <a:latin typeface="Calibri"/>
                <a:cs typeface="Calibri"/>
              </a:rPr>
              <a:t>seamlessly</a:t>
            </a:r>
            <a:r>
              <a:rPr sz="1800" spc="15" dirty="0">
                <a:solidFill>
                  <a:srgbClr val="FFFFFF"/>
                </a:solidFill>
                <a:latin typeface="Calibri"/>
                <a:cs typeface="Calibri"/>
              </a:rPr>
              <a:t> </a:t>
            </a:r>
            <a:r>
              <a:rPr sz="1800" spc="-20" dirty="0">
                <a:solidFill>
                  <a:srgbClr val="FFFFFF"/>
                </a:solidFill>
                <a:latin typeface="Calibri"/>
                <a:cs typeface="Calibri"/>
              </a:rPr>
              <a:t>over </a:t>
            </a:r>
            <a:r>
              <a:rPr sz="1800" b="1" dirty="0">
                <a:solidFill>
                  <a:srgbClr val="FFD966"/>
                </a:solidFill>
                <a:latin typeface="Calibri"/>
                <a:cs typeface="Calibri"/>
              </a:rPr>
              <a:t>both</a:t>
            </a:r>
            <a:r>
              <a:rPr sz="1800" b="1" spc="-70" dirty="0">
                <a:solidFill>
                  <a:srgbClr val="FFD966"/>
                </a:solidFill>
                <a:latin typeface="Calibri"/>
                <a:cs typeface="Calibri"/>
              </a:rPr>
              <a:t> </a:t>
            </a:r>
            <a:r>
              <a:rPr sz="1800" b="1" dirty="0">
                <a:solidFill>
                  <a:srgbClr val="FFD966"/>
                </a:solidFill>
                <a:latin typeface="Calibri"/>
                <a:cs typeface="Calibri"/>
              </a:rPr>
              <a:t>structured and </a:t>
            </a:r>
            <a:r>
              <a:rPr sz="1800" b="1" spc="-10" dirty="0">
                <a:solidFill>
                  <a:srgbClr val="FFD966"/>
                </a:solidFill>
                <a:latin typeface="Calibri"/>
                <a:cs typeface="Calibri"/>
              </a:rPr>
              <a:t>unstructured </a:t>
            </a:r>
            <a:r>
              <a:rPr sz="1800" dirty="0">
                <a:solidFill>
                  <a:srgbClr val="FFFFFF"/>
                </a:solidFill>
                <a:latin typeface="Calibri"/>
                <a:cs typeface="Calibri"/>
              </a:rPr>
              <a:t>data</a:t>
            </a:r>
            <a:r>
              <a:rPr sz="1800" spc="-35" dirty="0">
                <a:solidFill>
                  <a:srgbClr val="FFFFFF"/>
                </a:solidFill>
                <a:latin typeface="Calibri"/>
                <a:cs typeface="Calibri"/>
              </a:rPr>
              <a:t> </a:t>
            </a:r>
            <a:r>
              <a:rPr sz="1800" dirty="0">
                <a:solidFill>
                  <a:srgbClr val="FFFFFF"/>
                </a:solidFill>
                <a:latin typeface="Calibri"/>
                <a:cs typeface="Calibri"/>
              </a:rPr>
              <a:t>stored</a:t>
            </a:r>
            <a:r>
              <a:rPr sz="1800" spc="-30" dirty="0">
                <a:solidFill>
                  <a:srgbClr val="FFFFFF"/>
                </a:solidFill>
                <a:latin typeface="Calibri"/>
                <a:cs typeface="Calibri"/>
              </a:rPr>
              <a:t> </a:t>
            </a:r>
            <a:r>
              <a:rPr sz="1800" dirty="0">
                <a:solidFill>
                  <a:srgbClr val="FFFFFF"/>
                </a:solidFill>
                <a:latin typeface="Calibri"/>
                <a:cs typeface="Calibri"/>
              </a:rPr>
              <a:t>in</a:t>
            </a:r>
            <a:r>
              <a:rPr sz="1800" spc="-35" dirty="0">
                <a:solidFill>
                  <a:srgbClr val="FFFFFF"/>
                </a:solidFill>
                <a:latin typeface="Calibri"/>
                <a:cs typeface="Calibri"/>
              </a:rPr>
              <a:t> </a:t>
            </a:r>
            <a:r>
              <a:rPr sz="1800" spc="-10" dirty="0">
                <a:solidFill>
                  <a:srgbClr val="FFFFFF"/>
                </a:solidFill>
                <a:latin typeface="Calibri"/>
                <a:cs typeface="Calibri"/>
              </a:rPr>
              <a:t>Snowflake.</a:t>
            </a:r>
            <a:endParaRPr sz="1800">
              <a:latin typeface="Calibri"/>
              <a:cs typeface="Calibri"/>
            </a:endParaRPr>
          </a:p>
          <a:p>
            <a:pPr>
              <a:lnSpc>
                <a:spcPct val="100000"/>
              </a:lnSpc>
              <a:spcBef>
                <a:spcPts val="615"/>
              </a:spcBef>
            </a:pPr>
            <a:endParaRPr sz="1800">
              <a:latin typeface="Calibri"/>
              <a:cs typeface="Calibri"/>
            </a:endParaRPr>
          </a:p>
          <a:p>
            <a:pPr marL="12700" marR="75565">
              <a:lnSpc>
                <a:spcPct val="100099"/>
              </a:lnSpc>
            </a:pPr>
            <a:r>
              <a:rPr sz="1800" dirty="0">
                <a:solidFill>
                  <a:srgbClr val="FFFFFF"/>
                </a:solidFill>
                <a:latin typeface="Calibri"/>
                <a:cs typeface="Calibri"/>
              </a:rPr>
              <a:t>The</a:t>
            </a:r>
            <a:r>
              <a:rPr sz="1800" spc="20" dirty="0">
                <a:solidFill>
                  <a:srgbClr val="FFFFFF"/>
                </a:solidFill>
                <a:latin typeface="Calibri"/>
                <a:cs typeface="Calibri"/>
              </a:rPr>
              <a:t> </a:t>
            </a:r>
            <a:r>
              <a:rPr sz="1800" dirty="0">
                <a:solidFill>
                  <a:srgbClr val="FFFFFF"/>
                </a:solidFill>
                <a:latin typeface="Calibri"/>
                <a:cs typeface="Calibri"/>
              </a:rPr>
              <a:t>SQL</a:t>
            </a:r>
            <a:r>
              <a:rPr sz="1800" spc="15" dirty="0">
                <a:solidFill>
                  <a:srgbClr val="FFFFFF"/>
                </a:solidFill>
                <a:latin typeface="Calibri"/>
                <a:cs typeface="Calibri"/>
              </a:rPr>
              <a:t> </a:t>
            </a:r>
            <a:r>
              <a:rPr sz="1800" dirty="0">
                <a:solidFill>
                  <a:srgbClr val="FFFFFF"/>
                </a:solidFill>
                <a:latin typeface="Calibri"/>
                <a:cs typeface="Calibri"/>
              </a:rPr>
              <a:t>&amp;</a:t>
            </a:r>
            <a:r>
              <a:rPr sz="1800" spc="-5" dirty="0">
                <a:solidFill>
                  <a:srgbClr val="FFFFFF"/>
                </a:solidFill>
                <a:latin typeface="Calibri"/>
                <a:cs typeface="Calibri"/>
              </a:rPr>
              <a:t> </a:t>
            </a:r>
            <a:r>
              <a:rPr sz="1800" spc="-10" dirty="0">
                <a:solidFill>
                  <a:srgbClr val="FFFFFF"/>
                </a:solidFill>
                <a:latin typeface="Calibri"/>
                <a:cs typeface="Calibri"/>
              </a:rPr>
              <a:t>Document</a:t>
            </a:r>
            <a:r>
              <a:rPr sz="1800" spc="-50" dirty="0">
                <a:solidFill>
                  <a:srgbClr val="FFFFFF"/>
                </a:solidFill>
                <a:latin typeface="Calibri"/>
                <a:cs typeface="Calibri"/>
              </a:rPr>
              <a:t> </a:t>
            </a:r>
            <a:r>
              <a:rPr sz="1800" dirty="0">
                <a:solidFill>
                  <a:srgbClr val="FFFFFF"/>
                </a:solidFill>
                <a:latin typeface="Calibri"/>
                <a:cs typeface="Calibri"/>
              </a:rPr>
              <a:t>query</a:t>
            </a:r>
            <a:r>
              <a:rPr sz="1800" spc="-40" dirty="0">
                <a:solidFill>
                  <a:srgbClr val="FFFFFF"/>
                </a:solidFill>
                <a:latin typeface="Calibri"/>
                <a:cs typeface="Calibri"/>
              </a:rPr>
              <a:t> </a:t>
            </a:r>
            <a:r>
              <a:rPr sz="1800" spc="-10" dirty="0">
                <a:solidFill>
                  <a:srgbClr val="FFFFFF"/>
                </a:solidFill>
                <a:latin typeface="Calibri"/>
                <a:cs typeface="Calibri"/>
              </a:rPr>
              <a:t>agents </a:t>
            </a:r>
            <a:r>
              <a:rPr sz="1800" dirty="0">
                <a:solidFill>
                  <a:srgbClr val="FFFFFF"/>
                </a:solidFill>
                <a:latin typeface="Calibri"/>
                <a:cs typeface="Calibri"/>
              </a:rPr>
              <a:t>leverage</a:t>
            </a:r>
            <a:r>
              <a:rPr sz="1800" spc="-55" dirty="0">
                <a:solidFill>
                  <a:srgbClr val="FFFFFF"/>
                </a:solidFill>
                <a:latin typeface="Calibri"/>
                <a:cs typeface="Calibri"/>
              </a:rPr>
              <a:t> </a:t>
            </a:r>
            <a:r>
              <a:rPr sz="1800" dirty="0">
                <a:solidFill>
                  <a:srgbClr val="FFFFFF"/>
                </a:solidFill>
                <a:latin typeface="Calibri"/>
                <a:cs typeface="Calibri"/>
              </a:rPr>
              <a:t>the</a:t>
            </a:r>
            <a:r>
              <a:rPr sz="1800" spc="-50" dirty="0">
                <a:solidFill>
                  <a:srgbClr val="FFFFFF"/>
                </a:solidFill>
                <a:latin typeface="Calibri"/>
                <a:cs typeface="Calibri"/>
              </a:rPr>
              <a:t> </a:t>
            </a:r>
            <a:r>
              <a:rPr sz="1800" dirty="0">
                <a:solidFill>
                  <a:srgbClr val="FFFFFF"/>
                </a:solidFill>
                <a:latin typeface="Calibri"/>
                <a:cs typeface="Calibri"/>
              </a:rPr>
              <a:t>respective</a:t>
            </a:r>
            <a:r>
              <a:rPr sz="1800" spc="10" dirty="0">
                <a:solidFill>
                  <a:srgbClr val="FFFFFF"/>
                </a:solidFill>
                <a:latin typeface="Calibri"/>
                <a:cs typeface="Calibri"/>
              </a:rPr>
              <a:t> </a:t>
            </a:r>
            <a:r>
              <a:rPr sz="1800" b="1" spc="-10" dirty="0">
                <a:solidFill>
                  <a:srgbClr val="FFD966"/>
                </a:solidFill>
                <a:latin typeface="Calibri"/>
                <a:cs typeface="Calibri"/>
              </a:rPr>
              <a:t>Snowflake </a:t>
            </a:r>
            <a:r>
              <a:rPr sz="1800" b="1" dirty="0">
                <a:solidFill>
                  <a:srgbClr val="FFD966"/>
                </a:solidFill>
                <a:latin typeface="Calibri"/>
                <a:cs typeface="Calibri"/>
              </a:rPr>
              <a:t>Cortex</a:t>
            </a:r>
            <a:r>
              <a:rPr sz="1800" b="1" spc="-25" dirty="0">
                <a:solidFill>
                  <a:srgbClr val="FFD966"/>
                </a:solidFill>
                <a:latin typeface="Calibri"/>
                <a:cs typeface="Calibri"/>
              </a:rPr>
              <a:t> </a:t>
            </a:r>
            <a:r>
              <a:rPr sz="1800" b="1" dirty="0">
                <a:solidFill>
                  <a:srgbClr val="FFD966"/>
                </a:solidFill>
                <a:latin typeface="Calibri"/>
                <a:cs typeface="Calibri"/>
              </a:rPr>
              <a:t>Analyst</a:t>
            </a:r>
            <a:r>
              <a:rPr sz="1800" b="1" spc="-40" dirty="0">
                <a:solidFill>
                  <a:srgbClr val="FFD966"/>
                </a:solidFill>
                <a:latin typeface="Calibri"/>
                <a:cs typeface="Calibri"/>
              </a:rPr>
              <a:t> </a:t>
            </a:r>
            <a:r>
              <a:rPr sz="1800" b="1" dirty="0">
                <a:solidFill>
                  <a:srgbClr val="FFD966"/>
                </a:solidFill>
                <a:latin typeface="Calibri"/>
                <a:cs typeface="Calibri"/>
              </a:rPr>
              <a:t>and</a:t>
            </a:r>
            <a:r>
              <a:rPr sz="1800" b="1" spc="-10" dirty="0">
                <a:solidFill>
                  <a:srgbClr val="FFD966"/>
                </a:solidFill>
                <a:latin typeface="Calibri"/>
                <a:cs typeface="Calibri"/>
              </a:rPr>
              <a:t> Search </a:t>
            </a:r>
            <a:r>
              <a:rPr sz="1800" dirty="0">
                <a:solidFill>
                  <a:srgbClr val="FFFFFF"/>
                </a:solidFill>
                <a:latin typeface="Calibri"/>
                <a:cs typeface="Calibri"/>
              </a:rPr>
              <a:t>components</a:t>
            </a:r>
            <a:r>
              <a:rPr sz="1800" spc="-40" dirty="0">
                <a:solidFill>
                  <a:srgbClr val="FFFFFF"/>
                </a:solidFill>
                <a:latin typeface="Calibri"/>
                <a:cs typeface="Calibri"/>
              </a:rPr>
              <a:t> </a:t>
            </a:r>
            <a:r>
              <a:rPr sz="1800" dirty="0">
                <a:solidFill>
                  <a:srgbClr val="FFFFFF"/>
                </a:solidFill>
                <a:latin typeface="Calibri"/>
                <a:cs typeface="Calibri"/>
              </a:rPr>
              <a:t>detailed</a:t>
            </a:r>
            <a:r>
              <a:rPr sz="1800" spc="-45" dirty="0">
                <a:solidFill>
                  <a:srgbClr val="FFFFFF"/>
                </a:solidFill>
                <a:latin typeface="Calibri"/>
                <a:cs typeface="Calibri"/>
              </a:rPr>
              <a:t> </a:t>
            </a:r>
            <a:r>
              <a:rPr sz="1800" dirty="0">
                <a:solidFill>
                  <a:srgbClr val="FFFFFF"/>
                </a:solidFill>
                <a:latin typeface="Calibri"/>
                <a:cs typeface="Calibri"/>
              </a:rPr>
              <a:t>earlier</a:t>
            </a:r>
            <a:r>
              <a:rPr sz="1800" spc="-30" dirty="0">
                <a:solidFill>
                  <a:srgbClr val="FFFFFF"/>
                </a:solidFill>
                <a:latin typeface="Calibri"/>
                <a:cs typeface="Calibri"/>
              </a:rPr>
              <a:t> </a:t>
            </a:r>
            <a:r>
              <a:rPr sz="1800" spc="-25" dirty="0">
                <a:solidFill>
                  <a:srgbClr val="FFFFFF"/>
                </a:solidFill>
                <a:latin typeface="Calibri"/>
                <a:cs typeface="Calibri"/>
              </a:rPr>
              <a:t>to </a:t>
            </a:r>
            <a:r>
              <a:rPr sz="1800" dirty="0">
                <a:solidFill>
                  <a:srgbClr val="FFFFFF"/>
                </a:solidFill>
                <a:latin typeface="Calibri"/>
                <a:cs typeface="Calibri"/>
              </a:rPr>
              <a:t>query</a:t>
            </a:r>
            <a:r>
              <a:rPr sz="1800" spc="-45" dirty="0">
                <a:solidFill>
                  <a:srgbClr val="FFFFFF"/>
                </a:solidFill>
                <a:latin typeface="Calibri"/>
                <a:cs typeface="Calibri"/>
              </a:rPr>
              <a:t> </a:t>
            </a:r>
            <a:r>
              <a:rPr sz="1800" dirty="0">
                <a:solidFill>
                  <a:srgbClr val="FFFFFF"/>
                </a:solidFill>
                <a:latin typeface="Calibri"/>
                <a:cs typeface="Calibri"/>
              </a:rPr>
              <a:t>the</a:t>
            </a:r>
            <a:r>
              <a:rPr sz="1800" spc="-45" dirty="0">
                <a:solidFill>
                  <a:srgbClr val="FFFFFF"/>
                </a:solidFill>
                <a:latin typeface="Calibri"/>
                <a:cs typeface="Calibri"/>
              </a:rPr>
              <a:t> </a:t>
            </a:r>
            <a:r>
              <a:rPr sz="1800" dirty="0">
                <a:solidFill>
                  <a:srgbClr val="FFFFFF"/>
                </a:solidFill>
                <a:latin typeface="Calibri"/>
                <a:cs typeface="Calibri"/>
              </a:rPr>
              <a:t>underlying</a:t>
            </a:r>
            <a:r>
              <a:rPr sz="1800" spc="-5" dirty="0">
                <a:solidFill>
                  <a:srgbClr val="FFFFFF"/>
                </a:solidFill>
                <a:latin typeface="Calibri"/>
                <a:cs typeface="Calibri"/>
              </a:rPr>
              <a:t> </a:t>
            </a:r>
            <a:r>
              <a:rPr sz="1800" dirty="0">
                <a:solidFill>
                  <a:srgbClr val="FFFFFF"/>
                </a:solidFill>
                <a:latin typeface="Calibri"/>
                <a:cs typeface="Calibri"/>
              </a:rPr>
              <a:t>SQL</a:t>
            </a:r>
            <a:r>
              <a:rPr sz="1800" spc="10" dirty="0">
                <a:solidFill>
                  <a:srgbClr val="FFFFFF"/>
                </a:solidFill>
                <a:latin typeface="Calibri"/>
                <a:cs typeface="Calibri"/>
              </a:rPr>
              <a:t> </a:t>
            </a:r>
            <a:r>
              <a:rPr sz="1800" spc="-25" dirty="0">
                <a:solidFill>
                  <a:srgbClr val="FFFFFF"/>
                </a:solidFill>
                <a:latin typeface="Calibri"/>
                <a:cs typeface="Calibri"/>
              </a:rPr>
              <a:t>and </a:t>
            </a:r>
            <a:r>
              <a:rPr sz="1800" dirty="0">
                <a:solidFill>
                  <a:srgbClr val="FFFFFF"/>
                </a:solidFill>
                <a:latin typeface="Calibri"/>
                <a:cs typeface="Calibri"/>
              </a:rPr>
              <a:t>Document</a:t>
            </a:r>
            <a:r>
              <a:rPr sz="1800" spc="-45" dirty="0">
                <a:solidFill>
                  <a:srgbClr val="FFFFFF"/>
                </a:solidFill>
                <a:latin typeface="Calibri"/>
                <a:cs typeface="Calibri"/>
              </a:rPr>
              <a:t> </a:t>
            </a:r>
            <a:r>
              <a:rPr sz="1800" spc="-10" dirty="0">
                <a:solidFill>
                  <a:srgbClr val="FFFFFF"/>
                </a:solidFill>
                <a:latin typeface="Calibri"/>
                <a:cs typeface="Calibri"/>
              </a:rPr>
              <a:t>repositories.</a:t>
            </a:r>
            <a:endParaRPr sz="1800">
              <a:latin typeface="Calibri"/>
              <a:cs typeface="Calibri"/>
            </a:endParaRPr>
          </a:p>
        </p:txBody>
      </p:sp>
      <p:pic>
        <p:nvPicPr>
          <p:cNvPr id="8" name="object 8"/>
          <p:cNvPicPr/>
          <p:nvPr/>
        </p:nvPicPr>
        <p:blipFill>
          <a:blip r:embed="rId5" cstate="print"/>
          <a:stretch>
            <a:fillRect/>
          </a:stretch>
        </p:blipFill>
        <p:spPr>
          <a:xfrm>
            <a:off x="4410075" y="781050"/>
            <a:ext cx="7678204" cy="4758071"/>
          </a:xfrm>
          <a:prstGeom prst="rect">
            <a:avLst/>
          </a:prstGeom>
        </p:spPr>
      </p:pic>
      <p:sp>
        <p:nvSpPr>
          <p:cNvPr id="9" name="object 9"/>
          <p:cNvSpPr/>
          <p:nvPr/>
        </p:nvSpPr>
        <p:spPr>
          <a:xfrm>
            <a:off x="266700" y="4267200"/>
            <a:ext cx="4029075" cy="1628775"/>
          </a:xfrm>
          <a:custGeom>
            <a:avLst/>
            <a:gdLst/>
            <a:ahLst/>
            <a:cxnLst/>
            <a:rect l="l" t="t" r="r" b="b"/>
            <a:pathLst>
              <a:path w="4029075" h="1628775">
                <a:moveTo>
                  <a:pt x="4029075" y="0"/>
                </a:moveTo>
                <a:lnTo>
                  <a:pt x="0" y="0"/>
                </a:lnTo>
                <a:lnTo>
                  <a:pt x="0" y="1628775"/>
                </a:lnTo>
                <a:lnTo>
                  <a:pt x="3757676" y="1613903"/>
                </a:lnTo>
                <a:lnTo>
                  <a:pt x="4029075" y="0"/>
                </a:lnTo>
                <a:close/>
              </a:path>
            </a:pathLst>
          </a:custGeom>
          <a:solidFill>
            <a:srgbClr val="002384"/>
          </a:solidFill>
        </p:spPr>
        <p:txBody>
          <a:bodyPr wrap="square" lIns="0" tIns="0" rIns="0" bIns="0" rtlCol="0"/>
          <a:lstStyle/>
          <a:p>
            <a:endParaRPr/>
          </a:p>
        </p:txBody>
      </p:sp>
      <p:sp>
        <p:nvSpPr>
          <p:cNvPr id="10" name="object 10"/>
          <p:cNvSpPr txBox="1"/>
          <p:nvPr/>
        </p:nvSpPr>
        <p:spPr>
          <a:xfrm>
            <a:off x="468312" y="4394898"/>
            <a:ext cx="3410585" cy="1406525"/>
          </a:xfrm>
          <a:prstGeom prst="rect">
            <a:avLst/>
          </a:prstGeom>
        </p:spPr>
        <p:txBody>
          <a:bodyPr vert="horz" wrap="square" lIns="0" tIns="10795" rIns="0" bIns="0" rtlCol="0">
            <a:spAutoFit/>
          </a:bodyPr>
          <a:lstStyle/>
          <a:p>
            <a:pPr marL="12700" marR="5080">
              <a:lnSpc>
                <a:spcPct val="100800"/>
              </a:lnSpc>
              <a:spcBef>
                <a:spcPts val="85"/>
              </a:spcBef>
            </a:pPr>
            <a:r>
              <a:rPr sz="1800" dirty="0">
                <a:solidFill>
                  <a:srgbClr val="FFFFFF"/>
                </a:solidFill>
                <a:latin typeface="Calibri"/>
                <a:cs typeface="Calibri"/>
              </a:rPr>
              <a:t>Finally,</a:t>
            </a:r>
            <a:r>
              <a:rPr sz="1800" spc="-55" dirty="0">
                <a:solidFill>
                  <a:srgbClr val="FFFFFF"/>
                </a:solidFill>
                <a:latin typeface="Calibri"/>
                <a:cs typeface="Calibri"/>
              </a:rPr>
              <a:t> </a:t>
            </a:r>
            <a:r>
              <a:rPr sz="1800" dirty="0">
                <a:solidFill>
                  <a:srgbClr val="FFFFFF"/>
                </a:solidFill>
                <a:latin typeface="Calibri"/>
                <a:cs typeface="Calibri"/>
              </a:rPr>
              <a:t>to</a:t>
            </a:r>
            <a:r>
              <a:rPr sz="1800" spc="-30" dirty="0">
                <a:solidFill>
                  <a:srgbClr val="FFFFFF"/>
                </a:solidFill>
                <a:latin typeface="Calibri"/>
                <a:cs typeface="Calibri"/>
              </a:rPr>
              <a:t> </a:t>
            </a:r>
            <a:r>
              <a:rPr sz="1800" dirty="0">
                <a:solidFill>
                  <a:srgbClr val="FFFFFF"/>
                </a:solidFill>
                <a:latin typeface="Calibri"/>
                <a:cs typeface="Calibri"/>
              </a:rPr>
              <a:t>complete</a:t>
            </a:r>
            <a:r>
              <a:rPr sz="1800" spc="20" dirty="0">
                <a:solidFill>
                  <a:srgbClr val="FFFFFF"/>
                </a:solidFill>
                <a:latin typeface="Calibri"/>
                <a:cs typeface="Calibri"/>
              </a:rPr>
              <a:t> </a:t>
            </a:r>
            <a:r>
              <a:rPr sz="1800" dirty="0">
                <a:solidFill>
                  <a:srgbClr val="FFFFFF"/>
                </a:solidFill>
                <a:latin typeface="Calibri"/>
                <a:cs typeface="Calibri"/>
              </a:rPr>
              <a:t>the</a:t>
            </a:r>
            <a:r>
              <a:rPr sz="1800" spc="-20" dirty="0">
                <a:solidFill>
                  <a:srgbClr val="FFFFFF"/>
                </a:solidFill>
                <a:latin typeface="Calibri"/>
                <a:cs typeface="Calibri"/>
              </a:rPr>
              <a:t> </a:t>
            </a:r>
            <a:r>
              <a:rPr sz="1800" b="1" spc="-25" dirty="0">
                <a:solidFill>
                  <a:srgbClr val="FFD966"/>
                </a:solidFill>
                <a:latin typeface="Calibri"/>
                <a:cs typeface="Calibri"/>
              </a:rPr>
              <a:t>RAG </a:t>
            </a:r>
            <a:r>
              <a:rPr sz="1800" b="1" dirty="0">
                <a:solidFill>
                  <a:srgbClr val="FFD966"/>
                </a:solidFill>
                <a:latin typeface="Calibri"/>
                <a:cs typeface="Calibri"/>
              </a:rPr>
              <a:t>pipeline</a:t>
            </a:r>
            <a:r>
              <a:rPr sz="1800" dirty="0">
                <a:solidFill>
                  <a:srgbClr val="FFFFFF"/>
                </a:solidFill>
                <a:latin typeface="Calibri"/>
                <a:cs typeface="Calibri"/>
              </a:rPr>
              <a:t>,</a:t>
            </a:r>
            <a:r>
              <a:rPr sz="1800" spc="5" dirty="0">
                <a:solidFill>
                  <a:srgbClr val="FFFFFF"/>
                </a:solidFill>
                <a:latin typeface="Calibri"/>
                <a:cs typeface="Calibri"/>
              </a:rPr>
              <a:t> </a:t>
            </a:r>
            <a:r>
              <a:rPr sz="1800" dirty="0">
                <a:solidFill>
                  <a:srgbClr val="FFFFFF"/>
                </a:solidFill>
                <a:latin typeface="Calibri"/>
                <a:cs typeface="Calibri"/>
              </a:rPr>
              <a:t>the</a:t>
            </a:r>
            <a:r>
              <a:rPr sz="1800" spc="5" dirty="0">
                <a:solidFill>
                  <a:srgbClr val="FFFFFF"/>
                </a:solidFill>
                <a:latin typeface="Calibri"/>
                <a:cs typeface="Calibri"/>
              </a:rPr>
              <a:t> </a:t>
            </a:r>
            <a:r>
              <a:rPr sz="1800" dirty="0">
                <a:solidFill>
                  <a:srgbClr val="FFFFFF"/>
                </a:solidFill>
                <a:latin typeface="Calibri"/>
                <a:cs typeface="Calibri"/>
              </a:rPr>
              <a:t>retrieved</a:t>
            </a:r>
            <a:r>
              <a:rPr sz="1800" spc="-35" dirty="0">
                <a:solidFill>
                  <a:srgbClr val="FFFFFF"/>
                </a:solidFill>
                <a:latin typeface="Calibri"/>
                <a:cs typeface="Calibri"/>
              </a:rPr>
              <a:t> </a:t>
            </a:r>
            <a:r>
              <a:rPr sz="1800" dirty="0">
                <a:solidFill>
                  <a:srgbClr val="FFFFFF"/>
                </a:solidFill>
                <a:latin typeface="Calibri"/>
                <a:cs typeface="Calibri"/>
              </a:rPr>
              <a:t>data</a:t>
            </a:r>
            <a:r>
              <a:rPr sz="1800" spc="-35" dirty="0">
                <a:solidFill>
                  <a:srgbClr val="FFFFFF"/>
                </a:solidFill>
                <a:latin typeface="Calibri"/>
                <a:cs typeface="Calibri"/>
              </a:rPr>
              <a:t> </a:t>
            </a:r>
            <a:r>
              <a:rPr sz="1800" dirty="0">
                <a:solidFill>
                  <a:srgbClr val="FFFFFF"/>
                </a:solidFill>
                <a:latin typeface="Calibri"/>
                <a:cs typeface="Calibri"/>
              </a:rPr>
              <a:t>is</a:t>
            </a:r>
            <a:r>
              <a:rPr sz="1800" spc="-95" dirty="0">
                <a:solidFill>
                  <a:srgbClr val="FFFFFF"/>
                </a:solidFill>
                <a:latin typeface="Calibri"/>
                <a:cs typeface="Calibri"/>
              </a:rPr>
              <a:t> </a:t>
            </a:r>
            <a:r>
              <a:rPr sz="1800" spc="-10" dirty="0">
                <a:solidFill>
                  <a:srgbClr val="FFFFFF"/>
                </a:solidFill>
                <a:latin typeface="Calibri"/>
                <a:cs typeface="Calibri"/>
              </a:rPr>
              <a:t>added </a:t>
            </a:r>
            <a:r>
              <a:rPr sz="1800" dirty="0">
                <a:solidFill>
                  <a:srgbClr val="FFFFFF"/>
                </a:solidFill>
                <a:latin typeface="Calibri"/>
                <a:cs typeface="Calibri"/>
              </a:rPr>
              <a:t>to</a:t>
            </a:r>
            <a:r>
              <a:rPr sz="1800" spc="-15" dirty="0">
                <a:solidFill>
                  <a:srgbClr val="FFFFFF"/>
                </a:solidFill>
                <a:latin typeface="Calibri"/>
                <a:cs typeface="Calibri"/>
              </a:rPr>
              <a:t> </a:t>
            </a:r>
            <a:r>
              <a:rPr sz="1800" dirty="0">
                <a:solidFill>
                  <a:srgbClr val="FFFFFF"/>
                </a:solidFill>
                <a:latin typeface="Calibri"/>
                <a:cs typeface="Calibri"/>
              </a:rPr>
              <a:t>the</a:t>
            </a:r>
            <a:r>
              <a:rPr sz="1800" spc="-30" dirty="0">
                <a:solidFill>
                  <a:srgbClr val="FFFFFF"/>
                </a:solidFill>
                <a:latin typeface="Calibri"/>
                <a:cs typeface="Calibri"/>
              </a:rPr>
              <a:t> </a:t>
            </a:r>
            <a:r>
              <a:rPr sz="1800" dirty="0">
                <a:solidFill>
                  <a:srgbClr val="FFFFFF"/>
                </a:solidFill>
                <a:latin typeface="Calibri"/>
                <a:cs typeface="Calibri"/>
              </a:rPr>
              <a:t>original</a:t>
            </a:r>
            <a:r>
              <a:rPr sz="1800" spc="380" dirty="0">
                <a:solidFill>
                  <a:srgbClr val="FFFFFF"/>
                </a:solidFill>
                <a:latin typeface="Calibri"/>
                <a:cs typeface="Calibri"/>
              </a:rPr>
              <a:t> </a:t>
            </a:r>
            <a:r>
              <a:rPr sz="1800" dirty="0">
                <a:solidFill>
                  <a:srgbClr val="FFFFFF"/>
                </a:solidFill>
                <a:latin typeface="Calibri"/>
                <a:cs typeface="Calibri"/>
              </a:rPr>
              <a:t>prompt</a:t>
            </a:r>
            <a:r>
              <a:rPr sz="1800" spc="15" dirty="0">
                <a:solidFill>
                  <a:srgbClr val="FFFFFF"/>
                </a:solidFill>
                <a:latin typeface="Calibri"/>
                <a:cs typeface="Calibri"/>
              </a:rPr>
              <a:t> </a:t>
            </a:r>
            <a:r>
              <a:rPr sz="1800" dirty="0">
                <a:solidFill>
                  <a:srgbClr val="FFFFFF"/>
                </a:solidFill>
                <a:latin typeface="Calibri"/>
                <a:cs typeface="Calibri"/>
              </a:rPr>
              <a:t>— </a:t>
            </a:r>
            <a:r>
              <a:rPr sz="1800" spc="-10" dirty="0">
                <a:solidFill>
                  <a:srgbClr val="FFFFFF"/>
                </a:solidFill>
                <a:latin typeface="Calibri"/>
                <a:cs typeface="Calibri"/>
              </a:rPr>
              <a:t>leading </a:t>
            </a:r>
            <a:r>
              <a:rPr sz="1800" dirty="0">
                <a:solidFill>
                  <a:srgbClr val="FFFFFF"/>
                </a:solidFill>
                <a:latin typeface="Calibri"/>
                <a:cs typeface="Calibri"/>
              </a:rPr>
              <a:t>the</a:t>
            </a:r>
            <a:r>
              <a:rPr sz="1800" spc="-40" dirty="0">
                <a:solidFill>
                  <a:srgbClr val="FFFFFF"/>
                </a:solidFill>
                <a:latin typeface="Calibri"/>
                <a:cs typeface="Calibri"/>
              </a:rPr>
              <a:t> </a:t>
            </a:r>
            <a:r>
              <a:rPr sz="1800" dirty="0">
                <a:solidFill>
                  <a:srgbClr val="FFFFFF"/>
                </a:solidFill>
                <a:latin typeface="Calibri"/>
                <a:cs typeface="Calibri"/>
              </a:rPr>
              <a:t>generation</a:t>
            </a:r>
            <a:r>
              <a:rPr sz="1800" spc="-20" dirty="0">
                <a:solidFill>
                  <a:srgbClr val="FFFFFF"/>
                </a:solidFill>
                <a:latin typeface="Calibri"/>
                <a:cs typeface="Calibri"/>
              </a:rPr>
              <a:t> </a:t>
            </a:r>
            <a:r>
              <a:rPr sz="1800" dirty="0">
                <a:solidFill>
                  <a:srgbClr val="FFFFFF"/>
                </a:solidFill>
                <a:latin typeface="Calibri"/>
                <a:cs typeface="Calibri"/>
              </a:rPr>
              <a:t>of</a:t>
            </a:r>
            <a:r>
              <a:rPr sz="1800" spc="5" dirty="0">
                <a:solidFill>
                  <a:srgbClr val="FFFFFF"/>
                </a:solidFill>
                <a:latin typeface="Calibri"/>
                <a:cs typeface="Calibri"/>
              </a:rPr>
              <a:t> </a:t>
            </a:r>
            <a:r>
              <a:rPr sz="1800" dirty="0">
                <a:solidFill>
                  <a:srgbClr val="FFFFFF"/>
                </a:solidFill>
                <a:latin typeface="Calibri"/>
                <a:cs typeface="Calibri"/>
              </a:rPr>
              <a:t>a</a:t>
            </a:r>
            <a:r>
              <a:rPr sz="1800" spc="-10" dirty="0">
                <a:solidFill>
                  <a:srgbClr val="FFFFFF"/>
                </a:solidFill>
                <a:latin typeface="Calibri"/>
                <a:cs typeface="Calibri"/>
              </a:rPr>
              <a:t> contextualized response.</a:t>
            </a:r>
            <a:endParaRPr sz="1800">
              <a:latin typeface="Calibri"/>
              <a:cs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2274570">
              <a:lnSpc>
                <a:spcPct val="100000"/>
              </a:lnSpc>
              <a:spcBef>
                <a:spcPts val="105"/>
              </a:spcBef>
            </a:pPr>
            <a:r>
              <a:rPr dirty="0"/>
              <a:t>Reinforcement</a:t>
            </a:r>
            <a:r>
              <a:rPr spc="-130" dirty="0"/>
              <a:t> </a:t>
            </a:r>
            <a:r>
              <a:rPr dirty="0"/>
              <a:t>Learning</a:t>
            </a:r>
            <a:r>
              <a:rPr spc="-70" dirty="0"/>
              <a:t> </a:t>
            </a:r>
            <a:r>
              <a:rPr spc="-10" dirty="0"/>
              <a:t>Agents</a:t>
            </a:r>
          </a:p>
        </p:txBody>
      </p:sp>
      <p:pic>
        <p:nvPicPr>
          <p:cNvPr id="3" name="object 3"/>
          <p:cNvPicPr/>
          <p:nvPr/>
        </p:nvPicPr>
        <p:blipFill>
          <a:blip r:embed="rId2" cstate="print"/>
          <a:stretch>
            <a:fillRect/>
          </a:stretch>
        </p:blipFill>
        <p:spPr>
          <a:xfrm>
            <a:off x="838" y="6038849"/>
            <a:ext cx="12191161" cy="819149"/>
          </a:xfrm>
          <a:prstGeom prst="rect">
            <a:avLst/>
          </a:prstGeom>
        </p:spPr>
      </p:pic>
      <p:sp>
        <p:nvSpPr>
          <p:cNvPr id="4" name="object 4"/>
          <p:cNvSpPr/>
          <p:nvPr/>
        </p:nvSpPr>
        <p:spPr>
          <a:xfrm>
            <a:off x="247650" y="1371600"/>
            <a:ext cx="3676650" cy="2028825"/>
          </a:xfrm>
          <a:custGeom>
            <a:avLst/>
            <a:gdLst/>
            <a:ahLst/>
            <a:cxnLst/>
            <a:rect l="l" t="t" r="r" b="b"/>
            <a:pathLst>
              <a:path w="3676650" h="2028825">
                <a:moveTo>
                  <a:pt x="3676650" y="0"/>
                </a:moveTo>
                <a:lnTo>
                  <a:pt x="0" y="0"/>
                </a:lnTo>
                <a:lnTo>
                  <a:pt x="0" y="2028825"/>
                </a:lnTo>
                <a:lnTo>
                  <a:pt x="3429000" y="2010283"/>
                </a:lnTo>
                <a:lnTo>
                  <a:pt x="3676650" y="0"/>
                </a:lnTo>
                <a:close/>
              </a:path>
            </a:pathLst>
          </a:custGeom>
          <a:solidFill>
            <a:srgbClr val="002384"/>
          </a:solidFill>
        </p:spPr>
        <p:txBody>
          <a:bodyPr wrap="square" lIns="0" tIns="0" rIns="0" bIns="0" rtlCol="0"/>
          <a:lstStyle/>
          <a:p>
            <a:endParaRPr/>
          </a:p>
        </p:txBody>
      </p:sp>
      <p:pic>
        <p:nvPicPr>
          <p:cNvPr id="5" name="object 5"/>
          <p:cNvPicPr/>
          <p:nvPr/>
        </p:nvPicPr>
        <p:blipFill>
          <a:blip r:embed="rId3" cstate="print"/>
          <a:stretch>
            <a:fillRect/>
          </a:stretch>
        </p:blipFill>
        <p:spPr>
          <a:xfrm>
            <a:off x="4251666" y="1652396"/>
            <a:ext cx="7743015" cy="3472735"/>
          </a:xfrm>
          <a:prstGeom prst="rect">
            <a:avLst/>
          </a:prstGeom>
        </p:spPr>
      </p:pic>
      <p:sp>
        <p:nvSpPr>
          <p:cNvPr id="6" name="object 6"/>
          <p:cNvSpPr/>
          <p:nvPr/>
        </p:nvSpPr>
        <p:spPr>
          <a:xfrm>
            <a:off x="247650" y="3543300"/>
            <a:ext cx="3676650" cy="1952625"/>
          </a:xfrm>
          <a:custGeom>
            <a:avLst/>
            <a:gdLst/>
            <a:ahLst/>
            <a:cxnLst/>
            <a:rect l="l" t="t" r="r" b="b"/>
            <a:pathLst>
              <a:path w="3676650" h="1952625">
                <a:moveTo>
                  <a:pt x="3676650" y="0"/>
                </a:moveTo>
                <a:lnTo>
                  <a:pt x="0" y="0"/>
                </a:lnTo>
                <a:lnTo>
                  <a:pt x="0" y="1952625"/>
                </a:lnTo>
                <a:lnTo>
                  <a:pt x="3429000" y="1934845"/>
                </a:lnTo>
                <a:lnTo>
                  <a:pt x="3676650" y="0"/>
                </a:lnTo>
                <a:close/>
              </a:path>
            </a:pathLst>
          </a:custGeom>
          <a:solidFill>
            <a:srgbClr val="002384"/>
          </a:solidFill>
        </p:spPr>
        <p:txBody>
          <a:bodyPr wrap="square" lIns="0" tIns="0" rIns="0" bIns="0" rtlCol="0"/>
          <a:lstStyle/>
          <a:p>
            <a:endParaRPr/>
          </a:p>
        </p:txBody>
      </p:sp>
      <p:sp>
        <p:nvSpPr>
          <p:cNvPr id="7" name="object 7"/>
          <p:cNvSpPr txBox="1"/>
          <p:nvPr/>
        </p:nvSpPr>
        <p:spPr>
          <a:xfrm>
            <a:off x="453072" y="1492567"/>
            <a:ext cx="3058795" cy="3848100"/>
          </a:xfrm>
          <a:prstGeom prst="rect">
            <a:avLst/>
          </a:prstGeom>
        </p:spPr>
        <p:txBody>
          <a:bodyPr vert="horz" wrap="square" lIns="0" tIns="12700" rIns="0" bIns="0" rtlCol="0">
            <a:spAutoFit/>
          </a:bodyPr>
          <a:lstStyle/>
          <a:p>
            <a:pPr marL="12700" marR="5080">
              <a:lnSpc>
                <a:spcPct val="100099"/>
              </a:lnSpc>
              <a:spcBef>
                <a:spcPts val="100"/>
              </a:spcBef>
            </a:pPr>
            <a:r>
              <a:rPr sz="1800" dirty="0">
                <a:solidFill>
                  <a:srgbClr val="FFFFFF"/>
                </a:solidFill>
                <a:latin typeface="Calibri"/>
                <a:cs typeface="Calibri"/>
              </a:rPr>
              <a:t>When</a:t>
            </a:r>
            <a:r>
              <a:rPr sz="1800" spc="-20" dirty="0">
                <a:solidFill>
                  <a:srgbClr val="FFFFFF"/>
                </a:solidFill>
                <a:latin typeface="Calibri"/>
                <a:cs typeface="Calibri"/>
              </a:rPr>
              <a:t> </a:t>
            </a:r>
            <a:r>
              <a:rPr sz="1800" dirty="0">
                <a:solidFill>
                  <a:srgbClr val="FFFFFF"/>
                </a:solidFill>
                <a:latin typeface="Calibri"/>
                <a:cs typeface="Calibri"/>
              </a:rPr>
              <a:t>we</a:t>
            </a:r>
            <a:r>
              <a:rPr sz="1800" spc="25" dirty="0">
                <a:solidFill>
                  <a:srgbClr val="FFFFFF"/>
                </a:solidFill>
                <a:latin typeface="Calibri"/>
                <a:cs typeface="Calibri"/>
              </a:rPr>
              <a:t> </a:t>
            </a:r>
            <a:r>
              <a:rPr sz="1800" dirty="0">
                <a:solidFill>
                  <a:srgbClr val="FFFFFF"/>
                </a:solidFill>
                <a:latin typeface="Calibri"/>
                <a:cs typeface="Calibri"/>
              </a:rPr>
              <a:t>talk</a:t>
            </a:r>
            <a:r>
              <a:rPr sz="1800" spc="-40" dirty="0">
                <a:solidFill>
                  <a:srgbClr val="FFFFFF"/>
                </a:solidFill>
                <a:latin typeface="Calibri"/>
                <a:cs typeface="Calibri"/>
              </a:rPr>
              <a:t> </a:t>
            </a:r>
            <a:r>
              <a:rPr sz="1800" dirty="0">
                <a:solidFill>
                  <a:srgbClr val="FFFFFF"/>
                </a:solidFill>
                <a:latin typeface="Calibri"/>
                <a:cs typeface="Calibri"/>
              </a:rPr>
              <a:t>about</a:t>
            </a:r>
            <a:r>
              <a:rPr sz="1800" spc="-50" dirty="0">
                <a:solidFill>
                  <a:srgbClr val="FFFFFF"/>
                </a:solidFill>
                <a:latin typeface="Calibri"/>
                <a:cs typeface="Calibri"/>
              </a:rPr>
              <a:t> </a:t>
            </a:r>
            <a:r>
              <a:rPr sz="1800" dirty="0">
                <a:solidFill>
                  <a:srgbClr val="FFFFFF"/>
                </a:solidFill>
                <a:latin typeface="Calibri"/>
                <a:cs typeface="Calibri"/>
              </a:rPr>
              <a:t>AI</a:t>
            </a:r>
            <a:r>
              <a:rPr sz="1800" spc="20" dirty="0">
                <a:solidFill>
                  <a:srgbClr val="FFFFFF"/>
                </a:solidFill>
                <a:latin typeface="Calibri"/>
                <a:cs typeface="Calibri"/>
              </a:rPr>
              <a:t> </a:t>
            </a:r>
            <a:r>
              <a:rPr sz="1800" spc="-10" dirty="0">
                <a:solidFill>
                  <a:srgbClr val="FFFFFF"/>
                </a:solidFill>
                <a:latin typeface="Calibri"/>
                <a:cs typeface="Calibri"/>
              </a:rPr>
              <a:t>agents </a:t>
            </a:r>
            <a:r>
              <a:rPr sz="1800" dirty="0">
                <a:solidFill>
                  <a:srgbClr val="FFFFFF"/>
                </a:solidFill>
                <a:latin typeface="Calibri"/>
                <a:cs typeface="Calibri"/>
              </a:rPr>
              <a:t>today,</a:t>
            </a:r>
            <a:r>
              <a:rPr sz="1800" spc="-45" dirty="0">
                <a:solidFill>
                  <a:srgbClr val="FFFFFF"/>
                </a:solidFill>
                <a:latin typeface="Calibri"/>
                <a:cs typeface="Calibri"/>
              </a:rPr>
              <a:t> </a:t>
            </a:r>
            <a:r>
              <a:rPr sz="1800" dirty="0">
                <a:solidFill>
                  <a:srgbClr val="FFFFFF"/>
                </a:solidFill>
                <a:latin typeface="Calibri"/>
                <a:cs typeface="Calibri"/>
              </a:rPr>
              <a:t>we</a:t>
            </a:r>
            <a:r>
              <a:rPr sz="1800" spc="30" dirty="0">
                <a:solidFill>
                  <a:srgbClr val="FFFFFF"/>
                </a:solidFill>
                <a:latin typeface="Calibri"/>
                <a:cs typeface="Calibri"/>
              </a:rPr>
              <a:t> </a:t>
            </a:r>
            <a:r>
              <a:rPr sz="1800" dirty="0">
                <a:solidFill>
                  <a:srgbClr val="FFFFFF"/>
                </a:solidFill>
                <a:latin typeface="Calibri"/>
                <a:cs typeface="Calibri"/>
              </a:rPr>
              <a:t>mostly</a:t>
            </a:r>
            <a:r>
              <a:rPr sz="1800" spc="-35" dirty="0">
                <a:solidFill>
                  <a:srgbClr val="FFFFFF"/>
                </a:solidFill>
                <a:latin typeface="Calibri"/>
                <a:cs typeface="Calibri"/>
              </a:rPr>
              <a:t> </a:t>
            </a:r>
            <a:r>
              <a:rPr sz="1800" dirty="0">
                <a:solidFill>
                  <a:srgbClr val="FFFFFF"/>
                </a:solidFill>
                <a:latin typeface="Calibri"/>
                <a:cs typeface="Calibri"/>
              </a:rPr>
              <a:t>talk</a:t>
            </a:r>
            <a:r>
              <a:rPr sz="1800" spc="-40" dirty="0">
                <a:solidFill>
                  <a:srgbClr val="FFFFFF"/>
                </a:solidFill>
                <a:latin typeface="Calibri"/>
                <a:cs typeface="Calibri"/>
              </a:rPr>
              <a:t> </a:t>
            </a:r>
            <a:r>
              <a:rPr sz="1800" dirty="0">
                <a:solidFill>
                  <a:srgbClr val="FFFFFF"/>
                </a:solidFill>
                <a:latin typeface="Calibri"/>
                <a:cs typeface="Calibri"/>
              </a:rPr>
              <a:t>about</a:t>
            </a:r>
            <a:r>
              <a:rPr sz="1800" spc="-5" dirty="0">
                <a:solidFill>
                  <a:srgbClr val="FFFFFF"/>
                </a:solidFill>
                <a:latin typeface="Calibri"/>
                <a:cs typeface="Calibri"/>
              </a:rPr>
              <a:t> </a:t>
            </a:r>
            <a:r>
              <a:rPr sz="1800" b="1" spc="-25" dirty="0">
                <a:solidFill>
                  <a:srgbClr val="FFD966"/>
                </a:solidFill>
                <a:latin typeface="Calibri"/>
                <a:cs typeface="Calibri"/>
              </a:rPr>
              <a:t>LLM </a:t>
            </a:r>
            <a:r>
              <a:rPr sz="1800" b="1" dirty="0">
                <a:solidFill>
                  <a:srgbClr val="FFD966"/>
                </a:solidFill>
                <a:latin typeface="Calibri"/>
                <a:cs typeface="Calibri"/>
              </a:rPr>
              <a:t>agents</a:t>
            </a:r>
            <a:r>
              <a:rPr sz="1800" dirty="0">
                <a:solidFill>
                  <a:srgbClr val="FFFFFF"/>
                </a:solidFill>
                <a:latin typeface="Calibri"/>
                <a:cs typeface="Calibri"/>
              </a:rPr>
              <a:t>, which</a:t>
            </a:r>
            <a:r>
              <a:rPr sz="1800" spc="-40" dirty="0">
                <a:solidFill>
                  <a:srgbClr val="FFFFFF"/>
                </a:solidFill>
                <a:latin typeface="Calibri"/>
                <a:cs typeface="Calibri"/>
              </a:rPr>
              <a:t> </a:t>
            </a:r>
            <a:r>
              <a:rPr sz="1800" dirty="0">
                <a:solidFill>
                  <a:srgbClr val="FFFFFF"/>
                </a:solidFill>
                <a:latin typeface="Calibri"/>
                <a:cs typeface="Calibri"/>
              </a:rPr>
              <a:t>loosely</a:t>
            </a:r>
            <a:r>
              <a:rPr sz="1800" spc="-60" dirty="0">
                <a:solidFill>
                  <a:srgbClr val="FFFFFF"/>
                </a:solidFill>
                <a:latin typeface="Calibri"/>
                <a:cs typeface="Calibri"/>
              </a:rPr>
              <a:t> </a:t>
            </a:r>
            <a:r>
              <a:rPr sz="1800" spc="-10" dirty="0">
                <a:solidFill>
                  <a:srgbClr val="FFFFFF"/>
                </a:solidFill>
                <a:latin typeface="Calibri"/>
                <a:cs typeface="Calibri"/>
              </a:rPr>
              <a:t>translates </a:t>
            </a:r>
            <a:r>
              <a:rPr sz="1800" dirty="0">
                <a:solidFill>
                  <a:srgbClr val="FFFFFF"/>
                </a:solidFill>
                <a:latin typeface="Calibri"/>
                <a:cs typeface="Calibri"/>
              </a:rPr>
              <a:t>to</a:t>
            </a:r>
            <a:r>
              <a:rPr sz="1800" spc="-60" dirty="0">
                <a:solidFill>
                  <a:srgbClr val="FFFFFF"/>
                </a:solidFill>
                <a:latin typeface="Calibri"/>
                <a:cs typeface="Calibri"/>
              </a:rPr>
              <a:t> </a:t>
            </a:r>
            <a:r>
              <a:rPr sz="1800" dirty="0">
                <a:solidFill>
                  <a:srgbClr val="FFFFFF"/>
                </a:solidFill>
                <a:latin typeface="Calibri"/>
                <a:cs typeface="Calibri"/>
              </a:rPr>
              <a:t>invoking</a:t>
            </a:r>
            <a:r>
              <a:rPr sz="1800" spc="-25" dirty="0">
                <a:solidFill>
                  <a:srgbClr val="FFFFFF"/>
                </a:solidFill>
                <a:latin typeface="Calibri"/>
                <a:cs typeface="Calibri"/>
              </a:rPr>
              <a:t> </a:t>
            </a:r>
            <a:r>
              <a:rPr sz="1800" dirty="0">
                <a:solidFill>
                  <a:srgbClr val="FFFFFF"/>
                </a:solidFill>
                <a:latin typeface="Calibri"/>
                <a:cs typeface="Calibri"/>
              </a:rPr>
              <a:t>(prompting)</a:t>
            </a:r>
            <a:r>
              <a:rPr sz="1800" spc="-30" dirty="0">
                <a:solidFill>
                  <a:srgbClr val="FFFFFF"/>
                </a:solidFill>
                <a:latin typeface="Calibri"/>
                <a:cs typeface="Calibri"/>
              </a:rPr>
              <a:t> </a:t>
            </a:r>
            <a:r>
              <a:rPr sz="1800" dirty="0">
                <a:solidFill>
                  <a:srgbClr val="FFFFFF"/>
                </a:solidFill>
                <a:latin typeface="Calibri"/>
                <a:cs typeface="Calibri"/>
              </a:rPr>
              <a:t>an</a:t>
            </a:r>
            <a:r>
              <a:rPr sz="1800" spc="20" dirty="0">
                <a:solidFill>
                  <a:srgbClr val="FFFFFF"/>
                </a:solidFill>
                <a:latin typeface="Calibri"/>
                <a:cs typeface="Calibri"/>
              </a:rPr>
              <a:t> </a:t>
            </a:r>
            <a:r>
              <a:rPr sz="1800" spc="-25" dirty="0">
                <a:solidFill>
                  <a:srgbClr val="FFFFFF"/>
                </a:solidFill>
                <a:latin typeface="Calibri"/>
                <a:cs typeface="Calibri"/>
              </a:rPr>
              <a:t>LLM </a:t>
            </a:r>
            <a:r>
              <a:rPr sz="1800" dirty="0">
                <a:solidFill>
                  <a:srgbClr val="FFFFFF"/>
                </a:solidFill>
                <a:latin typeface="Calibri"/>
                <a:cs typeface="Calibri"/>
              </a:rPr>
              <a:t>to</a:t>
            </a:r>
            <a:r>
              <a:rPr sz="1800" spc="-15" dirty="0">
                <a:solidFill>
                  <a:srgbClr val="FFFFFF"/>
                </a:solidFill>
                <a:latin typeface="Calibri"/>
                <a:cs typeface="Calibri"/>
              </a:rPr>
              <a:t> </a:t>
            </a:r>
            <a:r>
              <a:rPr sz="1800" dirty="0">
                <a:solidFill>
                  <a:srgbClr val="FFFFFF"/>
                </a:solidFill>
                <a:latin typeface="Calibri"/>
                <a:cs typeface="Calibri"/>
              </a:rPr>
              <a:t>perform</a:t>
            </a:r>
            <a:r>
              <a:rPr sz="1800" spc="-50" dirty="0">
                <a:solidFill>
                  <a:srgbClr val="FFFFFF"/>
                </a:solidFill>
                <a:latin typeface="Calibri"/>
                <a:cs typeface="Calibri"/>
              </a:rPr>
              <a:t> </a:t>
            </a:r>
            <a:r>
              <a:rPr sz="1800" dirty="0">
                <a:solidFill>
                  <a:srgbClr val="FFFFFF"/>
                </a:solidFill>
                <a:latin typeface="Calibri"/>
                <a:cs typeface="Calibri"/>
              </a:rPr>
              <a:t>natural </a:t>
            </a:r>
            <a:r>
              <a:rPr sz="1800" spc="-10" dirty="0">
                <a:solidFill>
                  <a:srgbClr val="FFFFFF"/>
                </a:solidFill>
                <a:latin typeface="Calibri"/>
                <a:cs typeface="Calibri"/>
              </a:rPr>
              <a:t>language </a:t>
            </a:r>
            <a:r>
              <a:rPr sz="1800" dirty="0">
                <a:solidFill>
                  <a:srgbClr val="FFFFFF"/>
                </a:solidFill>
                <a:latin typeface="Calibri"/>
                <a:cs typeface="Calibri"/>
              </a:rPr>
              <a:t>processing</a:t>
            </a:r>
            <a:r>
              <a:rPr sz="1800" spc="-35" dirty="0">
                <a:solidFill>
                  <a:srgbClr val="FFFFFF"/>
                </a:solidFill>
                <a:latin typeface="Calibri"/>
                <a:cs typeface="Calibri"/>
              </a:rPr>
              <a:t> </a:t>
            </a:r>
            <a:r>
              <a:rPr sz="1800" dirty="0">
                <a:solidFill>
                  <a:srgbClr val="FFFFFF"/>
                </a:solidFill>
                <a:latin typeface="Calibri"/>
                <a:cs typeface="Calibri"/>
              </a:rPr>
              <a:t>(NLP)</a:t>
            </a:r>
            <a:r>
              <a:rPr sz="1800" spc="-35" dirty="0">
                <a:solidFill>
                  <a:srgbClr val="FFFFFF"/>
                </a:solidFill>
                <a:latin typeface="Calibri"/>
                <a:cs typeface="Calibri"/>
              </a:rPr>
              <a:t> </a:t>
            </a:r>
            <a:r>
              <a:rPr sz="1800" spc="-20" dirty="0">
                <a:solidFill>
                  <a:srgbClr val="FFFFFF"/>
                </a:solidFill>
                <a:latin typeface="Calibri"/>
                <a:cs typeface="Calibri"/>
              </a:rPr>
              <a:t>tasks</a:t>
            </a:r>
            <a:endParaRPr sz="1800">
              <a:latin typeface="Calibri"/>
              <a:cs typeface="Calibri"/>
            </a:endParaRPr>
          </a:p>
          <a:p>
            <a:pPr>
              <a:lnSpc>
                <a:spcPct val="100000"/>
              </a:lnSpc>
              <a:spcBef>
                <a:spcPts val="1945"/>
              </a:spcBef>
            </a:pPr>
            <a:endParaRPr sz="1800">
              <a:latin typeface="Calibri"/>
              <a:cs typeface="Calibri"/>
            </a:endParaRPr>
          </a:p>
          <a:p>
            <a:pPr marL="12700" marR="43815">
              <a:lnSpc>
                <a:spcPct val="100099"/>
              </a:lnSpc>
            </a:pPr>
            <a:r>
              <a:rPr sz="1800" dirty="0">
                <a:solidFill>
                  <a:srgbClr val="FFFFFF"/>
                </a:solidFill>
                <a:latin typeface="Calibri"/>
                <a:cs typeface="Calibri"/>
              </a:rPr>
              <a:t>Some</a:t>
            </a:r>
            <a:r>
              <a:rPr sz="1800" spc="-40" dirty="0">
                <a:solidFill>
                  <a:srgbClr val="FFFFFF"/>
                </a:solidFill>
                <a:latin typeface="Calibri"/>
                <a:cs typeface="Calibri"/>
              </a:rPr>
              <a:t> </a:t>
            </a:r>
            <a:r>
              <a:rPr sz="1800" dirty="0">
                <a:solidFill>
                  <a:srgbClr val="FFFFFF"/>
                </a:solidFill>
                <a:latin typeface="Calibri"/>
                <a:cs typeface="Calibri"/>
              </a:rPr>
              <a:t>agentic tasks</a:t>
            </a:r>
            <a:r>
              <a:rPr sz="1800" spc="-20" dirty="0">
                <a:solidFill>
                  <a:srgbClr val="FFFFFF"/>
                </a:solidFill>
                <a:latin typeface="Calibri"/>
                <a:cs typeface="Calibri"/>
              </a:rPr>
              <a:t> </a:t>
            </a:r>
            <a:r>
              <a:rPr sz="1800" dirty="0">
                <a:solidFill>
                  <a:srgbClr val="FFFFFF"/>
                </a:solidFill>
                <a:latin typeface="Calibri"/>
                <a:cs typeface="Calibri"/>
              </a:rPr>
              <a:t>might</a:t>
            </a:r>
            <a:r>
              <a:rPr sz="1800" spc="-70" dirty="0">
                <a:solidFill>
                  <a:srgbClr val="FFFFFF"/>
                </a:solidFill>
                <a:latin typeface="Calibri"/>
                <a:cs typeface="Calibri"/>
              </a:rPr>
              <a:t> </a:t>
            </a:r>
            <a:r>
              <a:rPr sz="1800" spc="-25" dirty="0">
                <a:solidFill>
                  <a:srgbClr val="FFFFFF"/>
                </a:solidFill>
                <a:latin typeface="Calibri"/>
                <a:cs typeface="Calibri"/>
              </a:rPr>
              <a:t>be </a:t>
            </a:r>
            <a:r>
              <a:rPr sz="1800" dirty="0">
                <a:solidFill>
                  <a:srgbClr val="FFFFFF"/>
                </a:solidFill>
                <a:latin typeface="Calibri"/>
                <a:cs typeface="Calibri"/>
              </a:rPr>
              <a:t>better</a:t>
            </a:r>
            <a:r>
              <a:rPr sz="1800" spc="10" dirty="0">
                <a:solidFill>
                  <a:srgbClr val="FFFFFF"/>
                </a:solidFill>
                <a:latin typeface="Calibri"/>
                <a:cs typeface="Calibri"/>
              </a:rPr>
              <a:t> </a:t>
            </a:r>
            <a:r>
              <a:rPr sz="1800" spc="-10" dirty="0">
                <a:solidFill>
                  <a:srgbClr val="FFFFFF"/>
                </a:solidFill>
                <a:latin typeface="Calibri"/>
                <a:cs typeface="Calibri"/>
              </a:rPr>
              <a:t>suited</a:t>
            </a:r>
            <a:r>
              <a:rPr sz="1800" spc="-5" dirty="0">
                <a:solidFill>
                  <a:srgbClr val="FFFFFF"/>
                </a:solidFill>
                <a:latin typeface="Calibri"/>
                <a:cs typeface="Calibri"/>
              </a:rPr>
              <a:t> </a:t>
            </a:r>
            <a:r>
              <a:rPr sz="1800" dirty="0">
                <a:solidFill>
                  <a:srgbClr val="FFFFFF"/>
                </a:solidFill>
                <a:latin typeface="Calibri"/>
                <a:cs typeface="Calibri"/>
              </a:rPr>
              <a:t>to</a:t>
            </a:r>
            <a:r>
              <a:rPr sz="1800" spc="-15" dirty="0">
                <a:solidFill>
                  <a:srgbClr val="FFFFFF"/>
                </a:solidFill>
                <a:latin typeface="Calibri"/>
                <a:cs typeface="Calibri"/>
              </a:rPr>
              <a:t> </a:t>
            </a:r>
            <a:r>
              <a:rPr sz="1800" dirty="0">
                <a:solidFill>
                  <a:srgbClr val="FFFFFF"/>
                </a:solidFill>
                <a:latin typeface="Calibri"/>
                <a:cs typeface="Calibri"/>
              </a:rPr>
              <a:t>other</a:t>
            </a:r>
            <a:r>
              <a:rPr sz="1800" spc="20" dirty="0">
                <a:solidFill>
                  <a:srgbClr val="FFFFFF"/>
                </a:solidFill>
                <a:latin typeface="Calibri"/>
                <a:cs typeface="Calibri"/>
              </a:rPr>
              <a:t> </a:t>
            </a:r>
            <a:r>
              <a:rPr sz="1800" spc="-25" dirty="0">
                <a:solidFill>
                  <a:srgbClr val="FFFFFF"/>
                </a:solidFill>
                <a:latin typeface="Calibri"/>
                <a:cs typeface="Calibri"/>
              </a:rPr>
              <a:t>ML </a:t>
            </a:r>
            <a:r>
              <a:rPr sz="1800" dirty="0">
                <a:solidFill>
                  <a:srgbClr val="FFFFFF"/>
                </a:solidFill>
                <a:latin typeface="Calibri"/>
                <a:cs typeface="Calibri"/>
              </a:rPr>
              <a:t>techniques,</a:t>
            </a:r>
            <a:r>
              <a:rPr sz="1800" spc="-35" dirty="0">
                <a:solidFill>
                  <a:srgbClr val="FFFFFF"/>
                </a:solidFill>
                <a:latin typeface="Calibri"/>
                <a:cs typeface="Calibri"/>
              </a:rPr>
              <a:t> </a:t>
            </a:r>
            <a:r>
              <a:rPr sz="1800" dirty="0">
                <a:solidFill>
                  <a:srgbClr val="FFFFFF"/>
                </a:solidFill>
                <a:latin typeface="Calibri"/>
                <a:cs typeface="Calibri"/>
              </a:rPr>
              <a:t>e.g.,</a:t>
            </a:r>
            <a:r>
              <a:rPr sz="1800" spc="-15" dirty="0">
                <a:solidFill>
                  <a:srgbClr val="FFFFFF"/>
                </a:solidFill>
                <a:latin typeface="Calibri"/>
                <a:cs typeface="Calibri"/>
              </a:rPr>
              <a:t> </a:t>
            </a:r>
            <a:r>
              <a:rPr sz="1800" b="1" spc="-10" dirty="0">
                <a:solidFill>
                  <a:srgbClr val="FFD966"/>
                </a:solidFill>
                <a:latin typeface="Calibri"/>
                <a:cs typeface="Calibri"/>
              </a:rPr>
              <a:t>Reinforcement </a:t>
            </a:r>
            <a:r>
              <a:rPr sz="1800" b="1" dirty="0">
                <a:solidFill>
                  <a:srgbClr val="FFD966"/>
                </a:solidFill>
                <a:latin typeface="Calibri"/>
                <a:cs typeface="Calibri"/>
              </a:rPr>
              <a:t>Learning</a:t>
            </a:r>
            <a:r>
              <a:rPr sz="1800" b="1" spc="-30" dirty="0">
                <a:solidFill>
                  <a:srgbClr val="FFD966"/>
                </a:solidFill>
                <a:latin typeface="Calibri"/>
                <a:cs typeface="Calibri"/>
              </a:rPr>
              <a:t> </a:t>
            </a:r>
            <a:r>
              <a:rPr sz="1800" b="1" dirty="0">
                <a:solidFill>
                  <a:srgbClr val="FFD966"/>
                </a:solidFill>
                <a:latin typeface="Calibri"/>
                <a:cs typeface="Calibri"/>
              </a:rPr>
              <a:t>(RL)</a:t>
            </a:r>
            <a:r>
              <a:rPr sz="1800" dirty="0">
                <a:solidFill>
                  <a:srgbClr val="FFFFFF"/>
                </a:solidFill>
                <a:latin typeface="Calibri"/>
                <a:cs typeface="Calibri"/>
              </a:rPr>
              <a:t>,</a:t>
            </a:r>
            <a:r>
              <a:rPr sz="1800" spc="-5" dirty="0">
                <a:solidFill>
                  <a:srgbClr val="FFFFFF"/>
                </a:solidFill>
                <a:latin typeface="Calibri"/>
                <a:cs typeface="Calibri"/>
              </a:rPr>
              <a:t> </a:t>
            </a:r>
            <a:r>
              <a:rPr sz="1800" spc="-10" dirty="0">
                <a:solidFill>
                  <a:srgbClr val="FFFFFF"/>
                </a:solidFill>
                <a:latin typeface="Calibri"/>
                <a:cs typeface="Calibri"/>
              </a:rPr>
              <a:t>predictive </a:t>
            </a:r>
            <a:r>
              <a:rPr sz="1800" dirty="0">
                <a:solidFill>
                  <a:srgbClr val="FFFFFF"/>
                </a:solidFill>
                <a:latin typeface="Calibri"/>
                <a:cs typeface="Calibri"/>
              </a:rPr>
              <a:t>analytics, etc.</a:t>
            </a:r>
            <a:r>
              <a:rPr sz="1800" spc="-45" dirty="0">
                <a:solidFill>
                  <a:srgbClr val="FFFFFF"/>
                </a:solidFill>
                <a:latin typeface="Calibri"/>
                <a:cs typeface="Calibri"/>
              </a:rPr>
              <a:t> </a:t>
            </a:r>
            <a:r>
              <a:rPr sz="1800" dirty="0">
                <a:solidFill>
                  <a:srgbClr val="FFFFFF"/>
                </a:solidFill>
                <a:latin typeface="Calibri"/>
                <a:cs typeface="Calibri"/>
              </a:rPr>
              <a:t>—</a:t>
            </a:r>
            <a:r>
              <a:rPr sz="1800" spc="-35" dirty="0">
                <a:solidFill>
                  <a:srgbClr val="FFFFFF"/>
                </a:solidFill>
                <a:latin typeface="Calibri"/>
                <a:cs typeface="Calibri"/>
              </a:rPr>
              <a:t> </a:t>
            </a:r>
            <a:r>
              <a:rPr sz="1800" dirty="0">
                <a:solidFill>
                  <a:srgbClr val="FFFFFF"/>
                </a:solidFill>
                <a:latin typeface="Calibri"/>
                <a:cs typeface="Calibri"/>
              </a:rPr>
              <a:t>depending</a:t>
            </a:r>
            <a:r>
              <a:rPr sz="1800" spc="-25" dirty="0">
                <a:solidFill>
                  <a:srgbClr val="FFFFFF"/>
                </a:solidFill>
                <a:latin typeface="Calibri"/>
                <a:cs typeface="Calibri"/>
              </a:rPr>
              <a:t> on </a:t>
            </a:r>
            <a:r>
              <a:rPr sz="1800" dirty="0">
                <a:solidFill>
                  <a:srgbClr val="FFFFFF"/>
                </a:solidFill>
                <a:latin typeface="Calibri"/>
                <a:cs typeface="Calibri"/>
              </a:rPr>
              <a:t>the</a:t>
            </a:r>
            <a:r>
              <a:rPr sz="1800" spc="-30" dirty="0">
                <a:solidFill>
                  <a:srgbClr val="FFFFFF"/>
                </a:solidFill>
                <a:latin typeface="Calibri"/>
                <a:cs typeface="Calibri"/>
              </a:rPr>
              <a:t> </a:t>
            </a:r>
            <a:r>
              <a:rPr sz="1800" spc="-10" dirty="0">
                <a:solidFill>
                  <a:srgbClr val="FFFFFF"/>
                </a:solidFill>
                <a:latin typeface="Calibri"/>
                <a:cs typeface="Calibri"/>
              </a:rPr>
              <a:t>use-</a:t>
            </a:r>
            <a:r>
              <a:rPr sz="1800" dirty="0">
                <a:solidFill>
                  <a:srgbClr val="FFFFFF"/>
                </a:solidFill>
                <a:latin typeface="Calibri"/>
                <a:cs typeface="Calibri"/>
              </a:rPr>
              <a:t>case</a:t>
            </a:r>
            <a:r>
              <a:rPr sz="1800" spc="40" dirty="0">
                <a:solidFill>
                  <a:srgbClr val="FFFFFF"/>
                </a:solidFill>
                <a:latin typeface="Calibri"/>
                <a:cs typeface="Calibri"/>
              </a:rPr>
              <a:t> </a:t>
            </a:r>
            <a:r>
              <a:rPr sz="1800" spc="-10" dirty="0">
                <a:solidFill>
                  <a:srgbClr val="FFFFFF"/>
                </a:solidFill>
                <a:latin typeface="Calibri"/>
                <a:cs typeface="Calibri"/>
              </a:rPr>
              <a:t>objectives.</a:t>
            </a:r>
            <a:endParaRPr sz="1800">
              <a:latin typeface="Calibri"/>
              <a:cs typeface="Calibri"/>
            </a:endParaRPr>
          </a:p>
        </p:txBody>
      </p:sp>
      <p:sp>
        <p:nvSpPr>
          <p:cNvPr id="8" name="object 8"/>
          <p:cNvSpPr txBox="1"/>
          <p:nvPr/>
        </p:nvSpPr>
        <p:spPr>
          <a:xfrm>
            <a:off x="8208009" y="5540057"/>
            <a:ext cx="3591560" cy="390525"/>
          </a:xfrm>
          <a:prstGeom prst="rect">
            <a:avLst/>
          </a:prstGeom>
        </p:spPr>
        <p:txBody>
          <a:bodyPr vert="horz" wrap="square" lIns="0" tIns="19685" rIns="0" bIns="0" rtlCol="0">
            <a:spAutoFit/>
          </a:bodyPr>
          <a:lstStyle/>
          <a:p>
            <a:pPr marL="12700" marR="5080">
              <a:lnSpc>
                <a:spcPts val="1430"/>
              </a:lnSpc>
              <a:spcBef>
                <a:spcPts val="155"/>
              </a:spcBef>
            </a:pPr>
            <a:r>
              <a:rPr sz="1200" dirty="0">
                <a:latin typeface="Arial MT"/>
                <a:cs typeface="Arial MT"/>
                <a:hlinkClick r:id="rId4"/>
              </a:rPr>
              <a:t>*</a:t>
            </a:r>
            <a:r>
              <a:rPr sz="1200" spc="-20" dirty="0">
                <a:latin typeface="Arial MT"/>
                <a:cs typeface="Arial MT"/>
                <a:hlinkClick r:id="rId4"/>
              </a:rPr>
              <a:t> </a:t>
            </a:r>
            <a:r>
              <a:rPr sz="1200" dirty="0">
                <a:latin typeface="Arial MT"/>
                <a:cs typeface="Arial MT"/>
                <a:hlinkClick r:id="rId4"/>
              </a:rPr>
              <a:t>D.</a:t>
            </a:r>
            <a:r>
              <a:rPr sz="1200" spc="-5" dirty="0">
                <a:latin typeface="Arial MT"/>
                <a:cs typeface="Arial MT"/>
                <a:hlinkClick r:id="rId4"/>
              </a:rPr>
              <a:t> </a:t>
            </a:r>
            <a:r>
              <a:rPr sz="1200" dirty="0">
                <a:latin typeface="Arial MT"/>
                <a:cs typeface="Arial MT"/>
                <a:hlinkClick r:id="rId4"/>
              </a:rPr>
              <a:t>Biswas.</a:t>
            </a:r>
            <a:r>
              <a:rPr sz="1200" spc="-10" dirty="0">
                <a:latin typeface="Arial MT"/>
                <a:cs typeface="Arial MT"/>
                <a:hlinkClick r:id="rId4"/>
              </a:rPr>
              <a:t> </a:t>
            </a:r>
            <a:r>
              <a:rPr sz="1200" dirty="0">
                <a:latin typeface="Arial MT"/>
                <a:cs typeface="Arial MT"/>
                <a:hlinkClick r:id="rId4"/>
              </a:rPr>
              <a:t>LLM </a:t>
            </a:r>
            <a:r>
              <a:rPr sz="1200" spc="-10" dirty="0">
                <a:latin typeface="Arial MT"/>
                <a:cs typeface="Arial MT"/>
                <a:hlinkClick r:id="rId4"/>
              </a:rPr>
              <a:t>based</a:t>
            </a:r>
            <a:r>
              <a:rPr sz="1200" spc="-40" dirty="0">
                <a:latin typeface="Arial MT"/>
                <a:cs typeface="Arial MT"/>
                <a:hlinkClick r:id="rId4"/>
              </a:rPr>
              <a:t> </a:t>
            </a:r>
            <a:r>
              <a:rPr sz="1200" dirty="0">
                <a:latin typeface="Arial MT"/>
                <a:cs typeface="Arial MT"/>
                <a:hlinkClick r:id="rId4"/>
              </a:rPr>
              <a:t>fine-tuning</a:t>
            </a:r>
            <a:r>
              <a:rPr sz="1200" spc="-40" dirty="0">
                <a:latin typeface="Arial MT"/>
                <a:cs typeface="Arial MT"/>
                <a:hlinkClick r:id="rId4"/>
              </a:rPr>
              <a:t> </a:t>
            </a:r>
            <a:r>
              <a:rPr sz="1200" dirty="0">
                <a:latin typeface="Arial MT"/>
                <a:cs typeface="Arial MT"/>
                <a:hlinkClick r:id="rId4"/>
              </a:rPr>
              <a:t>of</a:t>
            </a:r>
            <a:r>
              <a:rPr sz="1200" spc="-5" dirty="0">
                <a:latin typeface="Arial MT"/>
                <a:cs typeface="Arial MT"/>
                <a:hlinkClick r:id="rId4"/>
              </a:rPr>
              <a:t> </a:t>
            </a:r>
            <a:r>
              <a:rPr sz="1200" spc="-10" dirty="0">
                <a:latin typeface="Arial MT"/>
                <a:cs typeface="Arial MT"/>
                <a:hlinkClick r:id="rId4"/>
              </a:rPr>
              <a:t>Reinforcement Learning</a:t>
            </a:r>
            <a:r>
              <a:rPr sz="1200" spc="-60" dirty="0">
                <a:latin typeface="Arial MT"/>
                <a:cs typeface="Arial MT"/>
                <a:hlinkClick r:id="rId4"/>
              </a:rPr>
              <a:t> </a:t>
            </a:r>
            <a:r>
              <a:rPr sz="1200" dirty="0">
                <a:latin typeface="Arial MT"/>
                <a:cs typeface="Arial MT"/>
                <a:hlinkClick r:id="rId4"/>
              </a:rPr>
              <a:t>Agents.</a:t>
            </a:r>
            <a:r>
              <a:rPr sz="1200" spc="-30" dirty="0">
                <a:latin typeface="Arial MT"/>
                <a:cs typeface="Arial MT"/>
                <a:hlinkClick r:id="rId4"/>
              </a:rPr>
              <a:t> </a:t>
            </a:r>
            <a:r>
              <a:rPr sz="1200" dirty="0">
                <a:latin typeface="Arial MT"/>
                <a:cs typeface="Arial MT"/>
                <a:hlinkClick r:id="rId4"/>
              </a:rPr>
              <a:t>AI</a:t>
            </a:r>
            <a:r>
              <a:rPr sz="1200" spc="-25" dirty="0">
                <a:latin typeface="Arial MT"/>
                <a:cs typeface="Arial MT"/>
                <a:hlinkClick r:id="rId4"/>
              </a:rPr>
              <a:t> </a:t>
            </a:r>
            <a:r>
              <a:rPr sz="1200" dirty="0">
                <a:latin typeface="Arial MT"/>
                <a:cs typeface="Arial MT"/>
                <a:hlinkClick r:id="rId4"/>
              </a:rPr>
              <a:t>Advances,</a:t>
            </a:r>
            <a:r>
              <a:rPr sz="1200" spc="-30" dirty="0">
                <a:latin typeface="Arial MT"/>
                <a:cs typeface="Arial MT"/>
                <a:hlinkClick r:id="rId4"/>
              </a:rPr>
              <a:t> </a:t>
            </a:r>
            <a:r>
              <a:rPr sz="1200" dirty="0">
                <a:latin typeface="Arial MT"/>
                <a:cs typeface="Arial MT"/>
                <a:hlinkClick r:id="rId4"/>
              </a:rPr>
              <a:t>2024</a:t>
            </a:r>
            <a:r>
              <a:rPr sz="1200" spc="10" dirty="0">
                <a:latin typeface="Arial MT"/>
                <a:cs typeface="Arial MT"/>
                <a:hlinkClick r:id="rId4"/>
              </a:rPr>
              <a:t> </a:t>
            </a:r>
            <a:r>
              <a:rPr sz="1200" spc="-10" dirty="0">
                <a:latin typeface="Arial MT"/>
                <a:cs typeface="Arial MT"/>
                <a:hlinkClick r:id="rId4"/>
              </a:rPr>
              <a:t>(</a:t>
            </a:r>
            <a:r>
              <a:rPr sz="1200" u="sng" spc="-10" dirty="0">
                <a:solidFill>
                  <a:srgbClr val="0462C1"/>
                </a:solidFill>
                <a:uFill>
                  <a:solidFill>
                    <a:srgbClr val="0462C1"/>
                  </a:solidFill>
                </a:uFill>
                <a:latin typeface="Arial MT"/>
                <a:cs typeface="Arial MT"/>
                <a:hlinkClick r:id="rId5"/>
              </a:rPr>
              <a:t>link</a:t>
            </a:r>
            <a:r>
              <a:rPr sz="1200" spc="-10" dirty="0">
                <a:latin typeface="Arial MT"/>
                <a:cs typeface="Arial MT"/>
                <a:hlinkClick r:id="rId4"/>
              </a:rPr>
              <a:t>)</a:t>
            </a:r>
            <a:endParaRPr sz="1200">
              <a:latin typeface="Arial MT"/>
              <a:cs typeface="Arial M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5204-17EE-30C4-B59D-0739EA849F54}"/>
              </a:ext>
            </a:extLst>
          </p:cNvPr>
          <p:cNvSpPr>
            <a:spLocks noGrp="1"/>
          </p:cNvSpPr>
          <p:nvPr>
            <p:ph type="title"/>
          </p:nvPr>
        </p:nvSpPr>
        <p:spPr>
          <a:xfrm>
            <a:off x="3505201" y="2133600"/>
            <a:ext cx="1523999" cy="553998"/>
          </a:xfrm>
        </p:spPr>
        <p:txBody>
          <a:bodyPr/>
          <a:lstStyle/>
          <a:p>
            <a:r>
              <a:rPr lang="en-US" dirty="0"/>
              <a:t>DEMO</a:t>
            </a:r>
          </a:p>
        </p:txBody>
      </p:sp>
    </p:spTree>
    <p:extLst>
      <p:ext uri="{BB962C8B-B14F-4D97-AF65-F5344CB8AC3E}">
        <p14:creationId xmlns:p14="http://schemas.microsoft.com/office/powerpoint/2010/main" val="6041544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3742</TotalTime>
  <Words>3137</Words>
  <Application>Microsoft Office PowerPoint</Application>
  <PresentationFormat>Widescreen</PresentationFormat>
  <Paragraphs>395</Paragraphs>
  <Slides>51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51</vt:i4>
      </vt:variant>
    </vt:vector>
  </HeadingPairs>
  <TitlesOfParts>
    <vt:vector size="61" baseType="lpstr">
      <vt:lpstr>Arial</vt:lpstr>
      <vt:lpstr>Arial MT</vt:lpstr>
      <vt:lpstr>Arimo</vt:lpstr>
      <vt:lpstr>Calibri</vt:lpstr>
      <vt:lpstr>IBM Plex Sans</vt:lpstr>
      <vt:lpstr>inherit</vt:lpstr>
      <vt:lpstr>Outfit Extra Bold</vt:lpstr>
      <vt:lpstr>sohne</vt:lpstr>
      <vt:lpstr>source-serif-pro</vt:lpstr>
      <vt:lpstr>Office Theme</vt:lpstr>
      <vt:lpstr>Introduction to Agentic AI</vt:lpstr>
      <vt:lpstr>Agenda-Day1</vt:lpstr>
      <vt:lpstr>AI Use Cases in Telecommunications</vt:lpstr>
      <vt:lpstr>AI Use Cases in Telecommunications</vt:lpstr>
      <vt:lpstr>AI Use Cases in Telecommunications</vt:lpstr>
      <vt:lpstr>AI Use Cases in Telecommunications</vt:lpstr>
      <vt:lpstr>AI Use Cases in Telecommunications</vt:lpstr>
      <vt:lpstr>PowerPoint Presentation</vt:lpstr>
      <vt:lpstr>Types of GenAI</vt:lpstr>
      <vt:lpstr>Limitation of GenAI</vt:lpstr>
      <vt:lpstr>AI Agents</vt:lpstr>
      <vt:lpstr>PowerPoint Presentation</vt:lpstr>
      <vt:lpstr>Agent</vt:lpstr>
      <vt:lpstr>PowerPoint Presentation</vt:lpstr>
      <vt:lpstr>PowerPoint Presentation</vt:lpstr>
      <vt:lpstr>PowerPoint Presentation</vt:lpstr>
      <vt:lpstr>Use cases</vt:lpstr>
      <vt:lpstr>PowerPoint Presentation</vt:lpstr>
      <vt:lpstr>✅ When to use agents / ⛔ When to avoid them </vt:lpstr>
      <vt:lpstr>⛔ When Not to Use an AI Agent</vt:lpstr>
      <vt:lpstr>Build An Agent</vt:lpstr>
      <vt:lpstr>Agentic Framework</vt:lpstr>
      <vt:lpstr>Frameworks</vt:lpstr>
      <vt:lpstr>PowerPoint Presentation</vt:lpstr>
      <vt:lpstr>DEMO</vt:lpstr>
      <vt:lpstr>AI Agent Pattern</vt:lpstr>
      <vt:lpstr>Reflection pattern</vt:lpstr>
      <vt:lpstr>Tool Use Pattern</vt:lpstr>
      <vt:lpstr>Planning pattern</vt:lpstr>
      <vt:lpstr>Multi-agent pattern</vt:lpstr>
      <vt:lpstr>Patterns </vt:lpstr>
      <vt:lpstr>What is agentic AI? </vt:lpstr>
      <vt:lpstr>Agentic AI in the News</vt:lpstr>
      <vt:lpstr>Agentic AI Evolution</vt:lpstr>
      <vt:lpstr>Agentic AI capabilities – Task Decomposition</vt:lpstr>
      <vt:lpstr>Agentic AI capabilities – Memory Management</vt:lpstr>
      <vt:lpstr>Agentic AI capabilities – Reflect &amp; Adapt</vt:lpstr>
      <vt:lpstr>Agentic AI Use-case: Funds Email Marketing Campaign</vt:lpstr>
      <vt:lpstr>Agentic AI Pattern</vt:lpstr>
      <vt:lpstr>Agentic AI Reference Architecture</vt:lpstr>
      <vt:lpstr>Generative AI Lifecycle</vt:lpstr>
      <vt:lpstr>Gen AI Architecture Patterns – APIs &amp; Embedded Gen AI</vt:lpstr>
      <vt:lpstr>Gen AI Architecture Patterns – Fine-tuning</vt:lpstr>
      <vt:lpstr>Gen AI Architecture Patterns – Retrieval-Augmented- Generation (RAG)</vt:lpstr>
      <vt:lpstr>Agentic AI Platform Reference Architecture</vt:lpstr>
      <vt:lpstr>AI Agents Marketplace &amp; Discovery for Multi- agent Systems</vt:lpstr>
      <vt:lpstr>(Complex) Agentic AI Task Decomposition</vt:lpstr>
      <vt:lpstr>PowerPoint Presentation</vt:lpstr>
      <vt:lpstr>Agentic RAGs: extending RAGs to SQL Databases</vt:lpstr>
      <vt:lpstr>Reinforcement Learning Agents</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Agentic AI</dc:title>
  <dc:creator>Sunil Bhardwaj</dc:creator>
  <cp:lastModifiedBy>harish kumar</cp:lastModifiedBy>
  <cp:revision>69</cp:revision>
  <dcterms:created xsi:type="dcterms:W3CDTF">2025-05-07T07:05:45Z</dcterms:created>
  <dcterms:modified xsi:type="dcterms:W3CDTF">2026-05-11T03:52:24Z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2025-01-06T00:00:00Z</vt:filetime>
  </property>
  <property fmtid="{D5CDD505-2E9C-101B-9397-08002B2CF9AE}" pid="3" name="LastSaved">
    <vt:filetime>2025-05-07T00:00:00Z</vt:filetime>
  </property>
</Properties>
</file>