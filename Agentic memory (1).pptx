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3" r:id="rId4"/>
    <p:sldId id="274" r:id="rId5"/>
    <p:sldId id="275" r:id="rId6"/>
    <p:sldId id="258" r:id="rId7"/>
    <p:sldId id="276" r:id="rId8"/>
    <p:sldId id="278" r:id="rId9"/>
    <p:sldId id="267" r:id="rId10"/>
    <p:sldId id="279" r:id="rId11"/>
    <p:sldId id="269" r:id="rId12"/>
    <p:sldId id="270" r:id="rId13"/>
    <p:sldId id="259" r:id="rId14"/>
    <p:sldId id="260" r:id="rId15"/>
    <p:sldId id="261" r:id="rId16"/>
    <p:sldId id="262" r:id="rId17"/>
    <p:sldId id="263" r:id="rId18"/>
    <p:sldId id="264" r:id="rId19"/>
    <p:sldId id="265" r:id="rId20"/>
    <p:sldId id="266" r:id="rId21"/>
    <p:sldId id="271" r:id="rId22"/>
    <p:sldId id="272"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296" y="-6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752F7B7-B4D8-49F7-AF40-FC5E69237F88}" type="datetimeFigureOut">
              <a:rPr lang="en-US" smtClean="0"/>
              <a:pPr/>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3B1D7-1155-4D68-9960-36F56792E1D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752F7B7-B4D8-49F7-AF40-FC5E69237F88}" type="datetimeFigureOut">
              <a:rPr lang="en-US" smtClean="0"/>
              <a:pPr/>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3B1D7-1155-4D68-9960-36F56792E1D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752F7B7-B4D8-49F7-AF40-FC5E69237F88}" type="datetimeFigureOut">
              <a:rPr lang="en-US" smtClean="0"/>
              <a:pPr/>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3B1D7-1155-4D68-9960-36F56792E1D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752F7B7-B4D8-49F7-AF40-FC5E69237F88}" type="datetimeFigureOut">
              <a:rPr lang="en-US" smtClean="0"/>
              <a:pPr/>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13B1D7-1155-4D68-9960-36F56792E1D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752F7B7-B4D8-49F7-AF40-FC5E69237F88}" type="datetimeFigureOut">
              <a:rPr lang="en-US" smtClean="0"/>
              <a:pPr/>
              <a:t>7/29/2025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13B1D7-1155-4D68-9960-36F56792E1D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752F7B7-B4D8-49F7-AF40-FC5E69237F88}" type="datetimeFigureOut">
              <a:rPr lang="en-US" smtClean="0"/>
              <a:pPr/>
              <a:t>7/29/2025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13B1D7-1155-4D68-9960-36F56792E1D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52F7B7-B4D8-49F7-AF40-FC5E69237F88}" type="datetimeFigureOut">
              <a:rPr lang="en-US" smtClean="0"/>
              <a:pPr/>
              <a:t>7/29/2025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13B1D7-1155-4D68-9960-36F56792E1D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52F7B7-B4D8-49F7-AF40-FC5E69237F88}" type="datetimeFigureOut">
              <a:rPr lang="en-US" smtClean="0"/>
              <a:pPr/>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13B1D7-1155-4D68-9960-36F56792E1D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52F7B7-B4D8-49F7-AF40-FC5E69237F88}" type="datetimeFigureOut">
              <a:rPr lang="en-US" smtClean="0"/>
              <a:pPr/>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13B1D7-1155-4D68-9960-36F56792E1D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752F7B7-B4D8-49F7-AF40-FC5E69237F88}" type="datetimeFigureOut">
              <a:rPr lang="en-US" smtClean="0"/>
              <a:pPr/>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3B1D7-1155-4D68-9960-36F56792E1D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752F7B7-B4D8-49F7-AF40-FC5E69237F88}" type="datetimeFigureOut">
              <a:rPr lang="en-US" smtClean="0"/>
              <a:pPr/>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3B1D7-1155-4D68-9960-36F56792E1D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52F7B7-B4D8-49F7-AF40-FC5E69237F88}" type="datetimeFigureOut">
              <a:rPr lang="en-US" smtClean="0"/>
              <a:pPr/>
              <a:t>7/29/2025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13B1D7-1155-4D68-9960-36F56792E1D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mc.ncbi.nlm.nih.gov/articles/PMC1041047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langchain-ai.github.io/langgraph/concepts/persistenc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langchain-ai.github.io/langgraph/how-tos/memory/"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en.wikipedia.org/wiki/Semantic_memory"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en.wikipedia.org/wiki/Procedural_memory"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openai.com/index/memory-and-new-controls-for-chatgpt/"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Agentic</a:t>
            </a:r>
            <a:r>
              <a:rPr lang="en-US" dirty="0" smtClean="0"/>
              <a:t> memory</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Memory?</a:t>
            </a:r>
          </a:p>
        </p:txBody>
      </p:sp>
      <p:sp>
        <p:nvSpPr>
          <p:cNvPr id="3" name="Content Placeholder 2"/>
          <p:cNvSpPr>
            <a:spLocks noGrp="1"/>
          </p:cNvSpPr>
          <p:nvPr>
            <p:ph idx="1"/>
          </p:nvPr>
        </p:nvSpPr>
        <p:spPr>
          <a:xfrm>
            <a:off x="457200" y="1600200"/>
            <a:ext cx="8686800" cy="4781128"/>
          </a:xfrm>
        </p:spPr>
        <p:txBody>
          <a:bodyPr>
            <a:normAutofit fontScale="92500"/>
          </a:bodyPr>
          <a:lstStyle/>
          <a:p>
            <a:r>
              <a:rPr lang="en-US" dirty="0">
                <a:hlinkClick r:id="rId2"/>
              </a:rPr>
              <a:t>Memory</a:t>
            </a:r>
            <a:r>
              <a:rPr lang="en-US" dirty="0"/>
              <a:t> is a cognitive function that allows people to store, retrieve, and use information to understand their present and future. Consider the frustration of working with a colleague who forgets everything you tell them, requiring constant repetition! As AI agents undertake more complex tasks involving numerous user interactions, equipping them with memory becomes equally crucial for efficiency and user satisfaction. With memory, agents can learn from feedback and adapt to users' preferences.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https://miro.medium.com/v2/resize:fit:1500/0*Xb0GaiNjxjJLZ4HN.png"/>
          <p:cNvPicPr>
            <a:picLocks noChangeAspect="1" noChangeArrowheads="1"/>
          </p:cNvPicPr>
          <p:nvPr/>
        </p:nvPicPr>
        <p:blipFill>
          <a:blip r:embed="rId2" cstate="print"/>
          <a:srcRect/>
          <a:stretch>
            <a:fillRect/>
          </a:stretch>
        </p:blipFill>
        <p:spPr bwMode="auto">
          <a:xfrm>
            <a:off x="-900608" y="-891480"/>
            <a:ext cx="10044608" cy="90297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https://miro.medium.com/v2/resize:fit:620/1*NkCtQzDrqsrybVEdPxs24w.png"/>
          <p:cNvPicPr>
            <a:picLocks noChangeAspect="1" noChangeArrowheads="1"/>
          </p:cNvPicPr>
          <p:nvPr/>
        </p:nvPicPr>
        <p:blipFill>
          <a:blip r:embed="rId2" cstate="print"/>
          <a:srcRect/>
          <a:stretch>
            <a:fillRect/>
          </a:stretch>
        </p:blipFill>
        <p:spPr bwMode="auto">
          <a:xfrm>
            <a:off x="251520" y="188640"/>
            <a:ext cx="7848872" cy="6552728"/>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smtClean="0"/>
              <a:t>At a foundational level, memory in AI agents comes in two forms:</a:t>
            </a:r>
          </a:p>
          <a:p>
            <a:r>
              <a:rPr lang="en-US" b="1" dirty="0" smtClean="0"/>
              <a:t>Short-term memory</a:t>
            </a:r>
            <a:r>
              <a:rPr lang="en-US" dirty="0" smtClean="0"/>
              <a:t>: Holds immediate context within a single interaction.</a:t>
            </a:r>
          </a:p>
          <a:p>
            <a:r>
              <a:rPr lang="en-US" b="1" dirty="0" smtClean="0"/>
              <a:t>Long-term memory</a:t>
            </a:r>
            <a:r>
              <a:rPr lang="en-US" dirty="0" smtClean="0"/>
              <a:t>: Persists knowledge across sessions, tasks, and time.</a:t>
            </a:r>
          </a:p>
          <a:p>
            <a:r>
              <a:rPr lang="en-US" dirty="0" smtClean="0"/>
              <a:t>Just like in humans, these memory types serve different cognitive functions. Short-term memory helps the agent stay coherent in the moment. Long-term memory helps it learn, personalize, and adapt.</a:t>
            </a:r>
          </a:p>
          <a:p>
            <a:endParaRPr lang="en-US" dirty="0"/>
          </a:p>
        </p:txBody>
      </p:sp>
      <p:sp>
        <p:nvSpPr>
          <p:cNvPr id="4" name="TextBox 3"/>
          <p:cNvSpPr txBox="1"/>
          <p:nvPr/>
        </p:nvSpPr>
        <p:spPr>
          <a:xfrm>
            <a:off x="539552" y="476672"/>
            <a:ext cx="8280920" cy="1046440"/>
          </a:xfrm>
          <a:prstGeom prst="rect">
            <a:avLst/>
          </a:prstGeom>
          <a:noFill/>
        </p:spPr>
        <p:txBody>
          <a:bodyPr wrap="square" rtlCol="0">
            <a:spAutoFit/>
          </a:bodyPr>
          <a:lstStyle/>
          <a:p>
            <a:r>
              <a:rPr lang="en-US" sz="4400" b="1" dirty="0" smtClean="0"/>
              <a:t>Types of Memory in Agents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Short-term memory</a:t>
            </a:r>
            <a:endParaRPr lang="en-US" dirty="0"/>
          </a:p>
        </p:txBody>
      </p:sp>
      <p:sp>
        <p:nvSpPr>
          <p:cNvPr id="3" name="Content Placeholder 2"/>
          <p:cNvSpPr>
            <a:spLocks noGrp="1"/>
          </p:cNvSpPr>
          <p:nvPr>
            <p:ph idx="1"/>
          </p:nvPr>
        </p:nvSpPr>
        <p:spPr/>
        <p:txBody>
          <a:bodyPr>
            <a:normAutofit/>
          </a:bodyPr>
          <a:lstStyle/>
          <a:p>
            <a:r>
              <a:rPr lang="en-US" b="1" dirty="0"/>
              <a:t>Short-term memory</a:t>
            </a:r>
            <a:r>
              <a:rPr lang="en-US" dirty="0"/>
              <a:t>, or </a:t>
            </a:r>
            <a:r>
              <a:rPr lang="en-US" dirty="0">
                <a:hlinkClick r:id="rId2"/>
              </a:rPr>
              <a:t>thread</a:t>
            </a:r>
            <a:r>
              <a:rPr lang="en-US" dirty="0"/>
              <a:t>-scoped memory, can be recalled at any time </a:t>
            </a:r>
            <a:r>
              <a:rPr lang="en-US" b="1" dirty="0"/>
              <a:t>from within</a:t>
            </a:r>
            <a:r>
              <a:rPr lang="en-US" dirty="0"/>
              <a:t> a single conversational thread with a user. </a:t>
            </a:r>
            <a:r>
              <a:rPr lang="en-US" dirty="0" smtClean="0"/>
              <a:t>State </a:t>
            </a:r>
            <a:r>
              <a:rPr lang="en-US" dirty="0"/>
              <a:t>is persisted to a database using a </a:t>
            </a:r>
            <a:r>
              <a:rPr lang="en-US" dirty="0" err="1">
                <a:hlinkClick r:id="rId2"/>
              </a:rPr>
              <a:t>checkpointer</a:t>
            </a:r>
            <a:r>
              <a:rPr lang="en-US" dirty="0"/>
              <a:t> so the thread can be resumed at any time.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https://miro.medium.com/v2/resize:fit:1025/1*h4F_BRLFaz4LUp6IwD3gHg.png"/>
          <p:cNvPicPr>
            <a:picLocks noChangeAspect="1" noChangeArrowheads="1"/>
          </p:cNvPicPr>
          <p:nvPr/>
        </p:nvPicPr>
        <p:blipFill>
          <a:blip r:embed="rId2" cstate="print"/>
          <a:srcRect/>
          <a:stretch>
            <a:fillRect/>
          </a:stretch>
        </p:blipFill>
        <p:spPr bwMode="auto">
          <a:xfrm>
            <a:off x="251520" y="476672"/>
            <a:ext cx="8640960" cy="5534025"/>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Short-Term Memory (Or Working Memory)</a:t>
            </a:r>
            <a:endParaRPr lang="en-US" b="1" dirty="0"/>
          </a:p>
        </p:txBody>
      </p:sp>
      <p:sp>
        <p:nvSpPr>
          <p:cNvPr id="3" name="Content Placeholder 2"/>
          <p:cNvSpPr>
            <a:spLocks noGrp="1"/>
          </p:cNvSpPr>
          <p:nvPr>
            <p:ph idx="1"/>
          </p:nvPr>
        </p:nvSpPr>
        <p:spPr/>
        <p:txBody>
          <a:bodyPr>
            <a:normAutofit fontScale="92500"/>
          </a:bodyPr>
          <a:lstStyle/>
          <a:p>
            <a:r>
              <a:rPr lang="en-US" dirty="0" smtClean="0"/>
              <a:t>The most basic form of memory in AI systems holds immediate context — like a person remembering what was just said in a conversation. This includes:</a:t>
            </a:r>
          </a:p>
          <a:p>
            <a:r>
              <a:rPr lang="en-US" dirty="0" smtClean="0"/>
              <a:t>Conversation History: Recent messages and their order</a:t>
            </a:r>
          </a:p>
          <a:p>
            <a:r>
              <a:rPr lang="en-US" dirty="0" smtClean="0"/>
              <a:t>Working Memory: Temporary variables and state</a:t>
            </a:r>
          </a:p>
          <a:p>
            <a:r>
              <a:rPr lang="en-US" dirty="0" smtClean="0"/>
              <a:t>Attention Context: Current focus of the conversation</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856984" cy="1143000"/>
          </a:xfrm>
        </p:spPr>
        <p:txBody>
          <a:bodyPr>
            <a:normAutofit fontScale="90000"/>
          </a:bodyPr>
          <a:lstStyle/>
          <a:p>
            <a:r>
              <a:rPr lang="en-US" dirty="0"/>
              <a:t>Managing long conversation </a:t>
            </a:r>
            <a:r>
              <a:rPr lang="en-US" dirty="0" smtClean="0"/>
              <a:t>history with Short term memory</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Long conversations pose a challenge to today's LLMs. The full history may not even fit inside an LLM's context window, resulting in an irrecoverable error. Even </a:t>
            </a:r>
            <a:r>
              <a:rPr lang="en-US" i="1" dirty="0"/>
              <a:t>if</a:t>
            </a:r>
            <a:r>
              <a:rPr lang="en-US" dirty="0"/>
              <a:t> your LLM technically supports the full context length, most LLMs still perform poorly over long contexts. </a:t>
            </a:r>
            <a:endParaRPr lang="en-US" dirty="0" smtClean="0"/>
          </a:p>
          <a:p>
            <a:endParaRPr lang="en-US" dirty="0"/>
          </a:p>
          <a:p>
            <a:r>
              <a:rPr lang="en-US" dirty="0" smtClean="0"/>
              <a:t>They </a:t>
            </a:r>
            <a:r>
              <a:rPr lang="en-US" dirty="0"/>
              <a:t>get "distracted" by stale or off-topic content, all while suffering from slower response times and higher costs.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lnSpcReduction="10000"/>
          </a:bodyPr>
          <a:lstStyle/>
          <a:p>
            <a:r>
              <a:rPr lang="en-US" dirty="0" smtClean="0"/>
              <a:t>With short-term memory enabled, long conversations can exceed the LLM’s context window. Common solutions are:</a:t>
            </a:r>
          </a:p>
          <a:p>
            <a:r>
              <a:rPr lang="en-US" u="sng" dirty="0" smtClean="0">
                <a:hlinkClick r:id="rId2"/>
              </a:rPr>
              <a:t>Trimming</a:t>
            </a:r>
            <a:r>
              <a:rPr lang="en-US" dirty="0" smtClean="0"/>
              <a:t>: Remove first or last N messages (before calling LLM)</a:t>
            </a:r>
          </a:p>
          <a:p>
            <a:r>
              <a:rPr lang="en-US" u="sng" dirty="0" smtClean="0">
                <a:hlinkClick r:id="rId2"/>
              </a:rPr>
              <a:t>Summarization</a:t>
            </a:r>
            <a:r>
              <a:rPr lang="en-US" dirty="0" smtClean="0"/>
              <a:t>: Summarize earlier messages in the history and replace them with a summary</a:t>
            </a:r>
          </a:p>
          <a:p>
            <a:r>
              <a:rPr lang="en-US" u="sng" dirty="0" smtClean="0">
                <a:hlinkClick r:id="rId2"/>
              </a:rPr>
              <a:t>Delete messages</a:t>
            </a:r>
            <a:r>
              <a:rPr lang="en-US" dirty="0" smtClean="0"/>
              <a:t> from </a:t>
            </a:r>
            <a:r>
              <a:rPr lang="en-US" dirty="0" err="1" smtClean="0"/>
              <a:t>LangGraph</a:t>
            </a:r>
            <a:r>
              <a:rPr lang="en-US" dirty="0" smtClean="0"/>
              <a:t> state permanently</a:t>
            </a:r>
          </a:p>
          <a:p>
            <a:r>
              <a:rPr lang="en-US" dirty="0" smtClean="0"/>
              <a:t>custom strategies (e.g., message filtering, etc.)</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Managing short-term </a:t>
            </a:r>
            <a:r>
              <a:rPr lang="en-US" dirty="0" smtClean="0"/>
              <a:t>memory for Long Conversation</a:t>
            </a:r>
            <a:endParaRPr lang="en-US" dirty="0"/>
          </a:p>
        </p:txBody>
      </p:sp>
      <p:pic>
        <p:nvPicPr>
          <p:cNvPr id="7" name="Content Placeholder 6" descr="filter.png"/>
          <p:cNvPicPr>
            <a:picLocks noGrp="1" noChangeAspect="1"/>
          </p:cNvPicPr>
          <p:nvPr>
            <p:ph sz="half" idx="2"/>
          </p:nvPr>
        </p:nvPicPr>
        <p:blipFill>
          <a:blip r:embed="rId2" cstate="print"/>
          <a:stretch>
            <a:fillRect/>
          </a:stretch>
        </p:blipFill>
        <p:spPr>
          <a:xfrm>
            <a:off x="683568" y="2060848"/>
            <a:ext cx="7221016" cy="252028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Summarizing past conversations</a:t>
            </a:r>
          </a:p>
        </p:txBody>
      </p:sp>
      <p:pic>
        <p:nvPicPr>
          <p:cNvPr id="7" name="Content Placeholder 6" descr="summary.png"/>
          <p:cNvPicPr>
            <a:picLocks noGrp="1" noChangeAspect="1"/>
          </p:cNvPicPr>
          <p:nvPr>
            <p:ph sz="half" idx="2"/>
          </p:nvPr>
        </p:nvPicPr>
        <p:blipFill>
          <a:blip r:embed="rId2" cstate="print"/>
          <a:stretch>
            <a:fillRect/>
          </a:stretch>
        </p:blipFill>
        <p:spPr>
          <a:xfrm>
            <a:off x="467544" y="1844824"/>
            <a:ext cx="8352928" cy="3672408"/>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Long-term memory</a:t>
            </a:r>
          </a:p>
        </p:txBody>
      </p:sp>
      <p:sp>
        <p:nvSpPr>
          <p:cNvPr id="3" name="Content Placeholder 2"/>
          <p:cNvSpPr>
            <a:spLocks noGrp="1"/>
          </p:cNvSpPr>
          <p:nvPr>
            <p:ph idx="1"/>
          </p:nvPr>
        </p:nvSpPr>
        <p:spPr/>
        <p:txBody>
          <a:bodyPr/>
          <a:lstStyle/>
          <a:p>
            <a:r>
              <a:rPr lang="en-US" dirty="0"/>
              <a:t>Long-term memory </a:t>
            </a:r>
            <a:r>
              <a:rPr lang="en-US" dirty="0" smtClean="0"/>
              <a:t> </a:t>
            </a:r>
            <a:r>
              <a:rPr lang="en-US" dirty="0"/>
              <a:t>allows systems to retain information across different conversations or sessions. Unlike short-term memory, which is </a:t>
            </a:r>
            <a:r>
              <a:rPr lang="en-US" b="1" dirty="0"/>
              <a:t>thread-scoped</a:t>
            </a:r>
            <a:r>
              <a:rPr lang="en-US" dirty="0"/>
              <a:t>, long-term memory is saved within custom "namespaces."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Memory types</a:t>
            </a:r>
            <a:br>
              <a:rPr lang="en-US" dirty="0"/>
            </a:b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827584" y="1772816"/>
            <a:ext cx="7704856" cy="3816424"/>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Semantic Memory</a:t>
            </a:r>
          </a:p>
        </p:txBody>
      </p:sp>
      <p:sp>
        <p:nvSpPr>
          <p:cNvPr id="3" name="Content Placeholder 2"/>
          <p:cNvSpPr>
            <a:spLocks noGrp="1"/>
          </p:cNvSpPr>
          <p:nvPr>
            <p:ph idx="1"/>
          </p:nvPr>
        </p:nvSpPr>
        <p:spPr/>
        <p:txBody>
          <a:bodyPr/>
          <a:lstStyle/>
          <a:p>
            <a:r>
              <a:rPr lang="en-US" dirty="0">
                <a:hlinkClick r:id="rId2"/>
              </a:rPr>
              <a:t>Semantic memory</a:t>
            </a:r>
            <a:r>
              <a:rPr lang="en-US" dirty="0"/>
              <a:t>, both in humans and AI agents, involves the retention of specific facts and concepts. In humans, it can include information learned in school and the understanding of concepts and their relationships. For AI agents, semantic memory is often used to personalize applications by remembering facts or concepts from past interactions.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Semantic memory example: </a:t>
            </a:r>
            <a:r>
              <a:rPr lang="en-US" b="1" dirty="0"/>
              <a:t>Profile</a:t>
            </a:r>
            <a:br>
              <a:rPr lang="en-US" b="1" dirty="0"/>
            </a:br>
            <a:endParaRPr lang="en-US" dirty="0"/>
          </a:p>
        </p:txBody>
      </p:sp>
      <p:pic>
        <p:nvPicPr>
          <p:cNvPr id="4" name="Content Placeholder 3" descr="update-profile.png"/>
          <p:cNvPicPr>
            <a:picLocks noGrp="1" noChangeAspect="1"/>
          </p:cNvPicPr>
          <p:nvPr>
            <p:ph idx="1"/>
          </p:nvPr>
        </p:nvPicPr>
        <p:blipFill>
          <a:blip r:embed="rId2" cstate="print"/>
          <a:stretch>
            <a:fillRect/>
          </a:stretch>
        </p:blipFill>
        <p:spPr>
          <a:xfrm>
            <a:off x="1331640" y="1268760"/>
            <a:ext cx="6768752" cy="4284712"/>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Episodic Memory</a:t>
            </a:r>
          </a:p>
        </p:txBody>
      </p:sp>
      <p:sp>
        <p:nvSpPr>
          <p:cNvPr id="3" name="Content Placeholder 2"/>
          <p:cNvSpPr>
            <a:spLocks noGrp="1"/>
          </p:cNvSpPr>
          <p:nvPr>
            <p:ph idx="1"/>
          </p:nvPr>
        </p:nvSpPr>
        <p:spPr/>
        <p:txBody>
          <a:bodyPr>
            <a:normAutofit fontScale="70000" lnSpcReduction="20000"/>
          </a:bodyPr>
          <a:lstStyle/>
          <a:p>
            <a:r>
              <a:rPr lang="en-US" dirty="0"/>
              <a:t>Episodic memory, in both humans and AI agents, involves recalling past events or actions. </a:t>
            </a:r>
            <a:r>
              <a:rPr lang="en-US" dirty="0" smtClean="0"/>
              <a:t>For </a:t>
            </a:r>
            <a:r>
              <a:rPr lang="en-US" dirty="0"/>
              <a:t>AI agents, episodic memory is often used to help an agent remember how to accomplish a task</a:t>
            </a:r>
            <a:r>
              <a:rPr lang="en-US" dirty="0" smtClean="0"/>
              <a:t>.</a:t>
            </a:r>
          </a:p>
          <a:p>
            <a:endParaRPr lang="en-US" dirty="0"/>
          </a:p>
          <a:p>
            <a:r>
              <a:rPr lang="en-US" dirty="0"/>
              <a:t>In practice, episodic memories are often implemented through few-shot example prompting, where agents learn from past sequences to perform tasks correctly. </a:t>
            </a:r>
            <a:endParaRPr lang="en-US" dirty="0" smtClean="0"/>
          </a:p>
          <a:p>
            <a:endParaRPr lang="en-US" dirty="0"/>
          </a:p>
          <a:p>
            <a:r>
              <a:rPr lang="en-US" dirty="0" smtClean="0"/>
              <a:t>Sometimes </a:t>
            </a:r>
            <a:r>
              <a:rPr lang="en-US" dirty="0"/>
              <a:t>it's easier to "show" than "tell" and LLMs learn well from examples. Few-shot learning lets you "program" your LLM by updating the prompt with input-output examples to illustrate the intended behavior. While various best-practices can be used to generate few-shot examples, often the challenge lies in selecting the most relevant examples based on user input.</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Procedural Memory</a:t>
            </a:r>
          </a:p>
        </p:txBody>
      </p:sp>
      <p:sp>
        <p:nvSpPr>
          <p:cNvPr id="3" name="Content Placeholder 2"/>
          <p:cNvSpPr>
            <a:spLocks noGrp="1"/>
          </p:cNvSpPr>
          <p:nvPr>
            <p:ph idx="1"/>
          </p:nvPr>
        </p:nvSpPr>
        <p:spPr/>
        <p:txBody>
          <a:bodyPr>
            <a:normAutofit fontScale="77500" lnSpcReduction="20000"/>
          </a:bodyPr>
          <a:lstStyle/>
          <a:p>
            <a:r>
              <a:rPr lang="en-US" dirty="0">
                <a:hlinkClick r:id="rId2"/>
              </a:rPr>
              <a:t>Procedural memory</a:t>
            </a:r>
            <a:r>
              <a:rPr lang="en-US" dirty="0"/>
              <a:t>, in both humans and AI agents, involves remembering the rules used to perform tasks. In humans, procedural memory is like the internalized knowledge of how to perform tasks, such as riding a bike via basic motor skills and balance</a:t>
            </a:r>
            <a:r>
              <a:rPr lang="en-US" dirty="0" smtClean="0"/>
              <a:t>.</a:t>
            </a:r>
          </a:p>
          <a:p>
            <a:endParaRPr lang="en-US" dirty="0"/>
          </a:p>
          <a:p>
            <a:r>
              <a:rPr lang="en-US" dirty="0" smtClean="0"/>
              <a:t> </a:t>
            </a:r>
            <a:r>
              <a:rPr lang="en-US" dirty="0"/>
              <a:t>Episodic memory, on the other hand, involves recalling specific experiences, such as the first time you successfully rode a bike without training wheels or a memorable bike ride through a scenic route. For AI agents, procedural memory is a combination of model weights, agent code, and agent's prompt that collectively determine the agent's functionality.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Writing memory</a:t>
            </a:r>
            <a:endParaRPr lang="en-US" dirty="0"/>
          </a:p>
        </p:txBody>
      </p:sp>
      <p:sp>
        <p:nvSpPr>
          <p:cNvPr id="3" name="Content Placeholder 2"/>
          <p:cNvSpPr>
            <a:spLocks noGrp="1"/>
          </p:cNvSpPr>
          <p:nvPr>
            <p:ph idx="1"/>
          </p:nvPr>
        </p:nvSpPr>
        <p:spPr>
          <a:xfrm>
            <a:off x="323528" y="1412776"/>
            <a:ext cx="8229600" cy="4525963"/>
          </a:xfrm>
        </p:spPr>
        <p:txBody>
          <a:bodyPr>
            <a:normAutofit lnSpcReduction="10000"/>
          </a:bodyPr>
          <a:lstStyle/>
          <a:p>
            <a:r>
              <a:rPr lang="en-US" dirty="0" smtClean="0"/>
              <a:t>While humans often form long-term memories during sleep, AI agents need a different approach. When and how should agents create new memories? There are at least two primary methods for agents to write memories: “on the hot path” and “in the background”.</a:t>
            </a:r>
          </a:p>
          <a:p>
            <a:pPr>
              <a:buNone/>
            </a:pPr>
            <a:r>
              <a:rPr lang="en-US" dirty="0" smtClean="0"/>
              <a:t/>
            </a:r>
            <a:br>
              <a:rPr lang="en-US" dirty="0" smtClean="0"/>
            </a:br>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ot_path_vs_background.png"/>
          <p:cNvPicPr>
            <a:picLocks noGrp="1" noChangeAspect="1"/>
          </p:cNvPicPr>
          <p:nvPr>
            <p:ph idx="1"/>
          </p:nvPr>
        </p:nvPicPr>
        <p:blipFill>
          <a:blip r:embed="rId2" cstate="print"/>
          <a:stretch>
            <a:fillRect/>
          </a:stretch>
        </p:blipFill>
        <p:spPr>
          <a:xfrm>
            <a:off x="395536" y="548680"/>
            <a:ext cx="8424936" cy="5400600"/>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Writing memories in the hot path</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r>
              <a:rPr lang="en-US" dirty="0"/>
              <a:t>Creating memories during runtime offers both advantages and challenges. On the positive side, this approach allows for real-time updates, making new memories immediately available for use in subsequent interactions. It also enables transparency, as users can be notified when memories are created and stored.</a:t>
            </a:r>
          </a:p>
          <a:p>
            <a:r>
              <a:rPr lang="en-US" dirty="0"/>
              <a:t>However, this method also presents challenges. It may increase complexity if the agent requires a new tool to decide what to commit to memory. In addition, the process of reasoning about what to save to memory can impact agent latency. Finally, the agent must multitask between memory creation and its other responsibilities, potentially affecting the quantity and quality of memories created.</a:t>
            </a:r>
          </a:p>
          <a:p>
            <a:r>
              <a:rPr lang="en-US" dirty="0"/>
              <a:t>As an example, </a:t>
            </a:r>
            <a:r>
              <a:rPr lang="en-US" dirty="0" err="1"/>
              <a:t>ChatGPT</a:t>
            </a:r>
            <a:r>
              <a:rPr lang="en-US" dirty="0"/>
              <a:t> uses a </a:t>
            </a:r>
            <a:r>
              <a:rPr lang="en-US" dirty="0" err="1">
                <a:hlinkClick r:id="rId2"/>
              </a:rPr>
              <a:t>save_memories</a:t>
            </a:r>
            <a:r>
              <a:rPr lang="en-US" dirty="0"/>
              <a:t> tool to </a:t>
            </a:r>
            <a:r>
              <a:rPr lang="en-US" dirty="0" err="1"/>
              <a:t>upsert</a:t>
            </a:r>
            <a:r>
              <a:rPr lang="en-US" dirty="0"/>
              <a:t> memories as content strings, deciding whether and how to use this tool with each user message. </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Writing memories in the background</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r>
              <a:rPr lang="en-US" dirty="0"/>
              <a:t>Creating memories as a separate background task offers several advantages. It eliminates latency in the primary application, separates application logic from memory management, and allows for more focused task completion by the agent. This approach also provides flexibility in timing memory creation to avoid redundant work</a:t>
            </a:r>
            <a:r>
              <a:rPr lang="en-US" dirty="0" smtClean="0"/>
              <a:t>.</a:t>
            </a:r>
            <a:endParaRPr lang="en-US" smtClean="0"/>
          </a:p>
          <a:p>
            <a:pPr>
              <a:buNone/>
            </a:pPr>
            <a:endParaRPr lang="en-US" dirty="0"/>
          </a:p>
          <a:p>
            <a:r>
              <a:rPr lang="en-US" dirty="0"/>
              <a:t>However, this method has its own challenges. Determining the frequency of memory writing becomes crucial, as infrequent updates may leave other threads without new context. Deciding when to trigger memory formation is also important. Common strategies include scheduling after a set time period (with rescheduling if new events occur), using a </a:t>
            </a:r>
            <a:r>
              <a:rPr lang="en-US" dirty="0" err="1"/>
              <a:t>cron</a:t>
            </a:r>
            <a:r>
              <a:rPr lang="en-US" dirty="0"/>
              <a:t> schedule, or allowing manual triggers by users or the application logic</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383</TotalTime>
  <Words>802</Words>
  <Application>Microsoft Office PowerPoint</Application>
  <PresentationFormat>On-screen Show (4:3)</PresentationFormat>
  <Paragraphs>53</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Agentic memory</vt:lpstr>
      <vt:lpstr>What is Memory?</vt:lpstr>
      <vt:lpstr>Slide 3</vt:lpstr>
      <vt:lpstr>Slide 4</vt:lpstr>
      <vt:lpstr>Slide 5</vt:lpstr>
      <vt:lpstr>Short-term memory</vt:lpstr>
      <vt:lpstr>Slide 7</vt:lpstr>
      <vt:lpstr>Short-Term Memory (Or Working Memory)</vt:lpstr>
      <vt:lpstr>Managing long conversation history with Short term memory </vt:lpstr>
      <vt:lpstr>Slide 10</vt:lpstr>
      <vt:lpstr>Managing short-term memory for Long Conversation</vt:lpstr>
      <vt:lpstr>Summarizing past conversations</vt:lpstr>
      <vt:lpstr>Long-term memory</vt:lpstr>
      <vt:lpstr>Memory types </vt:lpstr>
      <vt:lpstr>Semantic Memory</vt:lpstr>
      <vt:lpstr>Semantic memory example: Profile </vt:lpstr>
      <vt:lpstr>Episodic Memory</vt:lpstr>
      <vt:lpstr>Procedural Memory</vt:lpstr>
      <vt:lpstr>Writing memory</vt:lpstr>
      <vt:lpstr>Slide 20</vt:lpstr>
      <vt:lpstr>Writing memories in the hot path </vt:lpstr>
      <vt:lpstr>Writing memories in the background </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memory</dc:title>
  <dc:creator>Dell</dc:creator>
  <cp:lastModifiedBy>Dell</cp:lastModifiedBy>
  <cp:revision>34</cp:revision>
  <dcterms:created xsi:type="dcterms:W3CDTF">2025-06-03T09:02:49Z</dcterms:created>
  <dcterms:modified xsi:type="dcterms:W3CDTF">2025-07-29T02:53:42Z</dcterms:modified>
</cp:coreProperties>
</file>