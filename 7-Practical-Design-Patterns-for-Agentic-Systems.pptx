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embeddedFontLst>
    <p:embeddedFont>
      <p:font typeface="Raleway"/>
      <p:regular r:id="rId22"/>
    </p:embeddedFont>
    <p:embeddedFont>
      <p:font typeface="Raleway Bold"/>
      <p:regular r:id="rId23"/>
    </p:embeddedFont>
    <p:embeddedFont>
      <p:font typeface="Roboto"/>
      <p:regular r:id="rId24"/>
    </p:embeddedFont>
    <p:embeddedFont>
      <p:font typeface="Roboto Bold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9272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Practical Design Patterns for Agentic Systems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85385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 guide to building LLM-powered applications — from tightly controlled workflows to fully autonomous multi-agent systems.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7015"/>
            <a:ext cx="440925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Agentic Systems?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930598"/>
            <a:ext cx="4103191" cy="1855812"/>
          </a:xfrm>
          <a:prstGeom prst="roundRect">
            <a:avLst>
              <a:gd name="adj" fmla="val 4813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20545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Andrew Ng's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6831" y="2387947"/>
            <a:ext cx="36692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"Rather than having to choose whether or not something is an agent in a binary way, it would be more useful to think of systems as being agent-like to different degrees."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796" y="2387947"/>
            <a:ext cx="14288" cy="59538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4728046" y="20545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372395"/>
            <a:ext cx="3924598" cy="1302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systems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LLMs to decide the execution flow of an application with varying degrees of autonomy — from limited decisions within structured workflows to fully autonomous task execution with minimal human intervention.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degree of "agenticity" is defined by how much decision-making authority is delegated to the LLM.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9854"/>
            <a:ext cx="357202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Patterns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9542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91878"/>
            <a:ext cx="263455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7824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Controlled Flows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050703"/>
            <a:ext cx="26345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sequence, LLMs act within steps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54648" y="149542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1691878"/>
            <a:ext cx="263463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3254648" y="17824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as a Router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4648" y="2050703"/>
            <a:ext cx="26346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routing to specialized workflows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13252" y="149542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1691878"/>
            <a:ext cx="263455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013252" y="17824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Parallelization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13252" y="2050703"/>
            <a:ext cx="26345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LLMs working simultaneously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246615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2662610"/>
            <a:ext cx="263455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275317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Reflect &amp; Critique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3021434"/>
            <a:ext cx="26345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Generator + evaluator feedback loop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54648" y="246615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54648" y="2662610"/>
            <a:ext cx="263463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3254648" y="275317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54648" y="3021434"/>
            <a:ext cx="26346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oversight at critical points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13252" y="246615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3252" y="2662610"/>
            <a:ext cx="263455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6013252" y="275317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13252" y="3021434"/>
            <a:ext cx="26345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LLM-driven step sequencing with tools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6119" y="343688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6119" y="3633341"/>
            <a:ext cx="815168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496119" y="37239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6119" y="3992166"/>
            <a:ext cx="81516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Collaborative networks of agents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0471"/>
            <a:ext cx="650974" cy="233214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707678"/>
            <a:ext cx="95934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5324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Controlled Flows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26828"/>
            <a:ext cx="7620000" cy="9477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1409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perform tasks like content generation and analysis within each step, but the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 of steps and transition rules are fixed by design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LLM operates freely within a step but cannot choose what comes next.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6119" y="327451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359233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decomposable into well-defined subtasks where reliable, deterministic outcomes are required despite LLM usage.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28046" y="327451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28046" y="3592339"/>
            <a:ext cx="3924598" cy="83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review: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 grammar, style, and fact-checking before human technical review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 to query: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Sequential workflow to identify query parameters and synthesize answers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342528"/>
            <a:ext cx="609972" cy="213792"/>
          </a:xfrm>
          <a:prstGeom prst="roundRect">
            <a:avLst>
              <a:gd name="adj" fmla="val 18277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34888" y="377354"/>
            <a:ext cx="927720" cy="144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65162" y="599926"/>
            <a:ext cx="336448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as a Router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126778"/>
            <a:ext cx="6091238" cy="1871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5162" y="3121075"/>
            <a:ext cx="8213675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Queries are routed among a set of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specialized workflows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an LLM's categorization of the input — like a smart switch directing traffic. Workflows may use different prompts, model sizes, fine-tuned models, or microservices.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5162" y="3713187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5162" y="4003849"/>
            <a:ext cx="3965004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Incoming requests span diverse topics and complexity levels that can be reliably categorized by content.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18596" y="3713187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18596" y="4003849"/>
            <a:ext cx="3965004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service:</a:t>
            </a:r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Route requests to the appropriate department workflow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Resource-efficient routing:</a:t>
            </a:r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Simple questions → smaller LLMs; complex questions → reasoning models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452" y="242218"/>
            <a:ext cx="447303" cy="143098"/>
          </a:xfrm>
          <a:prstGeom prst="roundRect">
            <a:avLst>
              <a:gd name="adj" fmla="val 2002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1260574" y="267742"/>
            <a:ext cx="802258" cy="9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209452" y="408756"/>
            <a:ext cx="2589237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Parallelization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452" y="763116"/>
            <a:ext cx="6153150" cy="3024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9452" y="3853235"/>
            <a:ext cx="6725022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LLMs work </a:t>
            </a:r>
            <a:pPr algn="l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simultaneously</a:t>
            </a:r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the same task or subtasks, with outputs aggregated by another LLM or custom logic. Benefits include reduced latency and improved focus — each LLM concentrates on a specific part of the problem.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209452" y="4207966"/>
            <a:ext cx="15231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209452" y="4399806"/>
            <a:ext cx="3258443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that can be split into independent subtasks, or where multiple LLMs attempting the same task improves reliability.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80719" y="4207966"/>
            <a:ext cx="15231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80719" y="4399806"/>
            <a:ext cx="3258443" cy="48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LLM-as-a-judge:</a:t>
            </a:r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Multiple LLMs simultaneously evaluate different aspects of a response</a:t>
            </a:r>
            <a:endParaRPr lang="en-US" sz="650" dirty="0"/>
          </a:p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generation:</a:t>
            </a:r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Different LLMs generate code; the most efficient snippet is selected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340593"/>
            <a:ext cx="620613" cy="218554"/>
          </a:xfrm>
          <a:prstGeom prst="roundRect">
            <a:avLst>
              <a:gd name="adj" fmla="val 18177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43818" y="376014"/>
            <a:ext cx="935980" cy="14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2901" y="604168"/>
            <a:ext cx="3412927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Reflect and Critique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142628"/>
            <a:ext cx="7215188" cy="180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901" y="3079105"/>
            <a:ext cx="8198197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generator LLM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produces a response while an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evaluator LLM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reflects on it and provides feedback. The loop continues until the evaluator accepts the output. Evaluation criteria must be clearly defined for effective reasoning.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2901" y="3687887"/>
            <a:ext cx="19350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2901" y="3985245"/>
            <a:ext cx="3954884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where iterative refinement based on human-like feedback yields more accurate, reliable, or cohesive results.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20977" y="3687887"/>
            <a:ext cx="19350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20977" y="3985245"/>
            <a:ext cx="3954884" cy="77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generation: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Evaluator checks style, detail, and diagrams; recommends improvements</a:t>
            </a:r>
            <a:endParaRPr lang="en-US" sz="9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refinement: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Generator writes code; evaluator acts as reviewer suggesting optimizations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6146"/>
            <a:ext cx="650974" cy="233214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393353"/>
            <a:ext cx="95934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891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in the Loop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12503"/>
            <a:ext cx="7620000" cy="1576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92841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input is incorporated into an otherwise automated LLM pipeline. Humans can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review, validate, edit, or override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LLM outputs at critical points, and LLMs can seek clarification during multi-turn conversations — significantly improving reliability for sensitive tasks.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6119" y="358884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3906664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automation is infeasible or undesirable due to potential consequences of bad outcomes. Human clarification benefits all LLM workflows given natural language ambiguity.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28046" y="358884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28046" y="3906664"/>
            <a:ext cx="3924598" cy="83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use: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 web tasks, but authentication steps (2FA, CAPTCHAs) require humans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 claims: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LLMs analyze and recommend; human adjusters make final determinations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4414" y="201885"/>
            <a:ext cx="376089" cy="115416"/>
          </a:xfrm>
          <a:prstGeom prst="roundRect">
            <a:avLst>
              <a:gd name="adj" fmla="val 2087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1787426" y="223391"/>
            <a:ext cx="747266" cy="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6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744414" y="333821"/>
            <a:ext cx="2250058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414" y="620018"/>
            <a:ext cx="5655171" cy="31914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4414" y="3858071"/>
            <a:ext cx="5655171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classic "AI agent" pattern. Unlike earlier patterns, agents use LLMs to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the sequence of steps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required to complete a task. They take actions via tools and reason through previous results to inform next actions — making them extremely flexible for complex tasks.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1744414" y="4127227"/>
            <a:ext cx="1353592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744414" y="4280743"/>
            <a:ext cx="2740149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without a structured workflow, with high latency tolerance, where non-deterministic outputs are acceptable.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64199" y="4127227"/>
            <a:ext cx="1353592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64199" y="4280743"/>
            <a:ext cx="2740149" cy="37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Adaptive learning: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Analyze student performance to adjust topics and difficulty dynamically</a:t>
            </a:r>
            <a:endParaRPr lang="en-US" sz="55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software: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Iteratively generate, test, debug, and refine full-stack applications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1744414" y="4718596"/>
            <a:ext cx="5655171" cy="222945"/>
          </a:xfrm>
          <a:prstGeom prst="roundRect">
            <a:avLst>
              <a:gd name="adj" fmla="val 13510"/>
            </a:avLst>
          </a:prstGeom>
          <a:solidFill>
            <a:srgbClr val="D2D2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075" y="4812060"/>
            <a:ext cx="89595" cy="716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77330" y="4777904"/>
            <a:ext cx="5807794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combine human-in-the-loop and reflect-and-critique patterns with agents to improve reliability.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14748"/>
            <a:ext cx="650974" cy="233214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351955"/>
            <a:ext cx="95934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59752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217110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ultimate evolution of AI agents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agents collaborating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accomplish complex tasks. Three primary architectures exist depending on your application's needs.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707556"/>
            <a:ext cx="2634555" cy="1121122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855" y="28362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855" y="3104555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supervisor agent interfaces with a group of agents to determine the next course of action.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2707556"/>
            <a:ext cx="2634630" cy="1121122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384" y="28362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384" y="3104555"/>
            <a:ext cx="23771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agent can communicate with every other agent and decide which one to call next or end execution.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2707556"/>
            <a:ext cx="2634555" cy="1121122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1988" y="28362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1988" y="3104555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decide which agents interact with each other and how control flows between them.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1502"/>
            <a:ext cx="54886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Multi-Agent: Architecture Diagrams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99059"/>
            <a:ext cx="21330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Supervisor Architecture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32434"/>
            <a:ext cx="2515195" cy="13440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18644" y="199905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Architecture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644" y="2332434"/>
            <a:ext cx="2515195" cy="13700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1169" y="199905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 Architecture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169" y="2332434"/>
            <a:ext cx="2515195" cy="12863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3382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Multi-Agent: When to Use &amp; Use Cases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01892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336750"/>
            <a:ext cx="22100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architectures push LLM autonomy for open-ended or experimental tasks. For real-world use cases,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simpler patterns first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Use multi-agent only when unpredictable outcomes are acceptable — they come with higher costs, latency, and debugging complexity.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013546" y="201892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13546" y="2336750"/>
            <a:ext cx="2210098" cy="1829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Scientific discovery: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Agents specialized in literature review, experimental design, testing, and validation collaborate to generate and test novel hypotheses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Multimedia storytelling: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Agents with different artistic specialties create storylines, characters, visuals, and music for generative storytelling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5846"/>
            <a:ext cx="429205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Choosing the Right Pattern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3141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design pattern depends on your application's core requirements. Consider these key parameters: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69405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344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402756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critical is it that outputs are accurate and deterministic?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669405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1344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Workflow Structure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402756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task well-defined and sequential, or open-ended?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49240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31432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Complexity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3582591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the task be decomposed into clear subtasks?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2849240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314328"/>
            <a:ext cx="1693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Consequence of Failure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3582591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are the stakes if the LLM produces a bad outcome?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3920579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B6D6F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4105126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4075509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the simplest architecture that could work. Add complexity only when there is clear evidence it is needed.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268932"/>
            <a:ext cx="2734568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Autonomy Spectrum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980182" y="687363"/>
            <a:ext cx="7640762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seven patterns span a spectrum from tightly controlled to highly autonomous. Use this as a guide when selecting your starting point.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888950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82" y="888950"/>
            <a:ext cx="655320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0182" y="4621783"/>
            <a:ext cx="718356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step up the spectrum increases flexibility and capability — but also raises costs, latency, and unpredictability. Match the pattern to your actual requirements, not the most impressive-sounding option.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53529"/>
            <a:ext cx="39832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427113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covered 7 agentic design patterns ranging from tightly controlled systems to highly autonomous ones. Rather than chasing the latest innovation,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your specific needs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Start simple, evaluate carefully, and add components only when clearly needed.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360488"/>
            <a:ext cx="1491555" cy="1929408"/>
          </a:xfrm>
          <a:prstGeom prst="roundRect">
            <a:avLst>
              <a:gd name="adj" fmla="val 349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3380" y="2498750"/>
            <a:ext cx="1215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 Learning Hub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3380" y="2960861"/>
            <a:ext cx="121503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MongoDB's extensive AI resources and tutorials to get started building agentic systems.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40648" y="2360488"/>
            <a:ext cx="1491630" cy="1929408"/>
          </a:xfrm>
          <a:prstGeom prst="roundRect">
            <a:avLst>
              <a:gd name="adj" fmla="val 349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78909" y="2498750"/>
            <a:ext cx="12151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GenAI Showcase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78909" y="2960861"/>
            <a:ext cx="121510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 the MongoDB Developer GitHub repo for notebooks and agent examples.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56252" y="2360488"/>
            <a:ext cx="1491630" cy="1929408"/>
          </a:xfrm>
          <a:prstGeom prst="roundRect">
            <a:avLst>
              <a:gd name="adj" fmla="val 349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4513" y="2498750"/>
            <a:ext cx="12151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Community Forums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94513" y="2960861"/>
            <a:ext cx="1215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your own agentic design patterns in the MongoDB Generative AI community forums.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2026-05-27T22:35:12Z</dcterms:created>
  <dcterms:modified xsi:type="dcterms:W3CDTF">2026-05-27T22:35:12Z</dcterms:modified>
</cp:coreProperties>
</file>